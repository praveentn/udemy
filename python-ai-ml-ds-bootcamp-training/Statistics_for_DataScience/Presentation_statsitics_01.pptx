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62" r:id="rId4"/>
    <p:sldId id="284" r:id="rId5"/>
    <p:sldId id="260" r:id="rId6"/>
    <p:sldId id="268" r:id="rId7"/>
    <p:sldId id="264" r:id="rId8"/>
    <p:sldId id="267" r:id="rId9"/>
    <p:sldId id="270" r:id="rId10"/>
    <p:sldId id="272" r:id="rId11"/>
    <p:sldId id="261" r:id="rId12"/>
    <p:sldId id="273" r:id="rId13"/>
    <p:sldId id="276" r:id="rId14"/>
    <p:sldId id="279" r:id="rId15"/>
    <p:sldId id="263" r:id="rId16"/>
    <p:sldId id="283" r:id="rId17"/>
    <p:sldId id="296" r:id="rId18"/>
    <p:sldId id="291" r:id="rId19"/>
    <p:sldId id="282" r:id="rId20"/>
    <p:sldId id="295" r:id="rId21"/>
    <p:sldId id="289" r:id="rId22"/>
    <p:sldId id="29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B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30"/>
    <p:restoredTop sz="89524"/>
  </p:normalViewPr>
  <p:slideViewPr>
    <p:cSldViewPr snapToGrid="0">
      <p:cViewPr varScale="1">
        <p:scale>
          <a:sx n="114" d="100"/>
          <a:sy n="114" d="100"/>
        </p:scale>
        <p:origin x="4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D0FE0C-0446-9A4E-93B0-940E1B4C7EEF}"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GB"/>
        </a:p>
      </dgm:t>
    </dgm:pt>
    <dgm:pt modelId="{8F048F78-10A8-D34F-BD45-BA8AFDC03092}">
      <dgm:prSet/>
      <dgm:spPr/>
      <dgm:t>
        <a:bodyPr/>
        <a:lstStyle/>
        <a:p>
          <a:pPr>
            <a:lnSpc>
              <a:spcPct val="100000"/>
            </a:lnSpc>
          </a:pPr>
          <a:r>
            <a:rPr lang="en-IN" b="1" i="0">
              <a:latin typeface="Times New Roman" panose="02020603050405020304" pitchFamily="18" charset="0"/>
              <a:cs typeface="Times New Roman" panose="02020603050405020304" pitchFamily="18" charset="0"/>
            </a:rPr>
            <a:t>Numerical / Quantitative Data</a:t>
          </a:r>
          <a:endParaRPr lang="en-IN" b="1" i="0" dirty="0">
            <a:latin typeface="Times New Roman" panose="02020603050405020304" pitchFamily="18" charset="0"/>
            <a:cs typeface="Times New Roman" panose="02020603050405020304" pitchFamily="18" charset="0"/>
          </a:endParaRPr>
        </a:p>
      </dgm:t>
    </dgm:pt>
    <dgm:pt modelId="{294003EA-8D44-7543-BE29-FAD2BC6A7371}" type="parTrans" cxnId="{18A177D2-A295-224D-9CFE-118BFC7F5549}">
      <dgm:prSet/>
      <dgm:spPr/>
      <dgm:t>
        <a:bodyPr/>
        <a:lstStyle/>
        <a:p>
          <a:endParaRPr lang="en-GB"/>
        </a:p>
      </dgm:t>
    </dgm:pt>
    <dgm:pt modelId="{9C372887-C6DD-F84B-B494-23A325A7550E}" type="sibTrans" cxnId="{18A177D2-A295-224D-9CFE-118BFC7F5549}">
      <dgm:prSet/>
      <dgm:spPr/>
      <dgm:t>
        <a:bodyPr/>
        <a:lstStyle/>
        <a:p>
          <a:endParaRPr lang="en-GB"/>
        </a:p>
      </dgm:t>
    </dgm:pt>
    <dgm:pt modelId="{5A1F41BE-177A-044A-96BE-41C2310F8BB2}">
      <dgm:prSet/>
      <dgm:spPr/>
      <dgm:t>
        <a:bodyPr/>
        <a:lstStyle/>
        <a:p>
          <a:pPr>
            <a:lnSpc>
              <a:spcPct val="100000"/>
            </a:lnSpc>
          </a:pPr>
          <a:r>
            <a:rPr lang="en-IN" b="1" i="0" dirty="0">
              <a:latin typeface="Times New Roman" panose="02020603050405020304" pitchFamily="18" charset="0"/>
              <a:cs typeface="Times New Roman" panose="02020603050405020304" pitchFamily="18" charset="0"/>
            </a:rPr>
            <a:t>           I. Discrete Numerical variables </a:t>
          </a:r>
        </a:p>
        <a:p>
          <a:pPr>
            <a:lnSpc>
              <a:spcPct val="100000"/>
            </a:lnSpc>
          </a:pPr>
          <a:r>
            <a:rPr lang="en-IN" b="1" i="0" dirty="0">
              <a:latin typeface="Times New Roman" panose="02020603050405020304" pitchFamily="18" charset="0"/>
              <a:cs typeface="Times New Roman" panose="02020603050405020304" pitchFamily="18" charset="0"/>
            </a:rPr>
            <a:t>           II. Continuous Numeric variable </a:t>
          </a:r>
        </a:p>
        <a:p>
          <a:pPr>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dgm:t>
    </dgm:pt>
    <dgm:pt modelId="{E9BC3723-215A-9D44-AD3C-DA12D5EBA37A}" type="parTrans" cxnId="{30268D62-8D4F-224C-9782-40FDDEFB3EFA}">
      <dgm:prSet/>
      <dgm:spPr/>
      <dgm:t>
        <a:bodyPr/>
        <a:lstStyle/>
        <a:p>
          <a:endParaRPr lang="en-GB" b="1">
            <a:latin typeface="Times New Roman" panose="02020603050405020304" pitchFamily="18" charset="0"/>
            <a:cs typeface="Times New Roman" panose="02020603050405020304" pitchFamily="18" charset="0"/>
          </a:endParaRPr>
        </a:p>
      </dgm:t>
    </dgm:pt>
    <dgm:pt modelId="{54072019-9613-3F41-8393-1FC41C4F7470}" type="sibTrans" cxnId="{30268D62-8D4F-224C-9782-40FDDEFB3EFA}">
      <dgm:prSet/>
      <dgm:spPr/>
      <dgm:t>
        <a:bodyPr/>
        <a:lstStyle/>
        <a:p>
          <a:endParaRPr lang="en-GB"/>
        </a:p>
      </dgm:t>
    </dgm:pt>
    <dgm:pt modelId="{7E854772-D186-4A43-A4C4-FB3A8ED6AB38}">
      <dgm:prSet/>
      <dgm:spPr/>
      <dgm:t>
        <a:bodyPr/>
        <a:lstStyle/>
        <a:p>
          <a:pPr>
            <a:lnSpc>
              <a:spcPct val="100000"/>
            </a:lnSpc>
          </a:pPr>
          <a:r>
            <a:rPr lang="en-IN" b="1" i="0">
              <a:latin typeface="Times New Roman" panose="02020603050405020304" pitchFamily="18" charset="0"/>
              <a:cs typeface="Times New Roman" panose="02020603050405020304" pitchFamily="18" charset="0"/>
            </a:rPr>
            <a:t> Categorical / Qualitative Data </a:t>
          </a:r>
          <a:endParaRPr lang="en-IN" b="1" i="0" dirty="0">
            <a:latin typeface="Times New Roman" panose="02020603050405020304" pitchFamily="18" charset="0"/>
            <a:cs typeface="Times New Roman" panose="02020603050405020304" pitchFamily="18" charset="0"/>
          </a:endParaRPr>
        </a:p>
      </dgm:t>
    </dgm:pt>
    <dgm:pt modelId="{644F5CDB-8EA4-5D48-BA2F-E9DA5C0A7E4A}" type="parTrans" cxnId="{B052BDDC-C498-3F49-979B-6DCFB7D89CEF}">
      <dgm:prSet/>
      <dgm:spPr/>
      <dgm:t>
        <a:bodyPr/>
        <a:lstStyle/>
        <a:p>
          <a:endParaRPr lang="en-GB"/>
        </a:p>
      </dgm:t>
    </dgm:pt>
    <dgm:pt modelId="{42492404-8A74-674B-AF89-14ECA7CD1C32}" type="sibTrans" cxnId="{B052BDDC-C498-3F49-979B-6DCFB7D89CEF}">
      <dgm:prSet/>
      <dgm:spPr/>
      <dgm:t>
        <a:bodyPr/>
        <a:lstStyle/>
        <a:p>
          <a:endParaRPr lang="en-GB"/>
        </a:p>
      </dgm:t>
    </dgm:pt>
    <dgm:pt modelId="{44F85DA5-712D-C84F-8FBD-10557DF9F884}">
      <dgm:prSet/>
      <dgm:spPr/>
      <dgm:t>
        <a:bodyPr/>
        <a:lstStyle/>
        <a:p>
          <a:pPr>
            <a:lnSpc>
              <a:spcPct val="100000"/>
            </a:lnSpc>
          </a:pPr>
          <a:r>
            <a:rPr lang="en-IN" b="1" i="0" dirty="0">
              <a:latin typeface="Times New Roman" panose="02020603050405020304" pitchFamily="18" charset="0"/>
              <a:cs typeface="Times New Roman" panose="02020603050405020304" pitchFamily="18" charset="0"/>
            </a:rPr>
            <a:t>           I. Ordinal Variables </a:t>
          </a:r>
        </a:p>
      </dgm:t>
    </dgm:pt>
    <dgm:pt modelId="{45C971C0-2E3F-3840-B408-2417D0D75E33}" type="parTrans" cxnId="{9CC51842-E82C-FE4D-8D0B-946C348CEEEF}">
      <dgm:prSet/>
      <dgm:spPr/>
      <dgm:t>
        <a:bodyPr/>
        <a:lstStyle/>
        <a:p>
          <a:endParaRPr lang="en-GB" b="1">
            <a:latin typeface="Times New Roman" panose="02020603050405020304" pitchFamily="18" charset="0"/>
            <a:cs typeface="Times New Roman" panose="02020603050405020304" pitchFamily="18" charset="0"/>
          </a:endParaRPr>
        </a:p>
      </dgm:t>
    </dgm:pt>
    <dgm:pt modelId="{0DC1281F-D92D-EA4E-8E20-2978C8B80D0B}" type="sibTrans" cxnId="{9CC51842-E82C-FE4D-8D0B-946C348CEEEF}">
      <dgm:prSet/>
      <dgm:spPr/>
      <dgm:t>
        <a:bodyPr/>
        <a:lstStyle/>
        <a:p>
          <a:endParaRPr lang="en-GB"/>
        </a:p>
      </dgm:t>
    </dgm:pt>
    <dgm:pt modelId="{27900386-A3F4-B744-B2B5-96F001DCD345}">
      <dgm:prSet/>
      <dgm:spPr/>
      <dgm:t>
        <a:bodyPr/>
        <a:lstStyle/>
        <a:p>
          <a:pPr>
            <a:lnSpc>
              <a:spcPct val="100000"/>
            </a:lnSpc>
          </a:pPr>
          <a:r>
            <a:rPr lang="en-IN" b="1" i="0" dirty="0">
              <a:latin typeface="Times New Roman" panose="02020603050405020304" pitchFamily="18" charset="0"/>
              <a:cs typeface="Times New Roman" panose="02020603050405020304" pitchFamily="18" charset="0"/>
            </a:rPr>
            <a:t>           II. Nominal Variables </a:t>
          </a:r>
        </a:p>
        <a:p>
          <a:endParaRPr lang="en-IN" b="1" dirty="0">
            <a:latin typeface="Times New Roman" panose="02020603050405020304" pitchFamily="18" charset="0"/>
            <a:cs typeface="Times New Roman" panose="02020603050405020304" pitchFamily="18" charset="0"/>
          </a:endParaRPr>
        </a:p>
      </dgm:t>
    </dgm:pt>
    <dgm:pt modelId="{3E0FCD6C-9CFB-794D-AAE4-E319259F2229}" type="parTrans" cxnId="{20F031AC-5B27-8E41-BC82-354C84736E59}">
      <dgm:prSet/>
      <dgm:spPr/>
      <dgm:t>
        <a:bodyPr/>
        <a:lstStyle/>
        <a:p>
          <a:endParaRPr lang="en-GB" b="1">
            <a:latin typeface="Times New Roman" panose="02020603050405020304" pitchFamily="18" charset="0"/>
            <a:cs typeface="Times New Roman" panose="02020603050405020304" pitchFamily="18" charset="0"/>
          </a:endParaRPr>
        </a:p>
      </dgm:t>
    </dgm:pt>
    <dgm:pt modelId="{9A6FA264-FAFC-AC47-9D64-370169290EB9}" type="sibTrans" cxnId="{20F031AC-5B27-8E41-BC82-354C84736E59}">
      <dgm:prSet/>
      <dgm:spPr/>
      <dgm:t>
        <a:bodyPr/>
        <a:lstStyle/>
        <a:p>
          <a:endParaRPr lang="en-GB"/>
        </a:p>
      </dgm:t>
    </dgm:pt>
    <dgm:pt modelId="{E678D5CF-EFB9-2E4B-99A1-C6794A46F0BF}">
      <dgm:prSet custT="1"/>
      <dgm:spPr/>
      <dgm:t>
        <a:bodyPr/>
        <a:lstStyle/>
        <a:p>
          <a:pPr>
            <a:lnSpc>
              <a:spcPct val="100000"/>
            </a:lnSpc>
          </a:pPr>
          <a:r>
            <a:rPr lang="en-GB" sz="2400" b="1" dirty="0">
              <a:latin typeface="Times New Roman" panose="02020603050405020304" pitchFamily="18" charset="0"/>
              <a:cs typeface="Times New Roman" panose="02020603050405020304" pitchFamily="18" charset="0"/>
            </a:rPr>
            <a:t>Data : </a:t>
          </a:r>
          <a:r>
            <a:rPr lang="en-IN" sz="1600" b="0" i="0" dirty="0">
              <a:effectLst/>
              <a:latin typeface="Times New Roman" panose="02020603050405020304" pitchFamily="18" charset="0"/>
              <a:cs typeface="Times New Roman" panose="02020603050405020304" pitchFamily="18" charset="0"/>
            </a:rPr>
            <a:t>A data is a collection of responses or observations from a sample or entire population</a:t>
          </a:r>
          <a:endParaRPr lang="en-GB" sz="1600" b="1" dirty="0">
            <a:latin typeface="Times New Roman" panose="02020603050405020304" pitchFamily="18" charset="0"/>
            <a:cs typeface="Times New Roman" panose="02020603050405020304" pitchFamily="18" charset="0"/>
          </a:endParaRPr>
        </a:p>
      </dgm:t>
    </dgm:pt>
    <dgm:pt modelId="{608A9645-6964-C64C-A005-05EB847FA236}" type="parTrans" cxnId="{5A6DA817-0425-994F-A148-323FD64BEC73}">
      <dgm:prSet/>
      <dgm:spPr/>
      <dgm:t>
        <a:bodyPr/>
        <a:lstStyle/>
        <a:p>
          <a:endParaRPr lang="en-GB"/>
        </a:p>
      </dgm:t>
    </dgm:pt>
    <dgm:pt modelId="{4D14C31F-8BFB-6D44-B2D9-CD5A7BB68C17}" type="sibTrans" cxnId="{5A6DA817-0425-994F-A148-323FD64BEC73}">
      <dgm:prSet/>
      <dgm:spPr/>
      <dgm:t>
        <a:bodyPr/>
        <a:lstStyle/>
        <a:p>
          <a:endParaRPr lang="en-GB"/>
        </a:p>
      </dgm:t>
    </dgm:pt>
    <dgm:pt modelId="{8B7E333A-ECF7-4FF4-BE16-7C6459407160}" type="pres">
      <dgm:prSet presAssocID="{72D0FE0C-0446-9A4E-93B0-940E1B4C7EEF}" presName="root" presStyleCnt="0">
        <dgm:presLayoutVars>
          <dgm:dir/>
          <dgm:resizeHandles val="exact"/>
        </dgm:presLayoutVars>
      </dgm:prSet>
      <dgm:spPr/>
    </dgm:pt>
    <dgm:pt modelId="{A9A7496E-7C81-48C3-9BF9-65AEC55B57AD}" type="pres">
      <dgm:prSet presAssocID="{E678D5CF-EFB9-2E4B-99A1-C6794A46F0BF}" presName="compNode" presStyleCnt="0"/>
      <dgm:spPr/>
    </dgm:pt>
    <dgm:pt modelId="{52AD47D1-5B9C-4938-9C17-F5CAABF78D18}" type="pres">
      <dgm:prSet presAssocID="{E678D5CF-EFB9-2E4B-99A1-C6794A46F0BF}" presName="bgRect" presStyleLbl="bgShp" presStyleIdx="0" presStyleCnt="3" custLinFactNeighborX="40560" custLinFactNeighborY="-30849"/>
      <dgm:spPr/>
    </dgm:pt>
    <dgm:pt modelId="{DCAF99C5-6B3E-4692-AA63-E08E9F394B40}" type="pres">
      <dgm:prSet presAssocID="{E678D5CF-EFB9-2E4B-99A1-C6794A46F0B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A8EFCF58-9A8D-4827-9991-ED2E56A8BFE4}" type="pres">
      <dgm:prSet presAssocID="{E678D5CF-EFB9-2E4B-99A1-C6794A46F0BF}" presName="spaceRect" presStyleCnt="0"/>
      <dgm:spPr/>
    </dgm:pt>
    <dgm:pt modelId="{427D15D8-0EDC-4FBC-BBB6-32C88A9C51DD}" type="pres">
      <dgm:prSet presAssocID="{E678D5CF-EFB9-2E4B-99A1-C6794A46F0BF}" presName="parTx" presStyleLbl="revTx" presStyleIdx="0" presStyleCnt="5">
        <dgm:presLayoutVars>
          <dgm:chMax val="0"/>
          <dgm:chPref val="0"/>
        </dgm:presLayoutVars>
      </dgm:prSet>
      <dgm:spPr/>
    </dgm:pt>
    <dgm:pt modelId="{A7C3F14F-4407-4956-ACC5-41856A605A5F}" type="pres">
      <dgm:prSet presAssocID="{4D14C31F-8BFB-6D44-B2D9-CD5A7BB68C17}" presName="sibTrans" presStyleCnt="0"/>
      <dgm:spPr/>
    </dgm:pt>
    <dgm:pt modelId="{B7DCF722-6A90-4AD6-B840-4D75E7212BF3}" type="pres">
      <dgm:prSet presAssocID="{8F048F78-10A8-D34F-BD45-BA8AFDC03092}" presName="compNode" presStyleCnt="0"/>
      <dgm:spPr/>
    </dgm:pt>
    <dgm:pt modelId="{2D414D1B-CA9A-4F63-81E7-C6FAF34625B3}" type="pres">
      <dgm:prSet presAssocID="{8F048F78-10A8-D34F-BD45-BA8AFDC03092}" presName="bgRect" presStyleLbl="bgShp" presStyleIdx="1" presStyleCnt="3"/>
      <dgm:spPr/>
    </dgm:pt>
    <dgm:pt modelId="{D4581E85-59C1-41A8-894F-141EE699FD6D}" type="pres">
      <dgm:prSet presAssocID="{8F048F78-10A8-D34F-BD45-BA8AFDC0309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B4FD326B-2511-4A0C-A48E-83C2F67DF256}" type="pres">
      <dgm:prSet presAssocID="{8F048F78-10A8-D34F-BD45-BA8AFDC03092}" presName="spaceRect" presStyleCnt="0"/>
      <dgm:spPr/>
    </dgm:pt>
    <dgm:pt modelId="{F426BFB6-B74C-481D-8BDC-46C78290DD74}" type="pres">
      <dgm:prSet presAssocID="{8F048F78-10A8-D34F-BD45-BA8AFDC03092}" presName="parTx" presStyleLbl="revTx" presStyleIdx="1" presStyleCnt="5">
        <dgm:presLayoutVars>
          <dgm:chMax val="0"/>
          <dgm:chPref val="0"/>
        </dgm:presLayoutVars>
      </dgm:prSet>
      <dgm:spPr/>
    </dgm:pt>
    <dgm:pt modelId="{CF750A93-95A6-4960-B61E-AEE55CDD07D3}" type="pres">
      <dgm:prSet presAssocID="{8F048F78-10A8-D34F-BD45-BA8AFDC03092}" presName="desTx" presStyleLbl="revTx" presStyleIdx="2" presStyleCnt="5">
        <dgm:presLayoutVars/>
      </dgm:prSet>
      <dgm:spPr/>
    </dgm:pt>
    <dgm:pt modelId="{80C89F76-00DF-4ACE-8F42-AE8BA5C93446}" type="pres">
      <dgm:prSet presAssocID="{9C372887-C6DD-F84B-B494-23A325A7550E}" presName="sibTrans" presStyleCnt="0"/>
      <dgm:spPr/>
    </dgm:pt>
    <dgm:pt modelId="{18266646-67E7-42B4-9E0B-F1EED58DA03B}" type="pres">
      <dgm:prSet presAssocID="{7E854772-D186-4A43-A4C4-FB3A8ED6AB38}" presName="compNode" presStyleCnt="0"/>
      <dgm:spPr/>
    </dgm:pt>
    <dgm:pt modelId="{7AA0F572-538C-423A-9333-9E26CA1BC51C}" type="pres">
      <dgm:prSet presAssocID="{7E854772-D186-4A43-A4C4-FB3A8ED6AB38}" presName="bgRect" presStyleLbl="bgShp" presStyleIdx="2" presStyleCnt="3"/>
      <dgm:spPr/>
    </dgm:pt>
    <dgm:pt modelId="{C86F9EE2-1A7E-4E0C-98EB-BC87EADA6D8A}" type="pres">
      <dgm:prSet presAssocID="{7E854772-D186-4A43-A4C4-FB3A8ED6AB3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24C40D92-F2C4-498E-A0BB-A896268ABE44}" type="pres">
      <dgm:prSet presAssocID="{7E854772-D186-4A43-A4C4-FB3A8ED6AB38}" presName="spaceRect" presStyleCnt="0"/>
      <dgm:spPr/>
    </dgm:pt>
    <dgm:pt modelId="{B8EA162C-9AE9-43E9-AD83-44CD39EE2025}" type="pres">
      <dgm:prSet presAssocID="{7E854772-D186-4A43-A4C4-FB3A8ED6AB38}" presName="parTx" presStyleLbl="revTx" presStyleIdx="3" presStyleCnt="5">
        <dgm:presLayoutVars>
          <dgm:chMax val="0"/>
          <dgm:chPref val="0"/>
        </dgm:presLayoutVars>
      </dgm:prSet>
      <dgm:spPr/>
    </dgm:pt>
    <dgm:pt modelId="{74CEB602-CE26-4B63-B571-A25AB896194B}" type="pres">
      <dgm:prSet presAssocID="{7E854772-D186-4A43-A4C4-FB3A8ED6AB38}" presName="desTx" presStyleLbl="revTx" presStyleIdx="4" presStyleCnt="5" custLinFactNeighborX="12451" custLinFactNeighborY="1459">
        <dgm:presLayoutVars/>
      </dgm:prSet>
      <dgm:spPr/>
    </dgm:pt>
  </dgm:ptLst>
  <dgm:cxnLst>
    <dgm:cxn modelId="{BBC88801-C093-1E40-BD30-87FB2E228529}" type="presOf" srcId="{44F85DA5-712D-C84F-8FBD-10557DF9F884}" destId="{74CEB602-CE26-4B63-B571-A25AB896194B}" srcOrd="0" destOrd="0" presId="urn:microsoft.com/office/officeart/2018/2/layout/IconVerticalSolidList"/>
    <dgm:cxn modelId="{5A6DA817-0425-994F-A148-323FD64BEC73}" srcId="{72D0FE0C-0446-9A4E-93B0-940E1B4C7EEF}" destId="{E678D5CF-EFB9-2E4B-99A1-C6794A46F0BF}" srcOrd="0" destOrd="0" parTransId="{608A9645-6964-C64C-A005-05EB847FA236}" sibTransId="{4D14C31F-8BFB-6D44-B2D9-CD5A7BB68C17}"/>
    <dgm:cxn modelId="{85AEF31E-699A-2840-A297-188555F5567C}" type="presOf" srcId="{72D0FE0C-0446-9A4E-93B0-940E1B4C7EEF}" destId="{8B7E333A-ECF7-4FF4-BE16-7C6459407160}" srcOrd="0" destOrd="0" presId="urn:microsoft.com/office/officeart/2018/2/layout/IconVerticalSolidList"/>
    <dgm:cxn modelId="{A0FA7F20-D1D2-784C-8FFA-FC4CC77A6A7A}" type="presOf" srcId="{8F048F78-10A8-D34F-BD45-BA8AFDC03092}" destId="{F426BFB6-B74C-481D-8BDC-46C78290DD74}" srcOrd="0" destOrd="0" presId="urn:microsoft.com/office/officeart/2018/2/layout/IconVerticalSolidList"/>
    <dgm:cxn modelId="{5C85FC28-3BB2-9A49-AB3E-50FDB463031C}" type="presOf" srcId="{E678D5CF-EFB9-2E4B-99A1-C6794A46F0BF}" destId="{427D15D8-0EDC-4FBC-BBB6-32C88A9C51DD}" srcOrd="0" destOrd="0" presId="urn:microsoft.com/office/officeart/2018/2/layout/IconVerticalSolidList"/>
    <dgm:cxn modelId="{9CC51842-E82C-FE4D-8D0B-946C348CEEEF}" srcId="{7E854772-D186-4A43-A4C4-FB3A8ED6AB38}" destId="{44F85DA5-712D-C84F-8FBD-10557DF9F884}" srcOrd="0" destOrd="0" parTransId="{45C971C0-2E3F-3840-B408-2417D0D75E33}" sibTransId="{0DC1281F-D92D-EA4E-8E20-2978C8B80D0B}"/>
    <dgm:cxn modelId="{1BC4DE42-F1CE-B945-9E99-0C84E2917FD8}" type="presOf" srcId="{7E854772-D186-4A43-A4C4-FB3A8ED6AB38}" destId="{B8EA162C-9AE9-43E9-AD83-44CD39EE2025}" srcOrd="0" destOrd="0" presId="urn:microsoft.com/office/officeart/2018/2/layout/IconVerticalSolidList"/>
    <dgm:cxn modelId="{30268D62-8D4F-224C-9782-40FDDEFB3EFA}" srcId="{8F048F78-10A8-D34F-BD45-BA8AFDC03092}" destId="{5A1F41BE-177A-044A-96BE-41C2310F8BB2}" srcOrd="0" destOrd="0" parTransId="{E9BC3723-215A-9D44-AD3C-DA12D5EBA37A}" sibTransId="{54072019-9613-3F41-8393-1FC41C4F7470}"/>
    <dgm:cxn modelId="{20F031AC-5B27-8E41-BC82-354C84736E59}" srcId="{7E854772-D186-4A43-A4C4-FB3A8ED6AB38}" destId="{27900386-A3F4-B744-B2B5-96F001DCD345}" srcOrd="1" destOrd="0" parTransId="{3E0FCD6C-9CFB-794D-AAE4-E319259F2229}" sibTransId="{9A6FA264-FAFC-AC47-9D64-370169290EB9}"/>
    <dgm:cxn modelId="{D8212AB9-7947-E544-9D93-81CCF2A89853}" type="presOf" srcId="{5A1F41BE-177A-044A-96BE-41C2310F8BB2}" destId="{CF750A93-95A6-4960-B61E-AEE55CDD07D3}" srcOrd="0" destOrd="0" presId="urn:microsoft.com/office/officeart/2018/2/layout/IconVerticalSolidList"/>
    <dgm:cxn modelId="{E78C42BF-5239-374E-A26F-1EB5ADF7C149}" type="presOf" srcId="{27900386-A3F4-B744-B2B5-96F001DCD345}" destId="{74CEB602-CE26-4B63-B571-A25AB896194B}" srcOrd="0" destOrd="1" presId="urn:microsoft.com/office/officeart/2018/2/layout/IconVerticalSolidList"/>
    <dgm:cxn modelId="{18A177D2-A295-224D-9CFE-118BFC7F5549}" srcId="{72D0FE0C-0446-9A4E-93B0-940E1B4C7EEF}" destId="{8F048F78-10A8-D34F-BD45-BA8AFDC03092}" srcOrd="1" destOrd="0" parTransId="{294003EA-8D44-7543-BE29-FAD2BC6A7371}" sibTransId="{9C372887-C6DD-F84B-B494-23A325A7550E}"/>
    <dgm:cxn modelId="{B052BDDC-C498-3F49-979B-6DCFB7D89CEF}" srcId="{72D0FE0C-0446-9A4E-93B0-940E1B4C7EEF}" destId="{7E854772-D186-4A43-A4C4-FB3A8ED6AB38}" srcOrd="2" destOrd="0" parTransId="{644F5CDB-8EA4-5D48-BA2F-E9DA5C0A7E4A}" sibTransId="{42492404-8A74-674B-AF89-14ECA7CD1C32}"/>
    <dgm:cxn modelId="{EC74F8B9-21C1-2646-B3A2-78B53CEA9795}" type="presParOf" srcId="{8B7E333A-ECF7-4FF4-BE16-7C6459407160}" destId="{A9A7496E-7C81-48C3-9BF9-65AEC55B57AD}" srcOrd="0" destOrd="0" presId="urn:microsoft.com/office/officeart/2018/2/layout/IconVerticalSolidList"/>
    <dgm:cxn modelId="{3DC840E5-AF67-7C44-B1F9-62B5942A3FDF}" type="presParOf" srcId="{A9A7496E-7C81-48C3-9BF9-65AEC55B57AD}" destId="{52AD47D1-5B9C-4938-9C17-F5CAABF78D18}" srcOrd="0" destOrd="0" presId="urn:microsoft.com/office/officeart/2018/2/layout/IconVerticalSolidList"/>
    <dgm:cxn modelId="{CD30C0CA-7D6D-104F-BAC9-48B512F25249}" type="presParOf" srcId="{A9A7496E-7C81-48C3-9BF9-65AEC55B57AD}" destId="{DCAF99C5-6B3E-4692-AA63-E08E9F394B40}" srcOrd="1" destOrd="0" presId="urn:microsoft.com/office/officeart/2018/2/layout/IconVerticalSolidList"/>
    <dgm:cxn modelId="{F05DF98C-81E0-4247-8351-4C1A29B2DE43}" type="presParOf" srcId="{A9A7496E-7C81-48C3-9BF9-65AEC55B57AD}" destId="{A8EFCF58-9A8D-4827-9991-ED2E56A8BFE4}" srcOrd="2" destOrd="0" presId="urn:microsoft.com/office/officeart/2018/2/layout/IconVerticalSolidList"/>
    <dgm:cxn modelId="{F8F8975E-46BD-BA4E-AB0F-67A9BF9732D2}" type="presParOf" srcId="{A9A7496E-7C81-48C3-9BF9-65AEC55B57AD}" destId="{427D15D8-0EDC-4FBC-BBB6-32C88A9C51DD}" srcOrd="3" destOrd="0" presId="urn:microsoft.com/office/officeart/2018/2/layout/IconVerticalSolidList"/>
    <dgm:cxn modelId="{8643A2F5-A938-F04E-A6C0-752908F85B5D}" type="presParOf" srcId="{8B7E333A-ECF7-4FF4-BE16-7C6459407160}" destId="{A7C3F14F-4407-4956-ACC5-41856A605A5F}" srcOrd="1" destOrd="0" presId="urn:microsoft.com/office/officeart/2018/2/layout/IconVerticalSolidList"/>
    <dgm:cxn modelId="{EA2D0C78-75CA-3147-A0F8-E1E7C3EAD8CC}" type="presParOf" srcId="{8B7E333A-ECF7-4FF4-BE16-7C6459407160}" destId="{B7DCF722-6A90-4AD6-B840-4D75E7212BF3}" srcOrd="2" destOrd="0" presId="urn:microsoft.com/office/officeart/2018/2/layout/IconVerticalSolidList"/>
    <dgm:cxn modelId="{8DEF9C74-C627-7C4B-B0A9-EC86E2EF7A98}" type="presParOf" srcId="{B7DCF722-6A90-4AD6-B840-4D75E7212BF3}" destId="{2D414D1B-CA9A-4F63-81E7-C6FAF34625B3}" srcOrd="0" destOrd="0" presId="urn:microsoft.com/office/officeart/2018/2/layout/IconVerticalSolidList"/>
    <dgm:cxn modelId="{74A60F43-B0D4-3041-B3F8-2615AF51AB7A}" type="presParOf" srcId="{B7DCF722-6A90-4AD6-B840-4D75E7212BF3}" destId="{D4581E85-59C1-41A8-894F-141EE699FD6D}" srcOrd="1" destOrd="0" presId="urn:microsoft.com/office/officeart/2018/2/layout/IconVerticalSolidList"/>
    <dgm:cxn modelId="{BC7D4650-3ECD-CB4F-8C8E-C1A285C836BF}" type="presParOf" srcId="{B7DCF722-6A90-4AD6-B840-4D75E7212BF3}" destId="{B4FD326B-2511-4A0C-A48E-83C2F67DF256}" srcOrd="2" destOrd="0" presId="urn:microsoft.com/office/officeart/2018/2/layout/IconVerticalSolidList"/>
    <dgm:cxn modelId="{4D098E11-EEEF-0B46-A975-C6028CF537C3}" type="presParOf" srcId="{B7DCF722-6A90-4AD6-B840-4D75E7212BF3}" destId="{F426BFB6-B74C-481D-8BDC-46C78290DD74}" srcOrd="3" destOrd="0" presId="urn:microsoft.com/office/officeart/2018/2/layout/IconVerticalSolidList"/>
    <dgm:cxn modelId="{DAAB5896-21AD-D642-8B46-6D5BCAC3C036}" type="presParOf" srcId="{B7DCF722-6A90-4AD6-B840-4D75E7212BF3}" destId="{CF750A93-95A6-4960-B61E-AEE55CDD07D3}" srcOrd="4" destOrd="0" presId="urn:microsoft.com/office/officeart/2018/2/layout/IconVerticalSolidList"/>
    <dgm:cxn modelId="{325CB5B3-E006-034D-9CB6-A55829E4D62C}" type="presParOf" srcId="{8B7E333A-ECF7-4FF4-BE16-7C6459407160}" destId="{80C89F76-00DF-4ACE-8F42-AE8BA5C93446}" srcOrd="3" destOrd="0" presId="urn:microsoft.com/office/officeart/2018/2/layout/IconVerticalSolidList"/>
    <dgm:cxn modelId="{6C2613B9-55A5-A244-864B-C28C869391B2}" type="presParOf" srcId="{8B7E333A-ECF7-4FF4-BE16-7C6459407160}" destId="{18266646-67E7-42B4-9E0B-F1EED58DA03B}" srcOrd="4" destOrd="0" presId="urn:microsoft.com/office/officeart/2018/2/layout/IconVerticalSolidList"/>
    <dgm:cxn modelId="{3B0247FE-25E8-A74A-A0B2-A647AFCB9F43}" type="presParOf" srcId="{18266646-67E7-42B4-9E0B-F1EED58DA03B}" destId="{7AA0F572-538C-423A-9333-9E26CA1BC51C}" srcOrd="0" destOrd="0" presId="urn:microsoft.com/office/officeart/2018/2/layout/IconVerticalSolidList"/>
    <dgm:cxn modelId="{91C143A8-C1BC-6B42-9DD0-47F1AD50D3E9}" type="presParOf" srcId="{18266646-67E7-42B4-9E0B-F1EED58DA03B}" destId="{C86F9EE2-1A7E-4E0C-98EB-BC87EADA6D8A}" srcOrd="1" destOrd="0" presId="urn:microsoft.com/office/officeart/2018/2/layout/IconVerticalSolidList"/>
    <dgm:cxn modelId="{A74053FE-6955-9848-84C7-D453D52DA05F}" type="presParOf" srcId="{18266646-67E7-42B4-9E0B-F1EED58DA03B}" destId="{24C40D92-F2C4-498E-A0BB-A896268ABE44}" srcOrd="2" destOrd="0" presId="urn:microsoft.com/office/officeart/2018/2/layout/IconVerticalSolidList"/>
    <dgm:cxn modelId="{C2A49352-0427-1B4A-A335-CC96D6FA7283}" type="presParOf" srcId="{18266646-67E7-42B4-9E0B-F1EED58DA03B}" destId="{B8EA162C-9AE9-43E9-AD83-44CD39EE2025}" srcOrd="3" destOrd="0" presId="urn:microsoft.com/office/officeart/2018/2/layout/IconVerticalSolidList"/>
    <dgm:cxn modelId="{B424C1DC-66B0-524E-9386-954B3472CE88}" type="presParOf" srcId="{18266646-67E7-42B4-9E0B-F1EED58DA03B}" destId="{74CEB602-CE26-4B63-B571-A25AB896194B}" srcOrd="4" destOrd="0" presId="urn:microsoft.com/office/officeart/2018/2/layout/IconVerticalSolidList"/>
  </dgm:cxnLst>
  <dgm:bg>
    <a:noFill/>
  </dgm:bg>
  <dgm:whole>
    <a:ln>
      <a:no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AD47D1-5B9C-4938-9C17-F5CAABF78D18}">
      <dsp:nvSpPr>
        <dsp:cNvPr id="0" name=""/>
        <dsp:cNvSpPr/>
      </dsp:nvSpPr>
      <dsp:spPr>
        <a:xfrm>
          <a:off x="0" y="0"/>
          <a:ext cx="9665043" cy="872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AF99C5-6B3E-4692-AA63-E08E9F394B40}">
      <dsp:nvSpPr>
        <dsp:cNvPr id="0" name=""/>
        <dsp:cNvSpPr/>
      </dsp:nvSpPr>
      <dsp:spPr>
        <a:xfrm>
          <a:off x="264000" y="196736"/>
          <a:ext cx="480000" cy="48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7D15D8-0EDC-4FBC-BBB6-32C88A9C51DD}">
      <dsp:nvSpPr>
        <dsp:cNvPr id="0" name=""/>
        <dsp:cNvSpPr/>
      </dsp:nvSpPr>
      <dsp:spPr>
        <a:xfrm>
          <a:off x="1008000" y="372"/>
          <a:ext cx="8657042" cy="872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64" tIns="92364" rIns="92364" bIns="92364" numCol="1" spcCol="1270" anchor="ctr" anchorCtr="0">
          <a:noAutofit/>
        </a:bodyPr>
        <a:lstStyle/>
        <a:p>
          <a:pPr marL="0" lvl="0" indent="0" algn="l" defTabSz="1066800">
            <a:lnSpc>
              <a:spcPct val="100000"/>
            </a:lnSpc>
            <a:spcBef>
              <a:spcPct val="0"/>
            </a:spcBef>
            <a:spcAft>
              <a:spcPct val="35000"/>
            </a:spcAft>
            <a:buNone/>
          </a:pPr>
          <a:r>
            <a:rPr lang="en-GB" sz="2400" b="1" kern="1200" dirty="0">
              <a:latin typeface="Times New Roman" panose="02020603050405020304" pitchFamily="18" charset="0"/>
              <a:cs typeface="Times New Roman" panose="02020603050405020304" pitchFamily="18" charset="0"/>
            </a:rPr>
            <a:t>Data : </a:t>
          </a:r>
          <a:r>
            <a:rPr lang="en-IN" sz="1600" b="0" i="0" kern="1200" dirty="0">
              <a:effectLst/>
              <a:latin typeface="Times New Roman" panose="02020603050405020304" pitchFamily="18" charset="0"/>
              <a:cs typeface="Times New Roman" panose="02020603050405020304" pitchFamily="18" charset="0"/>
            </a:rPr>
            <a:t>A data is a collection of responses or observations from a sample or entire population</a:t>
          </a:r>
          <a:endParaRPr lang="en-GB" sz="1600" b="1" kern="1200" dirty="0">
            <a:latin typeface="Times New Roman" panose="02020603050405020304" pitchFamily="18" charset="0"/>
            <a:cs typeface="Times New Roman" panose="02020603050405020304" pitchFamily="18" charset="0"/>
          </a:endParaRPr>
        </a:p>
      </dsp:txBody>
      <dsp:txXfrm>
        <a:off x="1008000" y="372"/>
        <a:ext cx="8657042" cy="872728"/>
      </dsp:txXfrm>
    </dsp:sp>
    <dsp:sp modelId="{2D414D1B-CA9A-4F63-81E7-C6FAF34625B3}">
      <dsp:nvSpPr>
        <dsp:cNvPr id="0" name=""/>
        <dsp:cNvSpPr/>
      </dsp:nvSpPr>
      <dsp:spPr>
        <a:xfrm>
          <a:off x="0" y="1091282"/>
          <a:ext cx="9665043" cy="872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581E85-59C1-41A8-894F-141EE699FD6D}">
      <dsp:nvSpPr>
        <dsp:cNvPr id="0" name=""/>
        <dsp:cNvSpPr/>
      </dsp:nvSpPr>
      <dsp:spPr>
        <a:xfrm>
          <a:off x="264000" y="1287646"/>
          <a:ext cx="480000" cy="48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26BFB6-B74C-481D-8BDC-46C78290DD74}">
      <dsp:nvSpPr>
        <dsp:cNvPr id="0" name=""/>
        <dsp:cNvSpPr/>
      </dsp:nvSpPr>
      <dsp:spPr>
        <a:xfrm>
          <a:off x="1008000" y="1091282"/>
          <a:ext cx="4349269" cy="872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64" tIns="92364" rIns="92364" bIns="92364" numCol="1" spcCol="1270" anchor="ctr" anchorCtr="0">
          <a:noAutofit/>
        </a:bodyPr>
        <a:lstStyle/>
        <a:p>
          <a:pPr marL="0" lvl="0" indent="0" algn="l" defTabSz="1111250">
            <a:lnSpc>
              <a:spcPct val="100000"/>
            </a:lnSpc>
            <a:spcBef>
              <a:spcPct val="0"/>
            </a:spcBef>
            <a:spcAft>
              <a:spcPct val="35000"/>
            </a:spcAft>
            <a:buNone/>
          </a:pPr>
          <a:r>
            <a:rPr lang="en-IN" sz="2500" b="1" i="0" kern="1200">
              <a:latin typeface="Times New Roman" panose="02020603050405020304" pitchFamily="18" charset="0"/>
              <a:cs typeface="Times New Roman" panose="02020603050405020304" pitchFamily="18" charset="0"/>
            </a:rPr>
            <a:t>Numerical / Quantitative Data</a:t>
          </a:r>
          <a:endParaRPr lang="en-IN" sz="2500" b="1" i="0" kern="1200" dirty="0">
            <a:latin typeface="Times New Roman" panose="02020603050405020304" pitchFamily="18" charset="0"/>
            <a:cs typeface="Times New Roman" panose="02020603050405020304" pitchFamily="18" charset="0"/>
          </a:endParaRPr>
        </a:p>
      </dsp:txBody>
      <dsp:txXfrm>
        <a:off x="1008000" y="1091282"/>
        <a:ext cx="4349269" cy="872728"/>
      </dsp:txXfrm>
    </dsp:sp>
    <dsp:sp modelId="{CF750A93-95A6-4960-B61E-AEE55CDD07D3}">
      <dsp:nvSpPr>
        <dsp:cNvPr id="0" name=""/>
        <dsp:cNvSpPr/>
      </dsp:nvSpPr>
      <dsp:spPr>
        <a:xfrm>
          <a:off x="5357270" y="1091282"/>
          <a:ext cx="4307772" cy="872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64" tIns="92364" rIns="92364" bIns="92364" numCol="1" spcCol="1270" anchor="ctr" anchorCtr="0">
          <a:noAutofit/>
        </a:bodyPr>
        <a:lstStyle/>
        <a:p>
          <a:pPr marL="0" lvl="0" indent="0" algn="l" defTabSz="577850">
            <a:lnSpc>
              <a:spcPct val="100000"/>
            </a:lnSpc>
            <a:spcBef>
              <a:spcPct val="0"/>
            </a:spcBef>
            <a:spcAft>
              <a:spcPct val="35000"/>
            </a:spcAft>
            <a:buNone/>
          </a:pPr>
          <a:r>
            <a:rPr lang="en-IN" sz="1300" b="1" i="0" kern="1200" dirty="0">
              <a:latin typeface="Times New Roman" panose="02020603050405020304" pitchFamily="18" charset="0"/>
              <a:cs typeface="Times New Roman" panose="02020603050405020304" pitchFamily="18" charset="0"/>
            </a:rPr>
            <a:t>           I. Discrete Numerical variables </a:t>
          </a:r>
        </a:p>
        <a:p>
          <a:pPr marL="0" lvl="0" indent="0" algn="l" defTabSz="577850">
            <a:lnSpc>
              <a:spcPct val="100000"/>
            </a:lnSpc>
            <a:spcBef>
              <a:spcPct val="0"/>
            </a:spcBef>
            <a:spcAft>
              <a:spcPct val="35000"/>
            </a:spcAft>
            <a:buNone/>
          </a:pPr>
          <a:r>
            <a:rPr lang="en-IN" sz="1300" b="1" i="0" kern="1200" dirty="0">
              <a:latin typeface="Times New Roman" panose="02020603050405020304" pitchFamily="18" charset="0"/>
              <a:cs typeface="Times New Roman" panose="02020603050405020304" pitchFamily="18" charset="0"/>
            </a:rPr>
            <a:t>           II. Continuous Numeric variable </a:t>
          </a:r>
        </a:p>
        <a:p>
          <a:pPr marL="0" lvl="0" indent="0" algn="l" defTabSz="577850">
            <a:spcBef>
              <a:spcPct val="0"/>
            </a:spcBef>
            <a:spcAft>
              <a:spcPct val="35000"/>
            </a:spcAft>
            <a:buFont typeface="Arial" panose="020B0604020202020204" pitchFamily="34" charset="0"/>
            <a:buNone/>
          </a:pPr>
          <a:endParaRPr lang="en-IN" sz="1300" b="1" kern="1200" dirty="0">
            <a:latin typeface="Times New Roman" panose="02020603050405020304" pitchFamily="18" charset="0"/>
            <a:cs typeface="Times New Roman" panose="02020603050405020304" pitchFamily="18" charset="0"/>
          </a:endParaRPr>
        </a:p>
      </dsp:txBody>
      <dsp:txXfrm>
        <a:off x="5357270" y="1091282"/>
        <a:ext cx="4307772" cy="872728"/>
      </dsp:txXfrm>
    </dsp:sp>
    <dsp:sp modelId="{7AA0F572-538C-423A-9333-9E26CA1BC51C}">
      <dsp:nvSpPr>
        <dsp:cNvPr id="0" name=""/>
        <dsp:cNvSpPr/>
      </dsp:nvSpPr>
      <dsp:spPr>
        <a:xfrm>
          <a:off x="0" y="2182193"/>
          <a:ext cx="9665043" cy="872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6F9EE2-1A7E-4E0C-98EB-BC87EADA6D8A}">
      <dsp:nvSpPr>
        <dsp:cNvPr id="0" name=""/>
        <dsp:cNvSpPr/>
      </dsp:nvSpPr>
      <dsp:spPr>
        <a:xfrm>
          <a:off x="264000" y="2378556"/>
          <a:ext cx="480000" cy="48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EA162C-9AE9-43E9-AD83-44CD39EE2025}">
      <dsp:nvSpPr>
        <dsp:cNvPr id="0" name=""/>
        <dsp:cNvSpPr/>
      </dsp:nvSpPr>
      <dsp:spPr>
        <a:xfrm>
          <a:off x="1008000" y="2182193"/>
          <a:ext cx="4349269" cy="872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64" tIns="92364" rIns="92364" bIns="92364" numCol="1" spcCol="1270" anchor="ctr" anchorCtr="0">
          <a:noAutofit/>
        </a:bodyPr>
        <a:lstStyle/>
        <a:p>
          <a:pPr marL="0" lvl="0" indent="0" algn="l" defTabSz="1111250">
            <a:lnSpc>
              <a:spcPct val="100000"/>
            </a:lnSpc>
            <a:spcBef>
              <a:spcPct val="0"/>
            </a:spcBef>
            <a:spcAft>
              <a:spcPct val="35000"/>
            </a:spcAft>
            <a:buNone/>
          </a:pPr>
          <a:r>
            <a:rPr lang="en-IN" sz="2500" b="1" i="0" kern="1200">
              <a:latin typeface="Times New Roman" panose="02020603050405020304" pitchFamily="18" charset="0"/>
              <a:cs typeface="Times New Roman" panose="02020603050405020304" pitchFamily="18" charset="0"/>
            </a:rPr>
            <a:t> Categorical / Qualitative Data </a:t>
          </a:r>
          <a:endParaRPr lang="en-IN" sz="2500" b="1" i="0" kern="1200" dirty="0">
            <a:latin typeface="Times New Roman" panose="02020603050405020304" pitchFamily="18" charset="0"/>
            <a:cs typeface="Times New Roman" panose="02020603050405020304" pitchFamily="18" charset="0"/>
          </a:endParaRPr>
        </a:p>
      </dsp:txBody>
      <dsp:txXfrm>
        <a:off x="1008000" y="2182193"/>
        <a:ext cx="4349269" cy="872728"/>
      </dsp:txXfrm>
    </dsp:sp>
    <dsp:sp modelId="{74CEB602-CE26-4B63-B571-A25AB896194B}">
      <dsp:nvSpPr>
        <dsp:cNvPr id="0" name=""/>
        <dsp:cNvSpPr/>
      </dsp:nvSpPr>
      <dsp:spPr>
        <a:xfrm>
          <a:off x="5357270" y="2182565"/>
          <a:ext cx="4307772" cy="872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64" tIns="92364" rIns="92364" bIns="92364" numCol="1" spcCol="1270" anchor="ctr" anchorCtr="0">
          <a:noAutofit/>
        </a:bodyPr>
        <a:lstStyle/>
        <a:p>
          <a:pPr marL="0" lvl="0" indent="0" algn="l" defTabSz="577850">
            <a:lnSpc>
              <a:spcPct val="100000"/>
            </a:lnSpc>
            <a:spcBef>
              <a:spcPct val="0"/>
            </a:spcBef>
            <a:spcAft>
              <a:spcPct val="35000"/>
            </a:spcAft>
            <a:buNone/>
          </a:pPr>
          <a:r>
            <a:rPr lang="en-IN" sz="1300" b="1" i="0" kern="1200" dirty="0">
              <a:latin typeface="Times New Roman" panose="02020603050405020304" pitchFamily="18" charset="0"/>
              <a:cs typeface="Times New Roman" panose="02020603050405020304" pitchFamily="18" charset="0"/>
            </a:rPr>
            <a:t>           I. Ordinal Variables </a:t>
          </a:r>
        </a:p>
        <a:p>
          <a:pPr marL="0" lvl="0" indent="0" algn="l" defTabSz="577850">
            <a:lnSpc>
              <a:spcPct val="100000"/>
            </a:lnSpc>
            <a:spcBef>
              <a:spcPct val="0"/>
            </a:spcBef>
            <a:spcAft>
              <a:spcPct val="35000"/>
            </a:spcAft>
            <a:buNone/>
          </a:pPr>
          <a:r>
            <a:rPr lang="en-IN" sz="1300" b="1" i="0" kern="1200" dirty="0">
              <a:latin typeface="Times New Roman" panose="02020603050405020304" pitchFamily="18" charset="0"/>
              <a:cs typeface="Times New Roman" panose="02020603050405020304" pitchFamily="18" charset="0"/>
            </a:rPr>
            <a:t>           II. Nominal Variables </a:t>
          </a:r>
        </a:p>
        <a:p>
          <a:pPr marL="0" lvl="0" indent="0" algn="l" defTabSz="577850">
            <a:spcBef>
              <a:spcPct val="0"/>
            </a:spcBef>
            <a:spcAft>
              <a:spcPct val="35000"/>
            </a:spcAft>
            <a:buNone/>
          </a:pPr>
          <a:endParaRPr lang="en-IN" sz="1300" b="1" kern="1200" dirty="0">
            <a:latin typeface="Times New Roman" panose="02020603050405020304" pitchFamily="18" charset="0"/>
            <a:cs typeface="Times New Roman" panose="02020603050405020304" pitchFamily="18" charset="0"/>
          </a:endParaRPr>
        </a:p>
      </dsp:txBody>
      <dsp:txXfrm>
        <a:off x="5357270" y="2182565"/>
        <a:ext cx="4307772" cy="87272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CC4BE3-0A15-8446-BBF2-4E48CAD498DD}" type="datetimeFigureOut">
              <a:rPr lang="en-US" smtClean="0"/>
              <a:t>10/12/22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8A4E2-19CC-AC4A-BA3E-E5FA293F4C09}" type="slidenum">
              <a:rPr lang="en-US" smtClean="0"/>
              <a:t>‹#›</a:t>
            </a:fld>
            <a:endParaRPr lang="en-US"/>
          </a:p>
        </p:txBody>
      </p:sp>
    </p:spTree>
    <p:extLst>
      <p:ext uri="{BB962C8B-B14F-4D97-AF65-F5344CB8AC3E}">
        <p14:creationId xmlns:p14="http://schemas.microsoft.com/office/powerpoint/2010/main" val="3996023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7</a:t>
            </a:fld>
            <a:endParaRPr lang="en-US"/>
          </a:p>
        </p:txBody>
      </p:sp>
    </p:spTree>
    <p:extLst>
      <p:ext uri="{BB962C8B-B14F-4D97-AF65-F5344CB8AC3E}">
        <p14:creationId xmlns:p14="http://schemas.microsoft.com/office/powerpoint/2010/main" val="564572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8</a:t>
            </a:fld>
            <a:endParaRPr lang="en-US"/>
          </a:p>
        </p:txBody>
      </p:sp>
    </p:spTree>
    <p:extLst>
      <p:ext uri="{BB962C8B-B14F-4D97-AF65-F5344CB8AC3E}">
        <p14:creationId xmlns:p14="http://schemas.microsoft.com/office/powerpoint/2010/main" val="1853036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11</a:t>
            </a:fld>
            <a:endParaRPr lang="en-US"/>
          </a:p>
        </p:txBody>
      </p:sp>
    </p:spTree>
    <p:extLst>
      <p:ext uri="{BB962C8B-B14F-4D97-AF65-F5344CB8AC3E}">
        <p14:creationId xmlns:p14="http://schemas.microsoft.com/office/powerpoint/2010/main" val="2602503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12</a:t>
            </a:fld>
            <a:endParaRPr lang="en-US"/>
          </a:p>
        </p:txBody>
      </p:sp>
    </p:spTree>
    <p:extLst>
      <p:ext uri="{BB962C8B-B14F-4D97-AF65-F5344CB8AC3E}">
        <p14:creationId xmlns:p14="http://schemas.microsoft.com/office/powerpoint/2010/main" val="3728192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14</a:t>
            </a:fld>
            <a:endParaRPr lang="en-US"/>
          </a:p>
        </p:txBody>
      </p:sp>
    </p:spTree>
    <p:extLst>
      <p:ext uri="{BB962C8B-B14F-4D97-AF65-F5344CB8AC3E}">
        <p14:creationId xmlns:p14="http://schemas.microsoft.com/office/powerpoint/2010/main" val="2696680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15</a:t>
            </a:fld>
            <a:endParaRPr lang="en-US"/>
          </a:p>
        </p:txBody>
      </p:sp>
    </p:spTree>
    <p:extLst>
      <p:ext uri="{BB962C8B-B14F-4D97-AF65-F5344CB8AC3E}">
        <p14:creationId xmlns:p14="http://schemas.microsoft.com/office/powerpoint/2010/main" val="1437037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i="0" dirty="0">
                <a:solidFill>
                  <a:srgbClr val="111111"/>
                </a:solidFill>
                <a:effectLst/>
                <a:latin typeface="Times New Roman" panose="02020603050405020304" pitchFamily="18" charset="0"/>
                <a:cs typeface="Times New Roman" panose="02020603050405020304" pitchFamily="18" charset="0"/>
              </a:rPr>
              <a:t>In Statistics, “significance” means “not by chance” or “probably true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111111"/>
                </a:solidFill>
                <a:latin typeface="Times New Roman" panose="02020603050405020304" pitchFamily="18" charset="0"/>
                <a:cs typeface="Times New Roman" panose="02020603050405020304" pitchFamily="18" charset="0"/>
              </a:rPr>
              <a:t>E.g.: I</a:t>
            </a:r>
            <a:r>
              <a:rPr lang="en-IN" sz="1200" b="0" i="0" dirty="0">
                <a:solidFill>
                  <a:srgbClr val="111111"/>
                </a:solidFill>
                <a:effectLst/>
                <a:latin typeface="Times New Roman" panose="02020603050405020304" pitchFamily="18" charset="0"/>
                <a:cs typeface="Times New Roman" panose="02020603050405020304" pitchFamily="18" charset="0"/>
              </a:rPr>
              <a:t>f you use an alpha value (0.05) of p &lt; 0.05 for statistical significance, then your confidence level would be 1 − 0.05 = 0.95, or 95%.</a:t>
            </a:r>
          </a:p>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17</a:t>
            </a:fld>
            <a:endParaRPr lang="en-US"/>
          </a:p>
        </p:txBody>
      </p:sp>
    </p:spTree>
    <p:extLst>
      <p:ext uri="{BB962C8B-B14F-4D97-AF65-F5344CB8AC3E}">
        <p14:creationId xmlns:p14="http://schemas.microsoft.com/office/powerpoint/2010/main" val="4261491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dirty="0">
                <a:solidFill>
                  <a:srgbClr val="111111"/>
                </a:solidFill>
                <a:effectLst/>
                <a:latin typeface="Times New Roman" panose="02020603050405020304" pitchFamily="18" charset="0"/>
                <a:cs typeface="Times New Roman" panose="02020603050405020304" pitchFamily="18" charset="0"/>
              </a:rPr>
              <a:t>Your desired confidence level is usually one minus the alpha (a) value you used in your statistical test</a:t>
            </a:r>
          </a:p>
          <a:p>
            <a:r>
              <a:rPr lang="en-IN" sz="1200" b="1" dirty="0">
                <a:solidFill>
                  <a:srgbClr val="111111"/>
                </a:solidFill>
                <a:latin typeface="Times New Roman" panose="02020603050405020304" pitchFamily="18" charset="0"/>
                <a:cs typeface="Times New Roman" panose="02020603050405020304" pitchFamily="18" charset="0"/>
              </a:rPr>
              <a:t>The term significance level (alpha) is used to refer to a pre-chosen probability and the term "P value" is used to indicate a probability that you calculate after a given study.</a:t>
            </a:r>
          </a:p>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18</a:t>
            </a:fld>
            <a:endParaRPr lang="en-US"/>
          </a:p>
        </p:txBody>
      </p:sp>
    </p:spTree>
    <p:extLst>
      <p:ext uri="{BB962C8B-B14F-4D97-AF65-F5344CB8AC3E}">
        <p14:creationId xmlns:p14="http://schemas.microsoft.com/office/powerpoint/2010/main" val="129764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dirty="0">
                <a:solidFill>
                  <a:srgbClr val="111111"/>
                </a:solidFill>
                <a:effectLst/>
                <a:latin typeface="Times New Roman" panose="02020603050405020304" pitchFamily="18" charset="0"/>
                <a:cs typeface="Times New Roman" panose="02020603050405020304" pitchFamily="18" charset="0"/>
              </a:rPr>
              <a:t>Your desired confidence level is usually one minus the alpha (a) value you used in your statistical test.</a:t>
            </a:r>
            <a:r>
              <a:rPr lang="en-IN" b="0" i="0" dirty="0">
                <a:solidFill>
                  <a:srgbClr val="4D5156"/>
                </a:solidFill>
                <a:effectLst/>
                <a:latin typeface="arial" panose="020B0604020202020204" pitchFamily="34" charset="0"/>
              </a:rPr>
              <a:t> Parametric tests are </a:t>
            </a:r>
            <a:r>
              <a:rPr lang="en-IN" b="1" i="0" dirty="0">
                <a:solidFill>
                  <a:srgbClr val="5F6368"/>
                </a:solidFill>
                <a:effectLst/>
                <a:latin typeface="arial" panose="020B0604020202020204" pitchFamily="34" charset="0"/>
              </a:rPr>
              <a:t>those that make assumptions about the parameters of the population distribution from which the sample is drawn</a:t>
            </a:r>
            <a:endParaRPr lang="en-IN" sz="1200" b="0" i="0" dirty="0">
              <a:solidFill>
                <a:srgbClr val="111111"/>
              </a:solidFill>
              <a:effectLst/>
              <a:latin typeface="Times New Roman" panose="02020603050405020304" pitchFamily="18" charset="0"/>
              <a:cs typeface="Times New Roman" panose="02020603050405020304" pitchFamily="18" charset="0"/>
            </a:endParaRPr>
          </a:p>
          <a:p>
            <a:r>
              <a:rPr lang="en-IN" sz="1200" b="1" dirty="0">
                <a:solidFill>
                  <a:srgbClr val="111111"/>
                </a:solidFill>
                <a:latin typeface="Times New Roman" panose="02020603050405020304" pitchFamily="18" charset="0"/>
                <a:cs typeface="Times New Roman" panose="02020603050405020304" pitchFamily="18" charset="0"/>
              </a:rPr>
              <a:t>The term significance level (alpha) is used to refer to a pre-chosen probability and the term "P value" is used to indicate a probability that you calculate after a given study.</a:t>
            </a:r>
          </a:p>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20</a:t>
            </a:fld>
            <a:endParaRPr lang="en-US"/>
          </a:p>
        </p:txBody>
      </p:sp>
    </p:spTree>
    <p:extLst>
      <p:ext uri="{BB962C8B-B14F-4D97-AF65-F5344CB8AC3E}">
        <p14:creationId xmlns:p14="http://schemas.microsoft.com/office/powerpoint/2010/main" val="2777828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IN" sz="1200" b="0" i="0" dirty="0">
                <a:solidFill>
                  <a:srgbClr val="202124"/>
                </a:solidFill>
                <a:effectLst/>
                <a:latin typeface="Times New Roman" panose="02020603050405020304" pitchFamily="18" charset="0"/>
                <a:cs typeface="Times New Roman" panose="02020603050405020304" pitchFamily="18" charset="0"/>
              </a:rPr>
              <a:t>Left-tailed z-test: p-value = </a:t>
            </a:r>
            <a:r>
              <a:rPr lang="el-GR" sz="1200" b="0" i="0" dirty="0">
                <a:solidFill>
                  <a:srgbClr val="202124"/>
                </a:solidFill>
                <a:effectLst/>
                <a:latin typeface="Times New Roman" panose="02020603050405020304" pitchFamily="18" charset="0"/>
                <a:cs typeface="Times New Roman" panose="02020603050405020304" pitchFamily="18" charset="0"/>
              </a:rPr>
              <a:t>Φ(</a:t>
            </a:r>
            <a:r>
              <a:rPr lang="en-IN" sz="1200" b="0" i="0" dirty="0" err="1">
                <a:solidFill>
                  <a:srgbClr val="202124"/>
                </a:solidFill>
                <a:effectLst/>
                <a:latin typeface="Times New Roman" panose="02020603050405020304" pitchFamily="18" charset="0"/>
                <a:cs typeface="Times New Roman" panose="02020603050405020304" pitchFamily="18" charset="0"/>
              </a:rPr>
              <a:t>Z</a:t>
            </a:r>
            <a:r>
              <a:rPr lang="en-IN" sz="1200" b="0" i="0" baseline="-25000" dirty="0" err="1">
                <a:solidFill>
                  <a:srgbClr val="202124"/>
                </a:solidFill>
                <a:effectLst/>
                <a:latin typeface="Times New Roman" panose="02020603050405020304" pitchFamily="18" charset="0"/>
                <a:cs typeface="Times New Roman" panose="02020603050405020304" pitchFamily="18" charset="0"/>
              </a:rPr>
              <a:t>score</a:t>
            </a:r>
            <a:r>
              <a:rPr lang="en-IN" sz="1200" b="0" i="0" dirty="0">
                <a:solidFill>
                  <a:srgbClr val="202124"/>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sz="1200" b="0" i="0" dirty="0">
                <a:solidFill>
                  <a:srgbClr val="202124"/>
                </a:solidFill>
                <a:effectLst/>
                <a:latin typeface="Times New Roman" panose="02020603050405020304" pitchFamily="18" charset="0"/>
                <a:cs typeface="Times New Roman" panose="02020603050405020304" pitchFamily="18" charset="0"/>
              </a:rPr>
              <a:t>Right-tailed z-test: p-value = 1 - </a:t>
            </a:r>
            <a:r>
              <a:rPr lang="el-GR" sz="1200" b="0" i="0" dirty="0">
                <a:solidFill>
                  <a:srgbClr val="202124"/>
                </a:solidFill>
                <a:effectLst/>
                <a:latin typeface="Times New Roman" panose="02020603050405020304" pitchFamily="18" charset="0"/>
                <a:cs typeface="Times New Roman" panose="02020603050405020304" pitchFamily="18" charset="0"/>
              </a:rPr>
              <a:t>Φ(</a:t>
            </a:r>
            <a:r>
              <a:rPr lang="en-IN" sz="1200" b="0" i="0" dirty="0" err="1">
                <a:solidFill>
                  <a:srgbClr val="202124"/>
                </a:solidFill>
                <a:effectLst/>
                <a:latin typeface="Times New Roman" panose="02020603050405020304" pitchFamily="18" charset="0"/>
                <a:cs typeface="Times New Roman" panose="02020603050405020304" pitchFamily="18" charset="0"/>
              </a:rPr>
              <a:t>Z</a:t>
            </a:r>
            <a:r>
              <a:rPr lang="en-IN" sz="1200" b="0" i="0" baseline="-25000" dirty="0" err="1">
                <a:solidFill>
                  <a:srgbClr val="202124"/>
                </a:solidFill>
                <a:effectLst/>
                <a:latin typeface="Times New Roman" panose="02020603050405020304" pitchFamily="18" charset="0"/>
                <a:cs typeface="Times New Roman" panose="02020603050405020304" pitchFamily="18" charset="0"/>
              </a:rPr>
              <a:t>score</a:t>
            </a:r>
            <a:r>
              <a:rPr lang="en-IN" sz="1200" b="0" i="0" dirty="0">
                <a:solidFill>
                  <a:srgbClr val="202124"/>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sz="1200" b="0" i="0" dirty="0">
                <a:solidFill>
                  <a:srgbClr val="202124"/>
                </a:solidFill>
                <a:effectLst/>
                <a:latin typeface="Times New Roman" panose="02020603050405020304" pitchFamily="18" charset="0"/>
                <a:cs typeface="Times New Roman" panose="02020603050405020304" pitchFamily="18" charset="0"/>
              </a:rPr>
              <a:t>Two-tailed z-test: p-value = 2 * </a:t>
            </a:r>
            <a:r>
              <a:rPr lang="el-GR" sz="1200" b="0" i="0" dirty="0">
                <a:solidFill>
                  <a:srgbClr val="202124"/>
                </a:solidFill>
                <a:effectLst/>
                <a:latin typeface="Times New Roman" panose="02020603050405020304" pitchFamily="18" charset="0"/>
                <a:cs typeface="Times New Roman" panose="02020603050405020304" pitchFamily="18" charset="0"/>
              </a:rPr>
              <a:t>Φ(−|</a:t>
            </a:r>
            <a:r>
              <a:rPr lang="en-IN" sz="1200" b="0" i="0" dirty="0" err="1">
                <a:solidFill>
                  <a:srgbClr val="202124"/>
                </a:solidFill>
                <a:effectLst/>
                <a:latin typeface="Times New Roman" panose="02020603050405020304" pitchFamily="18" charset="0"/>
                <a:cs typeface="Times New Roman" panose="02020603050405020304" pitchFamily="18" charset="0"/>
              </a:rPr>
              <a:t>Z</a:t>
            </a:r>
            <a:r>
              <a:rPr lang="en-IN" sz="1200" b="0" i="0" baseline="-25000" dirty="0" err="1">
                <a:solidFill>
                  <a:srgbClr val="202124"/>
                </a:solidFill>
                <a:effectLst/>
                <a:latin typeface="Times New Roman" panose="02020603050405020304" pitchFamily="18" charset="0"/>
                <a:cs typeface="Times New Roman" panose="02020603050405020304" pitchFamily="18" charset="0"/>
              </a:rPr>
              <a:t>score</a:t>
            </a:r>
            <a:r>
              <a:rPr lang="en-IN" sz="1200" b="0" i="0" dirty="0">
                <a:solidFill>
                  <a:srgbClr val="202124"/>
                </a:solidFill>
                <a:effectLst/>
                <a:latin typeface="Times New Roman" panose="02020603050405020304" pitchFamily="18" charset="0"/>
                <a:cs typeface="Times New Roman" panose="02020603050405020304" pitchFamily="18" charset="0"/>
              </a:rPr>
              <a:t>|) or. p-value = 2 - 2 * </a:t>
            </a:r>
            <a:r>
              <a:rPr lang="el-GR" sz="1200" b="0" i="0" dirty="0">
                <a:solidFill>
                  <a:srgbClr val="202124"/>
                </a:solidFill>
                <a:effectLst/>
                <a:latin typeface="Times New Roman" panose="02020603050405020304" pitchFamily="18" charset="0"/>
                <a:cs typeface="Times New Roman" panose="02020603050405020304" pitchFamily="18" charset="0"/>
              </a:rPr>
              <a:t>Φ(|</a:t>
            </a:r>
            <a:r>
              <a:rPr lang="en-IN" sz="1200" b="0" i="0" dirty="0" err="1">
                <a:solidFill>
                  <a:srgbClr val="202124"/>
                </a:solidFill>
                <a:effectLst/>
                <a:latin typeface="Times New Roman" panose="02020603050405020304" pitchFamily="18" charset="0"/>
                <a:cs typeface="Times New Roman" panose="02020603050405020304" pitchFamily="18" charset="0"/>
              </a:rPr>
              <a:t>Z</a:t>
            </a:r>
            <a:r>
              <a:rPr lang="en-IN" sz="1200" b="0" i="0" baseline="-25000" dirty="0" err="1">
                <a:solidFill>
                  <a:srgbClr val="202124"/>
                </a:solidFill>
                <a:effectLst/>
                <a:latin typeface="Times New Roman" panose="02020603050405020304" pitchFamily="18" charset="0"/>
                <a:cs typeface="Times New Roman" panose="02020603050405020304" pitchFamily="18" charset="0"/>
              </a:rPr>
              <a:t>score</a:t>
            </a:r>
            <a:r>
              <a:rPr lang="en-IN" sz="1200" b="0" i="0" dirty="0">
                <a:solidFill>
                  <a:srgbClr val="202124"/>
                </a:solidFill>
                <a:effectLst/>
                <a:latin typeface="Times New Roman" panose="02020603050405020304" pitchFamily="18" charset="0"/>
                <a:cs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fld id="{E138A4E2-19CC-AC4A-BA3E-E5FA293F4C09}" type="slidenum">
              <a:rPr lang="en-US" smtClean="0"/>
              <a:t>21</a:t>
            </a:fld>
            <a:endParaRPr lang="en-US"/>
          </a:p>
        </p:txBody>
      </p:sp>
    </p:spTree>
    <p:extLst>
      <p:ext uri="{BB962C8B-B14F-4D97-AF65-F5344CB8AC3E}">
        <p14:creationId xmlns:p14="http://schemas.microsoft.com/office/powerpoint/2010/main" val="2646516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36750-218E-C3C9-BC6A-05CC6BAD2D2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77D92B6-8232-28E1-97D0-6253A8EC08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C3A53BF-CC77-BD80-F657-393E009C126A}"/>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5" name="Footer Placeholder 4">
            <a:extLst>
              <a:ext uri="{FF2B5EF4-FFF2-40B4-BE49-F238E27FC236}">
                <a16:creationId xmlns:a16="http://schemas.microsoft.com/office/drawing/2014/main" id="{98C54A18-820B-F158-1CCC-385B31A61B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9A928F-7975-CD54-2313-3DA45CC2AEBB}"/>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3612594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B21D-03B6-3F06-2C2C-5EDCA2ABF11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99CFABB-11E6-7F83-7086-D3DD9ACB3C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CD9CAC-29AB-8534-1B5B-E5F40759C02F}"/>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5" name="Footer Placeholder 4">
            <a:extLst>
              <a:ext uri="{FF2B5EF4-FFF2-40B4-BE49-F238E27FC236}">
                <a16:creationId xmlns:a16="http://schemas.microsoft.com/office/drawing/2014/main" id="{0591453E-0F85-FB31-9936-0855876015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2F96C-6CF9-7D7B-0DBA-AECA71DED288}"/>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937316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FC5F-767D-D5CF-D2F1-9975B7FB859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051512C-28E3-E6B2-1D49-18A439F5CA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FF360FF-354A-796E-4E14-52FCD1ACF462}"/>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5" name="Footer Placeholder 4">
            <a:extLst>
              <a:ext uri="{FF2B5EF4-FFF2-40B4-BE49-F238E27FC236}">
                <a16:creationId xmlns:a16="http://schemas.microsoft.com/office/drawing/2014/main" id="{62123C7A-4B84-BEEE-C979-E2DB54EFB0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774C1-4846-EB1A-D068-7878BF22064F}"/>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414956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88628-52BC-4AA3-0DC0-3CFD775363D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9C90D70-CB52-CFEC-91D1-B9AE552A1E5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BA33C83-A9B5-20F5-DEBB-CB927C03C71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A5FF833-BCB5-457D-A008-EB3817EE30C2}"/>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6" name="Footer Placeholder 5">
            <a:extLst>
              <a:ext uri="{FF2B5EF4-FFF2-40B4-BE49-F238E27FC236}">
                <a16:creationId xmlns:a16="http://schemas.microsoft.com/office/drawing/2014/main" id="{278BDA28-356E-4195-F9A2-A64FF1A119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066D0F-CA27-B145-7D73-47C3ED0069EF}"/>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3969982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1B4EA-718B-BF84-7350-561B3EEE1A3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2CDB25E-468B-933A-E0E1-EF9F846A6A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4ECD1CF-C458-2EB2-2DF3-86B96203A1C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DCDAB2D-FDAC-D394-59EF-A9138E8698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DE19B48-5FDF-2BBC-F790-07BCC6465FD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9A17F51-3075-AC66-7000-23354CD2AE01}"/>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8" name="Footer Placeholder 7">
            <a:extLst>
              <a:ext uri="{FF2B5EF4-FFF2-40B4-BE49-F238E27FC236}">
                <a16:creationId xmlns:a16="http://schemas.microsoft.com/office/drawing/2014/main" id="{243213BF-F812-E601-0399-6355377A56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D97F69-9377-C1B6-F143-DBAF14A45189}"/>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1556732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60C3-97E0-D8AD-8B48-BE7C0FCA54F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22BE273-F6D4-2B35-6C55-19D07BBD431A}"/>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4" name="Footer Placeholder 3">
            <a:extLst>
              <a:ext uri="{FF2B5EF4-FFF2-40B4-BE49-F238E27FC236}">
                <a16:creationId xmlns:a16="http://schemas.microsoft.com/office/drawing/2014/main" id="{BA6B3DF7-DD2E-6418-0C80-6B8F3A1991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A62CAA-3C59-93DA-D2B2-FFD7003561CD}"/>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1126901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0539BD-E019-22B2-622D-48D018A0B807}"/>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3" name="Footer Placeholder 2">
            <a:extLst>
              <a:ext uri="{FF2B5EF4-FFF2-40B4-BE49-F238E27FC236}">
                <a16:creationId xmlns:a16="http://schemas.microsoft.com/office/drawing/2014/main" id="{C126684A-F333-BDC6-02B3-81C0B2FD85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8B2B82-D87C-79CE-CAD9-25A8A2A25C06}"/>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2369020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B91A-E4AA-1D08-DBD4-0D56F7FB0A9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09A9D0-875E-0EF1-4967-4FD45E375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A8F8F31-1774-0864-D8CF-BCC8F0794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2EAFCEB-AF90-AB2B-7BF8-B54AB37E79AA}"/>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6" name="Footer Placeholder 5">
            <a:extLst>
              <a:ext uri="{FF2B5EF4-FFF2-40B4-BE49-F238E27FC236}">
                <a16:creationId xmlns:a16="http://schemas.microsoft.com/office/drawing/2014/main" id="{8D29A0D1-5A09-78AD-88A6-5B2F72A615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3FE3A7-4D78-9EFA-7E39-396F6EA40641}"/>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3140749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254B8-410D-9F04-BE15-29BDDC3879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90957C1-75A6-AC6F-8B99-0D71724D3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B86DA2-13C2-4B91-15EF-329160EB4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53BCA9F-AE6C-1C6B-E494-F39C5D7D6D2B}"/>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6" name="Footer Placeholder 5">
            <a:extLst>
              <a:ext uri="{FF2B5EF4-FFF2-40B4-BE49-F238E27FC236}">
                <a16:creationId xmlns:a16="http://schemas.microsoft.com/office/drawing/2014/main" id="{5B86E001-0A85-6D7E-2CA2-D11CD8EAB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DC18A9-0334-103C-6611-258F7561EFF4}"/>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2617171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ECF3F-EE46-CFA8-C1EF-99AF43401C9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D6F1056-4C0C-6FBB-8227-154AC67AA09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C6822E6-B068-CEEE-5CC8-ABDB7BF6E0D9}"/>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5" name="Footer Placeholder 4">
            <a:extLst>
              <a:ext uri="{FF2B5EF4-FFF2-40B4-BE49-F238E27FC236}">
                <a16:creationId xmlns:a16="http://schemas.microsoft.com/office/drawing/2014/main" id="{210A0C63-14B6-AC79-EAB0-2E717B6B3B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5CE3A1-936E-75E5-AEBA-9263B5846A2A}"/>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2901902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1C477E-327B-FB89-AF61-764F78E8FBA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BEE3034-D303-C67B-1AD4-27777FB1BF0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1A63DB4-B933-1AB8-E4EF-94F5809ABA3B}"/>
              </a:ext>
            </a:extLst>
          </p:cNvPr>
          <p:cNvSpPr>
            <a:spLocks noGrp="1"/>
          </p:cNvSpPr>
          <p:nvPr>
            <p:ph type="dt" sz="half" idx="10"/>
          </p:nvPr>
        </p:nvSpPr>
        <p:spPr/>
        <p:txBody>
          <a:bodyPr/>
          <a:lstStyle/>
          <a:p>
            <a:fld id="{2756FF5D-C7EE-3341-B132-759DB2245574}" type="datetimeFigureOut">
              <a:rPr lang="en-US" smtClean="0"/>
              <a:t>10/12/22</a:t>
            </a:fld>
            <a:endParaRPr lang="en-US"/>
          </a:p>
        </p:txBody>
      </p:sp>
      <p:sp>
        <p:nvSpPr>
          <p:cNvPr id="5" name="Footer Placeholder 4">
            <a:extLst>
              <a:ext uri="{FF2B5EF4-FFF2-40B4-BE49-F238E27FC236}">
                <a16:creationId xmlns:a16="http://schemas.microsoft.com/office/drawing/2014/main" id="{4A71CE8A-4F5E-6BBC-3135-5D8907C7C6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D11F6C-018D-4CF2-0278-79E3FAF6EBEA}"/>
              </a:ext>
            </a:extLst>
          </p:cNvPr>
          <p:cNvSpPr>
            <a:spLocks noGrp="1"/>
          </p:cNvSpPr>
          <p:nvPr>
            <p:ph type="sldNum" sz="quarter" idx="12"/>
          </p:nvPr>
        </p:nvSpPr>
        <p:spPr/>
        <p:txBody>
          <a:bodyPr/>
          <a:lstStyle/>
          <a:p>
            <a:fld id="{078266A7-5D56-5B48-A5D2-D7B87492CDC1}" type="slidenum">
              <a:rPr lang="en-US" smtClean="0"/>
              <a:t>‹#›</a:t>
            </a:fld>
            <a:endParaRPr lang="en-US"/>
          </a:p>
        </p:txBody>
      </p:sp>
    </p:spTree>
    <p:extLst>
      <p:ext uri="{BB962C8B-B14F-4D97-AF65-F5344CB8AC3E}">
        <p14:creationId xmlns:p14="http://schemas.microsoft.com/office/powerpoint/2010/main" val="2691998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EA07A2-0E4C-7F0E-E93C-CD419DCC29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058969A-3108-3922-5F5A-9B410DBB1B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109810B-0040-FD5D-D8EA-A0F1E95780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56FF5D-C7EE-3341-B132-759DB2245574}" type="datetimeFigureOut">
              <a:rPr lang="en-US" smtClean="0"/>
              <a:t>10/12/22</a:t>
            </a:fld>
            <a:endParaRPr lang="en-US"/>
          </a:p>
        </p:txBody>
      </p:sp>
      <p:sp>
        <p:nvSpPr>
          <p:cNvPr id="5" name="Footer Placeholder 4">
            <a:extLst>
              <a:ext uri="{FF2B5EF4-FFF2-40B4-BE49-F238E27FC236}">
                <a16:creationId xmlns:a16="http://schemas.microsoft.com/office/drawing/2014/main" id="{7AD19DE4-F66A-EBC2-B84D-4C17D1E7B0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675B5C-4162-19A9-9554-27FFA39009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8266A7-5D56-5B48-A5D2-D7B87492CDC1}" type="slidenum">
              <a:rPr lang="en-US" smtClean="0"/>
              <a:t>‹#›</a:t>
            </a:fld>
            <a:endParaRPr lang="en-US"/>
          </a:p>
        </p:txBody>
      </p:sp>
    </p:spTree>
    <p:extLst>
      <p:ext uri="{BB962C8B-B14F-4D97-AF65-F5344CB8AC3E}">
        <p14:creationId xmlns:p14="http://schemas.microsoft.com/office/powerpoint/2010/main" val="179396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2" name="Rectangle 111">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13">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1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196BF8-7DB9-5441-6E22-D8F3485E256A}"/>
              </a:ext>
            </a:extLst>
          </p:cNvPr>
          <p:cNvSpPr>
            <a:spLocks noGrp="1"/>
          </p:cNvSpPr>
          <p:nvPr>
            <p:ph type="ctrTitle"/>
          </p:nvPr>
        </p:nvSpPr>
        <p:spPr>
          <a:xfrm>
            <a:off x="1524000" y="1293338"/>
            <a:ext cx="9144000" cy="3274592"/>
          </a:xfrm>
        </p:spPr>
        <p:txBody>
          <a:bodyPr anchor="ctr">
            <a:normAutofit/>
          </a:bodyPr>
          <a:lstStyle/>
          <a:p>
            <a:r>
              <a:rPr lang="en-US" sz="7200">
                <a:latin typeface="Times New Roman" panose="02020603050405020304" pitchFamily="18" charset="0"/>
                <a:cs typeface="Times New Roman" panose="02020603050405020304" pitchFamily="18" charset="0"/>
              </a:rPr>
              <a:t>Statistics for Machine Learning</a:t>
            </a:r>
          </a:p>
        </p:txBody>
      </p:sp>
      <p:cxnSp>
        <p:nvCxnSpPr>
          <p:cNvPr id="135" name="Straight Connector 117">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595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087" name="Rectangle 3086">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69758C66-6AE2-4C0F-1E6F-68402833AA92}"/>
              </a:ext>
            </a:extLst>
          </p:cNvPr>
          <p:cNvSpPr>
            <a:spLocks noGrp="1"/>
          </p:cNvSpPr>
          <p:nvPr>
            <p:ph type="title"/>
          </p:nvPr>
        </p:nvSpPr>
        <p:spPr>
          <a:xfrm>
            <a:off x="601361" y="343710"/>
            <a:ext cx="6713839" cy="1126744"/>
          </a:xfrm>
        </p:spPr>
        <p:txBody>
          <a:bodyPr>
            <a:normAutofit fontScale="90000"/>
          </a:bodyPr>
          <a:lstStyle/>
          <a:p>
            <a:r>
              <a:rPr lang="en-IN" sz="4100" dirty="0">
                <a:effectLst/>
                <a:latin typeface="Times New Roman" panose="02020603050405020304" pitchFamily="18" charset="0"/>
                <a:ea typeface="Times New Roman" panose="02020603050405020304" pitchFamily="18" charset="0"/>
                <a:cs typeface="Times New Roman" panose="02020603050405020304" pitchFamily="18" charset="0"/>
              </a:rPr>
              <a:t>Basic concepts in statistics for Machine learning</a:t>
            </a:r>
            <a:endParaRPr lang="en-US" sz="4100" dirty="0"/>
          </a:p>
        </p:txBody>
      </p:sp>
      <p:sp>
        <p:nvSpPr>
          <p:cNvPr id="3089" name="Arc 3088">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3075" name="Picture 3" descr="StatisticsUses">
            <a:extLst>
              <a:ext uri="{FF2B5EF4-FFF2-40B4-BE49-F238E27FC236}">
                <a16:creationId xmlns:a16="http://schemas.microsoft.com/office/drawing/2014/main" id="{DD47B57A-ABBC-7890-74E2-D7065ACE436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51675" y="643469"/>
            <a:ext cx="5296043" cy="1310769"/>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4B865ED-8C61-290F-E130-648060AB30E1}"/>
              </a:ext>
            </a:extLst>
          </p:cNvPr>
          <p:cNvSpPr>
            <a:spLocks noGrp="1"/>
          </p:cNvSpPr>
          <p:nvPr>
            <p:ph idx="1"/>
          </p:nvPr>
        </p:nvSpPr>
        <p:spPr>
          <a:xfrm>
            <a:off x="358786" y="2113923"/>
            <a:ext cx="11042942" cy="3844904"/>
          </a:xfrm>
        </p:spPr>
        <p:txBody>
          <a:bodyPr>
            <a:noAutofit/>
          </a:bodyPr>
          <a:lstStyle/>
          <a:p>
            <a:pPr marL="0" indent="0">
              <a:buNone/>
            </a:pPr>
            <a:r>
              <a:rPr lang="en-IN" sz="1600" b="0" i="0" dirty="0">
                <a:effectLst/>
                <a:latin typeface="Times New Roman" panose="02020603050405020304" pitchFamily="18" charset="0"/>
                <a:cs typeface="Times New Roman" panose="02020603050405020304" pitchFamily="18" charset="0"/>
              </a:rPr>
              <a:t>What Is Statistics?</a:t>
            </a:r>
          </a:p>
          <a:p>
            <a:pPr marL="0" indent="0">
              <a:buNone/>
            </a:pPr>
            <a:r>
              <a:rPr lang="en-IN" sz="1600" b="0" i="0" dirty="0">
                <a:effectLst/>
                <a:latin typeface="Times New Roman" panose="02020603050405020304" pitchFamily="18" charset="0"/>
                <a:cs typeface="Times New Roman" panose="02020603050405020304" pitchFamily="18" charset="0"/>
              </a:rPr>
              <a:t>Statistics is a branch of mathematics that deals with collecting, analysing, interpreting, and visualizing data.</a:t>
            </a:r>
          </a:p>
          <a:p>
            <a:pPr marL="0" indent="0">
              <a:buNone/>
            </a:pPr>
            <a:endParaRPr lang="en-IN" sz="1600" b="0" i="0" dirty="0">
              <a:effectLst/>
              <a:latin typeface="Times New Roman" panose="02020603050405020304" pitchFamily="18" charset="0"/>
              <a:cs typeface="Times New Roman" panose="02020603050405020304" pitchFamily="18" charset="0"/>
            </a:endParaRPr>
          </a:p>
          <a:p>
            <a:pPr marL="0" indent="0">
              <a:buNone/>
            </a:pPr>
            <a:endParaRPr lang="en-IN" sz="1600" b="0" i="0" dirty="0">
              <a:effectLst/>
              <a:latin typeface="Times New Roman" panose="02020603050405020304" pitchFamily="18" charset="0"/>
              <a:cs typeface="Times New Roman" panose="02020603050405020304" pitchFamily="18" charset="0"/>
            </a:endParaRPr>
          </a:p>
          <a:p>
            <a:pPr marL="0" marR="0" lvl="0" indent="0" eaLnBrk="1" fontAlgn="base" hangingPunct="1">
              <a:spcBef>
                <a:spcPct val="0"/>
              </a:spcBef>
              <a:spcAft>
                <a:spcPts val="600"/>
              </a:spcAft>
              <a:buClrTx/>
              <a:buSzTx/>
              <a:buNone/>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Use of Statistics in Machine Learning      </a:t>
            </a:r>
          </a:p>
          <a:p>
            <a:pPr marL="0" marR="0" lvl="0" indent="-228600" eaLnBrk="1" fontAlgn="base" hangingPunct="1">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Asking questions about the data</a:t>
            </a:r>
          </a:p>
          <a:p>
            <a:pPr marL="0" marR="0" lvl="0" indent="-228600" eaLnBrk="1" fontAlgn="base" hangingPunct="1">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Cleaning and preprocessing the data</a:t>
            </a:r>
          </a:p>
          <a:p>
            <a:pPr marL="0" marR="0" lvl="0" indent="-228600" eaLnBrk="1" fontAlgn="base" hangingPunct="1">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Model evaluation</a:t>
            </a:r>
          </a:p>
          <a:p>
            <a:pPr marL="0" marR="0" lvl="0" indent="-228600" eaLnBrk="1" fontAlgn="base" hangingPunct="1">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Model prediction</a:t>
            </a:r>
          </a:p>
          <a:p>
            <a:pPr marL="0" marR="0" lvl="0" indent="0" eaLnBrk="1" fontAlgn="base" hangingPunct="1">
              <a:spcBef>
                <a:spcPct val="0"/>
              </a:spcBef>
              <a:spcAft>
                <a:spcPts val="600"/>
              </a:spcAft>
              <a:buClrTx/>
              <a:buSzTx/>
              <a:buNone/>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eaLnBrk="1" fontAlgn="base" hangingPunct="1">
              <a:spcBef>
                <a:spcPct val="0"/>
              </a:spcBef>
              <a:spcAft>
                <a:spcPts val="600"/>
              </a:spcAft>
              <a:buClrTx/>
              <a:buSzTx/>
              <a:buNone/>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With this basic understanding, it’s time to dive deep into learning all the crucial concepts related to statistics for machine learning.</a:t>
            </a:r>
          </a:p>
          <a:p>
            <a:pPr marL="0" indent="0">
              <a:buNone/>
            </a:pPr>
            <a:endParaRPr lang="en-IN" sz="1600" b="0" i="0" dirty="0">
              <a:effectLst/>
              <a:latin typeface="Times New Roman" panose="02020603050405020304" pitchFamily="18" charset="0"/>
              <a:cs typeface="Times New Roman" panose="02020603050405020304" pitchFamily="18" charset="0"/>
            </a:endParaRPr>
          </a:p>
          <a:p>
            <a:pPr marL="0" indent="0">
              <a:buNone/>
            </a:pPr>
            <a:endParaRPr lang="en-IN" sz="1600" b="0" i="0" dirty="0">
              <a:effectLst/>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1972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4B865ED-8C61-290F-E130-648060AB30E1}"/>
              </a:ext>
            </a:extLst>
          </p:cNvPr>
          <p:cNvSpPr>
            <a:spLocks noGrp="1"/>
          </p:cNvSpPr>
          <p:nvPr>
            <p:ph idx="1"/>
          </p:nvPr>
        </p:nvSpPr>
        <p:spPr>
          <a:xfrm>
            <a:off x="1635034" y="358499"/>
            <a:ext cx="10851255" cy="6619001"/>
          </a:xfrm>
        </p:spPr>
        <p:txBody>
          <a:bodyPr>
            <a:noAutofit/>
          </a:bodyPr>
          <a:lstStyle/>
          <a:p>
            <a:pPr marL="0" indent="0">
              <a:lnSpc>
                <a:spcPct val="100000"/>
              </a:lnSpc>
              <a:buNone/>
            </a:pPr>
            <a:r>
              <a:rPr lang="en-IN" sz="1600" b="1" dirty="0">
                <a:latin typeface="Times New Roman" panose="02020603050405020304" pitchFamily="18" charset="0"/>
                <a:cs typeface="Times New Roman" panose="02020603050405020304" pitchFamily="18" charset="0"/>
              </a:rPr>
              <a:t>Random Variable</a:t>
            </a:r>
          </a:p>
          <a:p>
            <a:pPr marL="0" indent="0">
              <a:lnSpc>
                <a:spcPct val="100000"/>
              </a:lnSpc>
              <a:buNone/>
            </a:pPr>
            <a:r>
              <a:rPr lang="en-IN" sz="1600" dirty="0">
                <a:latin typeface="Times New Roman" panose="02020603050405020304" pitchFamily="18" charset="0"/>
                <a:cs typeface="Times New Roman" panose="02020603050405020304" pitchFamily="18" charset="0"/>
              </a:rPr>
              <a:t>A random variable is a set of all the possible values from a random experiment</a:t>
            </a:r>
          </a:p>
          <a:p>
            <a:pPr marL="0" indent="0" algn="l">
              <a:lnSpc>
                <a:spcPct val="100000"/>
              </a:lnSpc>
              <a:buNone/>
            </a:pPr>
            <a:r>
              <a:rPr lang="en-IN" sz="1600" b="1" i="0" dirty="0">
                <a:effectLst/>
                <a:latin typeface="Times New Roman" panose="02020603050405020304" pitchFamily="18" charset="0"/>
                <a:cs typeface="Times New Roman" panose="02020603050405020304" pitchFamily="18" charset="0"/>
              </a:rPr>
              <a:t>Population:</a:t>
            </a:r>
          </a:p>
          <a:p>
            <a:pPr marL="0" indent="0" algn="l">
              <a:lnSpc>
                <a:spcPct val="100000"/>
              </a:lnSpc>
              <a:buNone/>
            </a:pPr>
            <a:r>
              <a:rPr lang="en-IN" sz="1600" b="0" i="0" dirty="0">
                <a:effectLst/>
                <a:latin typeface="Times New Roman" panose="02020603050405020304" pitchFamily="18" charset="0"/>
                <a:cs typeface="Times New Roman" panose="02020603050405020304" pitchFamily="18" charset="0"/>
              </a:rPr>
              <a:t>In statistics, the population comprises all observations (data points) about the subject under study.</a:t>
            </a:r>
          </a:p>
          <a:p>
            <a:pPr marL="0" indent="0" algn="l">
              <a:lnSpc>
                <a:spcPct val="100000"/>
              </a:lnSpc>
              <a:buNone/>
            </a:pPr>
            <a:r>
              <a:rPr lang="en-IN" sz="1600" b="0" i="0" dirty="0">
                <a:effectLst/>
                <a:latin typeface="Times New Roman" panose="02020603050405020304" pitchFamily="18" charset="0"/>
                <a:cs typeface="Times New Roman" panose="02020603050405020304" pitchFamily="18" charset="0"/>
              </a:rPr>
              <a:t>An example of a population is studying the voters in an election. </a:t>
            </a:r>
          </a:p>
          <a:p>
            <a:pPr marL="0" indent="0" algn="l">
              <a:lnSpc>
                <a:spcPct val="100000"/>
              </a:lnSpc>
              <a:buNone/>
            </a:pPr>
            <a:r>
              <a:rPr lang="en-IN" sz="1600" b="0" i="0" dirty="0">
                <a:effectLst/>
                <a:latin typeface="Times New Roman" panose="02020603050405020304" pitchFamily="18" charset="0"/>
                <a:cs typeface="Times New Roman" panose="02020603050405020304" pitchFamily="18" charset="0"/>
              </a:rPr>
              <a:t>In the 2019 Lok Sabha elections, nearly 900 million voters were eligible to vote in 543 constituencies.</a:t>
            </a:r>
          </a:p>
          <a:p>
            <a:pPr marL="0" indent="0" algn="l">
              <a:lnSpc>
                <a:spcPct val="100000"/>
              </a:lnSpc>
              <a:buNone/>
            </a:pPr>
            <a:r>
              <a:rPr lang="en-IN" sz="1600" b="1" i="0" dirty="0">
                <a:effectLst/>
                <a:latin typeface="Times New Roman" panose="02020603050405020304" pitchFamily="18" charset="0"/>
                <a:cs typeface="Times New Roman" panose="02020603050405020304" pitchFamily="18" charset="0"/>
              </a:rPr>
              <a:t>Sample:</a:t>
            </a:r>
          </a:p>
          <a:p>
            <a:pPr marL="0" indent="0" algn="l">
              <a:lnSpc>
                <a:spcPct val="100000"/>
              </a:lnSpc>
              <a:buNone/>
            </a:pPr>
            <a:r>
              <a:rPr lang="en-IN" sz="1600" b="0" i="0" dirty="0">
                <a:effectLst/>
                <a:latin typeface="Times New Roman" panose="02020603050405020304" pitchFamily="18" charset="0"/>
                <a:cs typeface="Times New Roman" panose="02020603050405020304" pitchFamily="18" charset="0"/>
              </a:rPr>
              <a:t>In statistics, a sample is a subset of the population. It is a small portion of the total observed population.</a:t>
            </a:r>
          </a:p>
          <a:p>
            <a:pPr marL="0" indent="0" algn="l">
              <a:lnSpc>
                <a:spcPct val="100000"/>
              </a:lnSpc>
              <a:buNone/>
            </a:pPr>
            <a:r>
              <a:rPr lang="en-IN" sz="1600" b="0" i="0" dirty="0">
                <a:effectLst/>
                <a:latin typeface="Times New Roman" panose="02020603050405020304" pitchFamily="18" charset="0"/>
                <a:cs typeface="Times New Roman" panose="02020603050405020304" pitchFamily="18" charset="0"/>
              </a:rPr>
              <a:t>An example of a sample is analysing the first-time voters for an opinion poll.</a:t>
            </a:r>
          </a:p>
          <a:p>
            <a:pPr marL="0" indent="0" algn="l">
              <a:lnSpc>
                <a:spcPct val="100000"/>
              </a:lnSpc>
              <a:buNone/>
            </a:pPr>
            <a:r>
              <a:rPr lang="en-IN" sz="1600" b="1" i="0" dirty="0">
                <a:effectLst/>
                <a:latin typeface="Times New Roman" panose="02020603050405020304" pitchFamily="18" charset="0"/>
                <a:cs typeface="Times New Roman" panose="02020603050405020304" pitchFamily="18" charset="0"/>
              </a:rPr>
              <a:t>Parameter:</a:t>
            </a:r>
          </a:p>
          <a:p>
            <a:pPr marL="0" indent="0" algn="l">
              <a:lnSpc>
                <a:spcPct val="100000"/>
              </a:lnSpc>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When we perform some arithmetic operation (statistical calculation) on the population then this value is known as the parameter</a:t>
            </a:r>
          </a:p>
          <a:p>
            <a:pPr marL="0" indent="0" algn="l">
              <a:lnSpc>
                <a:spcPct val="100000"/>
              </a:lnSpc>
              <a:buNone/>
            </a:pPr>
            <a:r>
              <a:rPr lang="en-US" sz="1600" b="1" dirty="0">
                <a:latin typeface="Times New Roman" panose="02020603050405020304" pitchFamily="18" charset="0"/>
                <a:ea typeface="Calibri" panose="020F0502020204030204" pitchFamily="34" charset="0"/>
                <a:cs typeface="Times New Roman" panose="02020603050405020304" pitchFamily="18" charset="0"/>
              </a:rPr>
              <a:t>Statistic:</a:t>
            </a:r>
          </a:p>
          <a:p>
            <a:pPr marL="0" indent="0">
              <a:lnSpc>
                <a:spcPct val="100000"/>
              </a:lnSpc>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When we perform some arithmetic operation (statistical calculation) on the sample then this value is known as the statistic.</a:t>
            </a:r>
          </a:p>
          <a:p>
            <a:pPr marL="0" indent="0">
              <a:lnSpc>
                <a:spcPct val="100000"/>
              </a:lnSpc>
              <a:buNone/>
            </a:pPr>
            <a:r>
              <a:rPr lang="en-US" sz="1600" b="1" dirty="0">
                <a:latin typeface="Times New Roman" panose="02020603050405020304" pitchFamily="18" charset="0"/>
                <a:ea typeface="Calibri" panose="020F0502020204030204" pitchFamily="34" charset="0"/>
                <a:cs typeface="Times New Roman" panose="02020603050405020304" pitchFamily="18" charset="0"/>
              </a:rPr>
              <a:t>S</a:t>
            </a:r>
            <a:r>
              <a:rPr lang="en-IN" sz="1600" b="1" dirty="0">
                <a:latin typeface="Times New Roman" panose="02020603050405020304" pitchFamily="18" charset="0"/>
                <a:ea typeface="Calibri" panose="020F0502020204030204" pitchFamily="34" charset="0"/>
                <a:cs typeface="Times New Roman" panose="02020603050405020304" pitchFamily="18" charset="0"/>
              </a:rPr>
              <a:t>ampling Error:</a:t>
            </a:r>
          </a:p>
          <a:p>
            <a:pPr marL="0" indent="0">
              <a:lnSpc>
                <a:spcPct val="100000"/>
              </a:lnSpc>
              <a:buNone/>
            </a:pPr>
            <a:r>
              <a:rPr lang="en-IN" sz="1600" dirty="0">
                <a:latin typeface="Times New Roman" panose="02020603050405020304" pitchFamily="18" charset="0"/>
                <a:ea typeface="Calibri" panose="020F0502020204030204" pitchFamily="34" charset="0"/>
                <a:cs typeface="Times New Roman" panose="02020603050405020304" pitchFamily="18" charset="0"/>
              </a:rPr>
              <a:t>sampling error is the difference between a population parameter and a sample statistic.</a:t>
            </a:r>
          </a:p>
          <a:p>
            <a:pPr marL="0" indent="0">
              <a:lnSpc>
                <a:spcPct val="100000"/>
              </a:lnSpc>
              <a:buNone/>
            </a:pP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l">
              <a:lnSpc>
                <a:spcPct val="100000"/>
              </a:lnSpc>
              <a:buNone/>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l">
              <a:lnSpc>
                <a:spcPct val="100000"/>
              </a:lnSpc>
              <a:buNone/>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l">
              <a:lnSpc>
                <a:spcPct val="100000"/>
              </a:lnSpc>
              <a:buNone/>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l">
              <a:lnSpc>
                <a:spcPct val="100000"/>
              </a:lnSpc>
              <a:buNone/>
            </a:pPr>
            <a:endParaRPr lang="en-IN" sz="1600" b="0" i="0" dirty="0">
              <a:effectLst/>
              <a:latin typeface="Times New Roman" panose="02020603050405020304" pitchFamily="18" charset="0"/>
              <a:cs typeface="Times New Roman" panose="02020603050405020304" pitchFamily="18" charset="0"/>
            </a:endParaRPr>
          </a:p>
          <a:p>
            <a:pPr marL="0" indent="0" algn="l">
              <a:lnSpc>
                <a:spcPct val="100000"/>
              </a:lnSpc>
              <a:buNone/>
            </a:pPr>
            <a:endParaRPr lang="en-IN" sz="1600" dirty="0">
              <a:latin typeface="Times New Roman" panose="02020603050405020304" pitchFamily="18" charset="0"/>
              <a:cs typeface="Times New Roman" panose="02020603050405020304" pitchFamily="18" charset="0"/>
            </a:endParaRPr>
          </a:p>
          <a:p>
            <a:pPr marL="0" indent="0" algn="l">
              <a:lnSpc>
                <a:spcPct val="100000"/>
              </a:lnSpc>
              <a:buNone/>
            </a:pPr>
            <a:endParaRPr lang="en-IN" sz="1600" b="0" i="0" dirty="0">
              <a:effectLst/>
              <a:latin typeface="Times New Roman" panose="02020603050405020304" pitchFamily="18" charset="0"/>
              <a:cs typeface="Times New Roman" panose="02020603050405020304" pitchFamily="18" charset="0"/>
            </a:endParaRPr>
          </a:p>
          <a:p>
            <a:pPr marL="0" indent="0">
              <a:buNone/>
            </a:pPr>
            <a:endParaRPr lang="en-IN" sz="16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105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2" end="12"/>
                                            </p:txEl>
                                          </p:spTgt>
                                        </p:tgtEl>
                                        <p:attrNameLst>
                                          <p:attrName>style.visibility</p:attrName>
                                        </p:attrNameLst>
                                      </p:cBhvr>
                                      <p:to>
                                        <p:strVal val="visible"/>
                                      </p:to>
                                    </p:set>
                                    <p:anim calcmode="lin" valueType="num">
                                      <p:cBhvr additive="base">
                                        <p:cTn id="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3" end="13"/>
                                            </p:txEl>
                                          </p:spTgt>
                                        </p:tgtEl>
                                        <p:attrNameLst>
                                          <p:attrName>style.visibility</p:attrName>
                                        </p:attrNameLst>
                                      </p:cBhvr>
                                      <p:to>
                                        <p:strVal val="visible"/>
                                      </p:to>
                                    </p:set>
                                    <p:anim calcmode="lin" valueType="num">
                                      <p:cBhvr additive="base">
                                        <p:cTn id="1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4B865ED-8C61-290F-E130-648060AB30E1}"/>
              </a:ext>
            </a:extLst>
          </p:cNvPr>
          <p:cNvSpPr>
            <a:spLocks noGrp="1"/>
          </p:cNvSpPr>
          <p:nvPr>
            <p:ph idx="1"/>
          </p:nvPr>
        </p:nvSpPr>
        <p:spPr>
          <a:xfrm>
            <a:off x="1034193" y="477998"/>
            <a:ext cx="10515600" cy="5155943"/>
          </a:xfrm>
        </p:spPr>
        <p:txBody>
          <a:bodyPr>
            <a:noAutofit/>
          </a:bodyPr>
          <a:lstStyle/>
          <a:p>
            <a:pPr marL="0" indent="0">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Wingdings"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Why do I need a sample?</a:t>
            </a:r>
          </a:p>
          <a:p>
            <a:pPr marL="0" lvl="0" indent="0">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Inaccessibility:  The data is not easily accessible (the data cannot be collected easily).</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Computational Limitation: The data is in very large quantity, and it is not efficient for us to work directly on it.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685800" indent="0">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Wingdings"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How are samples created / Ways of creating a sample?</a:t>
            </a:r>
          </a:p>
          <a:p>
            <a:pPr marL="0" lvl="0" indent="0">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Random Sampling: collecting the values from the population without any further condition or bias.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Stratified Sampling: 100 randomly: Collecting the values from the population while considering underlying conditions that are present in the population.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Cluster Sampling: Collecting the values from the population by grouping the geographical area and then from each of this divided area we are collecting random/stratified samples. (Exit Polls, TRP Evaluation)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Convenience Sampling: We don’t go after the subject and simply provide them with a platform where to provide their response(data).</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8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842791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 calcmode="lin" valueType="num">
                                      <p:cBhvr additive="base">
                                        <p:cTn id="1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 calcmode="lin" valueType="num">
                                      <p:cBhvr additive="base">
                                        <p:cTn id="2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62" name="Rectangle 1061">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64"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66"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 name="Content Placeholder 1">
            <a:extLst>
              <a:ext uri="{FF2B5EF4-FFF2-40B4-BE49-F238E27FC236}">
                <a16:creationId xmlns:a16="http://schemas.microsoft.com/office/drawing/2014/main" id="{129B382C-DFB9-06CB-8574-D115E2A86E9F}"/>
              </a:ext>
            </a:extLst>
          </p:cNvPr>
          <p:cNvGraphicFramePr>
            <a:graphicFrameLocks noGrp="1"/>
          </p:cNvGraphicFramePr>
          <p:nvPr>
            <p:ph idx="1"/>
            <p:extLst>
              <p:ext uri="{D42A27DB-BD31-4B8C-83A1-F6EECF244321}">
                <p14:modId xmlns:p14="http://schemas.microsoft.com/office/powerpoint/2010/main" val="3778399638"/>
              </p:ext>
            </p:extLst>
          </p:nvPr>
        </p:nvGraphicFramePr>
        <p:xfrm>
          <a:off x="838200" y="1825626"/>
          <a:ext cx="9665043" cy="3055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1403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4B865ED-8C61-290F-E130-648060AB30E1}"/>
              </a:ext>
            </a:extLst>
          </p:cNvPr>
          <p:cNvSpPr>
            <a:spLocks noGrp="1"/>
          </p:cNvSpPr>
          <p:nvPr>
            <p:ph idx="1"/>
          </p:nvPr>
        </p:nvSpPr>
        <p:spPr>
          <a:xfrm>
            <a:off x="1355467" y="935584"/>
            <a:ext cx="10515600" cy="5331072"/>
          </a:xfrm>
        </p:spPr>
        <p:txBody>
          <a:bodyPr>
            <a:noAutofit/>
          </a:bodyPr>
          <a:lstStyle/>
          <a:p>
            <a:pPr marL="0" marR="0" lvl="0" indent="0" defTabSz="914400" rtl="0" eaLnBrk="0" fontAlgn="base" latinLnBrk="0" hangingPunct="0">
              <a:spcBef>
                <a:spcPct val="0"/>
              </a:spcBef>
              <a:spcAft>
                <a:spcPts val="600"/>
              </a:spcAft>
              <a:buClrTx/>
              <a:buSzTx/>
              <a:buFontTx/>
              <a:buNone/>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TYPES OF STATISTICS</a:t>
            </a:r>
          </a:p>
          <a:p>
            <a:pPr marL="0" marR="0" lvl="0" indent="0" defTabSz="914400" rtl="0" eaLnBrk="0" fontAlgn="base" latinLnBrk="0" hangingPunct="0">
              <a:spcBef>
                <a:spcPct val="0"/>
              </a:spcBef>
              <a:spcAft>
                <a:spcPts val="600"/>
              </a:spcAft>
              <a:buClrTx/>
              <a:buSzTx/>
              <a:buFontTx/>
              <a:buNone/>
              <a:tabLst/>
            </a:pPr>
            <a:endPar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spcBef>
                <a:spcPct val="0"/>
              </a:spcBef>
              <a:spcAft>
                <a:spcPts val="600"/>
              </a:spcAft>
              <a:buClrTx/>
              <a:buSzTx/>
              <a:buFontTx/>
              <a:buNone/>
              <a:tabLst/>
            </a:pPr>
            <a:r>
              <a:rPr lang="en-IN" sz="1800" b="0" i="0" dirty="0">
                <a:effectLst/>
                <a:latin typeface="Times New Roman" panose="02020603050405020304" pitchFamily="18" charset="0"/>
                <a:cs typeface="Times New Roman" panose="02020603050405020304" pitchFamily="18" charset="0"/>
              </a:rPr>
              <a:t>Descriptive statistics and inferential statistics are the two major areas of statistics. </a:t>
            </a:r>
          </a:p>
          <a:p>
            <a:pPr marL="0" marR="0" lvl="0" indent="0" defTabSz="914400" rtl="0" eaLnBrk="0" fontAlgn="base" latinLnBrk="0" hangingPunct="0">
              <a:spcBef>
                <a:spcPct val="0"/>
              </a:spcBef>
              <a:spcAft>
                <a:spcPts val="600"/>
              </a:spcAft>
              <a:buClrTx/>
              <a:buSzTx/>
              <a:buFontTx/>
              <a:buNone/>
              <a:tabLst/>
            </a:pPr>
            <a: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spcBef>
                <a:spcPct val="0"/>
              </a:spcBef>
              <a:spcAft>
                <a:spcPts val="600"/>
              </a:spcAft>
              <a:buClrTx/>
              <a:buSzTx/>
              <a:buFontTx/>
              <a:buNone/>
              <a:tabLst/>
            </a:pPr>
            <a:r>
              <a:rPr lang="en-US" altLang="en-US" sz="1800" b="1" dirty="0">
                <a:latin typeface="Times New Roman" panose="02020603050405020304" pitchFamily="18" charset="0"/>
                <a:cs typeface="Times New Roman" panose="02020603050405020304" pitchFamily="18" charset="0"/>
              </a:rPr>
              <a:t>I</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 Descriptive statistics</a:t>
            </a:r>
          </a:p>
          <a:p>
            <a:pPr marL="0" marR="0" lvl="0" indent="0" defTabSz="914400" rtl="0" eaLnBrk="0" fontAlgn="base" latinLnBrk="0" hangingPunct="0">
              <a:spcBef>
                <a:spcPct val="0"/>
              </a:spcBef>
              <a:spcAft>
                <a:spcPts val="600"/>
              </a:spcAft>
              <a:buClrTx/>
              <a:buSzTx/>
              <a:buFontTx/>
              <a:buNone/>
              <a:tabLst/>
            </a:pPr>
            <a: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t>Descriptive statistics is understanding, analyzing, summarizing the data in form of numbers and graphs. We analyze the data using different plots and charts on different kinds of data(numerical and categorical) like bar plot, pie chart, scatter plot, Histogram, etc. All the kind of interpretation, visualizing is part of descriptive statistics. </a:t>
            </a:r>
          </a:p>
          <a:p>
            <a:pPr marL="0" marR="0" lvl="0" indent="0" defTabSz="914400" rtl="0" eaLnBrk="0" fontAlgn="base" latinLnBrk="0" hangingPunct="0">
              <a:spcBef>
                <a:spcPct val="0"/>
              </a:spcBef>
              <a:spcAft>
                <a:spcPts val="600"/>
              </a:spcAft>
              <a:buClrTx/>
              <a:buSzTx/>
              <a:buFontTx/>
              <a:buNone/>
              <a:tabLst/>
            </a:pPr>
            <a:endPar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spcBef>
                <a:spcPct val="0"/>
              </a:spcBef>
              <a:spcAft>
                <a:spcPts val="600"/>
              </a:spcAft>
              <a:buClrTx/>
              <a:buSzTx/>
              <a:buFontTx/>
              <a:buNone/>
              <a:tabLst/>
            </a:pPr>
            <a:r>
              <a:rPr lang="en-US" altLang="en-US" sz="1800" b="1" dirty="0">
                <a:latin typeface="Times New Roman" panose="02020603050405020304" pitchFamily="18" charset="0"/>
                <a:cs typeface="Times New Roman" panose="02020603050405020304" pitchFamily="18" charset="0"/>
              </a:rPr>
              <a:t>II</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 Inferential statistics</a:t>
            </a:r>
          </a:p>
          <a:p>
            <a:pPr marL="0" marR="0" lvl="0" indent="0" defTabSz="914400" rtl="0" eaLnBrk="0" fontAlgn="base" latinLnBrk="0" hangingPunct="0">
              <a:spcBef>
                <a:spcPct val="0"/>
              </a:spcBef>
              <a:spcAft>
                <a:spcPts val="600"/>
              </a:spcAft>
              <a:buClrTx/>
              <a:buSzTx/>
              <a:buFontTx/>
              <a:buNone/>
              <a:tabLst/>
            </a:pPr>
            <a: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t>We are extracting some sample of data from population data, and from that sample of data, we are inferencing something(driving conclusion) for population data. It means we perform some tests on sample data and make a conclusion specific to that population. </a:t>
            </a:r>
          </a:p>
        </p:txBody>
      </p:sp>
    </p:spTree>
    <p:extLst>
      <p:ext uri="{BB962C8B-B14F-4D97-AF65-F5344CB8AC3E}">
        <p14:creationId xmlns:p14="http://schemas.microsoft.com/office/powerpoint/2010/main" val="1219909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4B865ED-8C61-290F-E130-648060AB30E1}"/>
              </a:ext>
            </a:extLst>
          </p:cNvPr>
          <p:cNvSpPr>
            <a:spLocks noGrp="1"/>
          </p:cNvSpPr>
          <p:nvPr>
            <p:ph idx="1"/>
          </p:nvPr>
        </p:nvSpPr>
        <p:spPr>
          <a:xfrm>
            <a:off x="428368" y="238999"/>
            <a:ext cx="10915393" cy="6141308"/>
          </a:xfrm>
        </p:spPr>
        <p:txBody>
          <a:bodyPr>
            <a:noAutofit/>
          </a:bodyPr>
          <a:lstStyle/>
          <a:p>
            <a:pPr marL="0" indent="0">
              <a:buNone/>
            </a:pPr>
            <a:r>
              <a:rPr lang="en-IN" sz="1800" i="0" dirty="0">
                <a:effectLst/>
                <a:latin typeface="Times New Roman" panose="02020603050405020304" pitchFamily="18" charset="0"/>
                <a:cs typeface="Times New Roman" panose="02020603050405020304" pitchFamily="18" charset="0"/>
              </a:rPr>
              <a:t>        </a:t>
            </a:r>
            <a:r>
              <a:rPr lang="en-IN" sz="1800" b="1" i="0" dirty="0">
                <a:effectLst/>
                <a:latin typeface="Times New Roman" panose="02020603050405020304" pitchFamily="18" charset="0"/>
                <a:cs typeface="Times New Roman" panose="02020603050405020304" pitchFamily="18" charset="0"/>
              </a:rPr>
              <a:t>Descriptive statistics </a:t>
            </a:r>
          </a:p>
          <a:p>
            <a:pPr marL="457200" lvl="1" indent="0">
              <a:buNone/>
            </a:pPr>
            <a:r>
              <a:rPr lang="en-IN" sz="1600" i="0" dirty="0">
                <a:effectLst/>
                <a:latin typeface="Times New Roman" panose="02020603050405020304" pitchFamily="18" charset="0"/>
                <a:cs typeface="Times New Roman" panose="02020603050405020304" pitchFamily="18" charset="0"/>
              </a:rPr>
              <a:t>Descriptive statistics </a:t>
            </a:r>
            <a:r>
              <a:rPr lang="en-IN" sz="1600" b="0" i="0" dirty="0">
                <a:effectLst/>
                <a:latin typeface="Times New Roman" panose="02020603050405020304" pitchFamily="18" charset="0"/>
                <a:cs typeface="Times New Roman" panose="02020603050405020304" pitchFamily="18" charset="0"/>
              </a:rPr>
              <a:t>summarize and organize characteristics of a data set. It is a way of measuring your data so that it can be easily described.</a:t>
            </a:r>
          </a:p>
          <a:p>
            <a:pPr marL="0" indent="0">
              <a:buNone/>
            </a:pPr>
            <a:r>
              <a:rPr lang="en-IN" sz="1600" b="0" i="0" dirty="0">
                <a:effectLst/>
                <a:latin typeface="Times New Roman" panose="02020603050405020304" pitchFamily="18" charset="0"/>
                <a:cs typeface="Times New Roman" panose="02020603050405020304" pitchFamily="18" charset="0"/>
              </a:rPr>
              <a:t> </a:t>
            </a:r>
          </a:p>
          <a:p>
            <a:pPr marL="0" indent="0">
              <a:buNone/>
            </a:pPr>
            <a:r>
              <a:rPr lang="en-IN" sz="1800" i="0" dirty="0">
                <a:effectLst/>
                <a:latin typeface="Times New Roman" panose="02020603050405020304" pitchFamily="18" charset="0"/>
                <a:cs typeface="Times New Roman" panose="02020603050405020304" pitchFamily="18" charset="0"/>
              </a:rPr>
              <a:t>          </a:t>
            </a:r>
            <a:r>
              <a:rPr lang="en-IN" sz="1800" b="1" i="0" dirty="0">
                <a:effectLst/>
                <a:latin typeface="Times New Roman" panose="02020603050405020304" pitchFamily="18" charset="0"/>
                <a:cs typeface="Times New Roman" panose="02020603050405020304" pitchFamily="18" charset="0"/>
              </a:rPr>
              <a:t>Measures of descriptive statistics</a:t>
            </a:r>
          </a:p>
          <a:p>
            <a:pPr marL="1143000" lvl="2" indent="-228600">
              <a:buFont typeface="Wingdings" pitchFamily="2" charset="2"/>
              <a:buChar char=""/>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Measure of FREQUENCY</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itchFamily="2" charset="2"/>
              <a:buChar char=""/>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Measure of CENTRAL TENDENCY</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itchFamily="2" charset="2"/>
              <a:buChar char=""/>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Measure of DISPERSION / VARIABILITY</a:t>
            </a:r>
          </a:p>
          <a:p>
            <a:pPr marL="1143000" lvl="2" indent="-228600">
              <a:buFont typeface="Wingdings" pitchFamily="2"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Measure of SHAPE</a:t>
            </a:r>
          </a:p>
          <a:p>
            <a:pPr marL="1143000" lvl="2" indent="-228600">
              <a:buFont typeface="Wingdings" pitchFamily="2" charset="2"/>
              <a:buChar char=""/>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914400" lvl="2" indent="0">
              <a:buNone/>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914400" lvl="2" indent="0">
              <a:buNone/>
            </a:pP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itchFamily="2" charset="2"/>
              <a:buChar char=""/>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600" b="0" i="0" dirty="0">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2494494-84B7-78A0-1337-08E1D954E9C2}"/>
              </a:ext>
            </a:extLst>
          </p:cNvPr>
          <p:cNvSpPr/>
          <p:nvPr/>
        </p:nvSpPr>
        <p:spPr>
          <a:xfrm>
            <a:off x="1231988" y="3277016"/>
            <a:ext cx="10111773" cy="2317781"/>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indent="0" algn="l">
              <a:buNone/>
            </a:pPr>
            <a:endParaRPr lang="en-IN" sz="1600" dirty="0">
              <a:solidFill>
                <a:schemeClr val="tx1"/>
              </a:solidFill>
              <a:latin typeface="Times New Roman" panose="02020603050405020304" pitchFamily="18" charset="0"/>
              <a:cs typeface="Times New Roman" panose="02020603050405020304" pitchFamily="18" charset="0"/>
            </a:endParaRPr>
          </a:p>
          <a:p>
            <a:pPr marL="0" indent="0" algn="l">
              <a:buNone/>
            </a:pPr>
            <a:r>
              <a:rPr lang="en-IN" sz="1600" dirty="0">
                <a:solidFill>
                  <a:schemeClr val="tx1"/>
                </a:solidFill>
                <a:latin typeface="Times New Roman" panose="02020603050405020304" pitchFamily="18" charset="0"/>
                <a:cs typeface="Times New Roman" panose="02020603050405020304" pitchFamily="18" charset="0"/>
              </a:rPr>
              <a:t>Research example :</a:t>
            </a:r>
          </a:p>
          <a:p>
            <a:pPr marL="0" indent="0" algn="l">
              <a:buNone/>
            </a:pPr>
            <a:r>
              <a:rPr lang="en-IN" sz="1600" dirty="0">
                <a:solidFill>
                  <a:schemeClr val="tx1"/>
                </a:solidFill>
                <a:latin typeface="Times New Roman" panose="02020603050405020304" pitchFamily="18" charset="0"/>
                <a:cs typeface="Times New Roman" panose="02020603050405020304" pitchFamily="18" charset="0"/>
              </a:rPr>
              <a:t>You</a:t>
            </a:r>
            <a:r>
              <a:rPr lang="en-IN" sz="1600" b="0" i="0" dirty="0">
                <a:solidFill>
                  <a:schemeClr val="tx1"/>
                </a:solidFill>
                <a:effectLst/>
                <a:latin typeface="Times New Roman" panose="02020603050405020304" pitchFamily="18" charset="0"/>
                <a:cs typeface="Times New Roman" panose="02020603050405020304" pitchFamily="18" charset="0"/>
              </a:rPr>
              <a:t> want to study the popularity of different leisure activities by gender. You distribute a survey and ask participants how many times they did each of the following in the past year:</a:t>
            </a:r>
          </a:p>
          <a:p>
            <a:pPr marL="285750" indent="-285750">
              <a:buFont typeface="Arial" panose="020B0604020202020204" pitchFamily="34" charset="0"/>
              <a:buChar char="•"/>
            </a:pPr>
            <a:r>
              <a:rPr lang="en-IN" sz="1600" b="0" i="0" dirty="0">
                <a:solidFill>
                  <a:schemeClr val="tx1"/>
                </a:solidFill>
                <a:effectLst/>
                <a:latin typeface="Times New Roman" panose="02020603050405020304" pitchFamily="18" charset="0"/>
                <a:cs typeface="Times New Roman" panose="02020603050405020304" pitchFamily="18" charset="0"/>
              </a:rPr>
              <a:t>Go to a library</a:t>
            </a:r>
          </a:p>
          <a:p>
            <a:pPr marL="285750" indent="-285750">
              <a:buFont typeface="Arial" panose="020B0604020202020204" pitchFamily="34" charset="0"/>
              <a:buChar char="•"/>
            </a:pPr>
            <a:r>
              <a:rPr lang="en-IN" sz="1600" b="0" i="0" dirty="0">
                <a:solidFill>
                  <a:schemeClr val="tx1"/>
                </a:solidFill>
                <a:effectLst/>
                <a:latin typeface="Times New Roman" panose="02020603050405020304" pitchFamily="18" charset="0"/>
                <a:cs typeface="Times New Roman" panose="02020603050405020304" pitchFamily="18" charset="0"/>
              </a:rPr>
              <a:t>Watch a movie at a theatre</a:t>
            </a:r>
          </a:p>
          <a:p>
            <a:pPr marL="285750" indent="-285750">
              <a:buFont typeface="Arial" panose="020B0604020202020204" pitchFamily="34" charset="0"/>
              <a:buChar char="•"/>
            </a:pPr>
            <a:r>
              <a:rPr lang="en-IN" sz="1600" b="0" i="0" dirty="0">
                <a:solidFill>
                  <a:schemeClr val="tx1"/>
                </a:solidFill>
                <a:effectLst/>
                <a:latin typeface="Times New Roman" panose="02020603050405020304" pitchFamily="18" charset="0"/>
                <a:cs typeface="Times New Roman" panose="02020603050405020304" pitchFamily="18" charset="0"/>
              </a:rPr>
              <a:t>Visit a national park</a:t>
            </a:r>
          </a:p>
          <a:p>
            <a:pPr marL="0" indent="0" algn="l">
              <a:buNone/>
            </a:pPr>
            <a:r>
              <a:rPr lang="en-IN" sz="1600" b="0" i="0" dirty="0">
                <a:solidFill>
                  <a:schemeClr val="tx1"/>
                </a:solidFill>
                <a:effectLst/>
                <a:latin typeface="Times New Roman" panose="02020603050405020304" pitchFamily="18" charset="0"/>
                <a:cs typeface="Times New Roman" panose="02020603050405020304" pitchFamily="18" charset="0"/>
              </a:rPr>
              <a:t>Your data set is the collection of responses to the survey. Now you can use descriptive statistics to find out the overall frequency of each activity (distribution), the averages for each activity (central tendency), and the spread of responses for each activity (variability).</a:t>
            </a:r>
          </a:p>
          <a:p>
            <a:pPr algn="ctr"/>
            <a:endParaRPr lang="en-US" sz="1600" dirty="0">
              <a:solidFill>
                <a:schemeClr val="tx1"/>
              </a:solidFill>
            </a:endParaRPr>
          </a:p>
        </p:txBody>
      </p:sp>
    </p:spTree>
    <p:extLst>
      <p:ext uri="{BB962C8B-B14F-4D97-AF65-F5344CB8AC3E}">
        <p14:creationId xmlns:p14="http://schemas.microsoft.com/office/powerpoint/2010/main" val="3618592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2" name="Content Placeholder 1">
            <a:extLst>
              <a:ext uri="{FF2B5EF4-FFF2-40B4-BE49-F238E27FC236}">
                <a16:creationId xmlns:a16="http://schemas.microsoft.com/office/drawing/2014/main" id="{6A458FB3-03D3-EC0C-EFE9-82A840A7CDAA}"/>
              </a:ext>
            </a:extLst>
          </p:cNvPr>
          <p:cNvGraphicFramePr>
            <a:graphicFrameLocks noGrp="1"/>
          </p:cNvGraphicFramePr>
          <p:nvPr>
            <p:ph idx="1"/>
            <p:extLst>
              <p:ext uri="{D42A27DB-BD31-4B8C-83A1-F6EECF244321}">
                <p14:modId xmlns:p14="http://schemas.microsoft.com/office/powerpoint/2010/main" val="3641125200"/>
              </p:ext>
            </p:extLst>
          </p:nvPr>
        </p:nvGraphicFramePr>
        <p:xfrm>
          <a:off x="3249827" y="1914963"/>
          <a:ext cx="7352270" cy="1463040"/>
        </p:xfrm>
        <a:graphic>
          <a:graphicData uri="http://schemas.openxmlformats.org/drawingml/2006/table">
            <a:tbl>
              <a:tblPr/>
              <a:tblGrid>
                <a:gridCol w="3676135">
                  <a:extLst>
                    <a:ext uri="{9D8B030D-6E8A-4147-A177-3AD203B41FA5}">
                      <a16:colId xmlns:a16="http://schemas.microsoft.com/office/drawing/2014/main" val="1376504969"/>
                    </a:ext>
                  </a:extLst>
                </a:gridCol>
                <a:gridCol w="3676135">
                  <a:extLst>
                    <a:ext uri="{9D8B030D-6E8A-4147-A177-3AD203B41FA5}">
                      <a16:colId xmlns:a16="http://schemas.microsoft.com/office/drawing/2014/main" val="1546023070"/>
                    </a:ext>
                  </a:extLst>
                </a:gridCol>
              </a:tblGrid>
              <a:tr h="359251">
                <a:tc>
                  <a:txBody>
                    <a:bodyPr/>
                    <a:lstStyle/>
                    <a:p>
                      <a:pPr algn="l" fontAlgn="t"/>
                      <a:r>
                        <a:rPr lang="en-IN" dirty="0">
                          <a:effectLst/>
                          <a:latin typeface="Times New Roman" panose="02020603050405020304" pitchFamily="18" charset="0"/>
                          <a:cs typeface="Times New Roman" panose="02020603050405020304" pitchFamily="18" charset="0"/>
                        </a:rPr>
                        <a:t>Gender</a:t>
                      </a:r>
                    </a:p>
                  </a:txBody>
                  <a:tcPr>
                    <a:lnL>
                      <a:noFill/>
                    </a:lnL>
                    <a:lnR>
                      <a:noFill/>
                    </a:lnR>
                    <a:lnT>
                      <a:noFill/>
                    </a:lnT>
                    <a:lnB>
                      <a:noFill/>
                    </a:lnB>
                  </a:tcPr>
                </a:tc>
                <a:tc>
                  <a:txBody>
                    <a:bodyPr/>
                    <a:lstStyle/>
                    <a:p>
                      <a:pPr algn="l" fontAlgn="t"/>
                      <a:r>
                        <a:rPr lang="en-IN">
                          <a:effectLst/>
                          <a:latin typeface="Times New Roman" panose="02020603050405020304" pitchFamily="18" charset="0"/>
                          <a:cs typeface="Times New Roman" panose="02020603050405020304" pitchFamily="18" charset="0"/>
                        </a:rPr>
                        <a:t>Number</a:t>
                      </a:r>
                    </a:p>
                  </a:txBody>
                  <a:tcPr>
                    <a:lnL>
                      <a:noFill/>
                    </a:lnL>
                    <a:lnR>
                      <a:noFill/>
                    </a:lnR>
                    <a:lnT>
                      <a:noFill/>
                    </a:lnT>
                    <a:lnB>
                      <a:noFill/>
                    </a:lnB>
                  </a:tcPr>
                </a:tc>
                <a:extLst>
                  <a:ext uri="{0D108BD9-81ED-4DB2-BD59-A6C34878D82A}">
                    <a16:rowId xmlns:a16="http://schemas.microsoft.com/office/drawing/2014/main" val="824948800"/>
                  </a:ext>
                </a:extLst>
              </a:tr>
              <a:tr h="359251">
                <a:tc>
                  <a:txBody>
                    <a:bodyPr/>
                    <a:lstStyle/>
                    <a:p>
                      <a:pPr fontAlgn="t"/>
                      <a:r>
                        <a:rPr lang="en-IN">
                          <a:effectLst/>
                          <a:latin typeface="Times New Roman" panose="02020603050405020304" pitchFamily="18" charset="0"/>
                          <a:cs typeface="Times New Roman" panose="02020603050405020304" pitchFamily="18" charset="0"/>
                        </a:rPr>
                        <a:t>Male</a:t>
                      </a:r>
                    </a:p>
                  </a:txBody>
                  <a:tcPr>
                    <a:lnL>
                      <a:noFill/>
                    </a:lnL>
                    <a:lnR>
                      <a:noFill/>
                    </a:lnR>
                    <a:lnT>
                      <a:noFill/>
                    </a:lnT>
                    <a:lnB w="9525" cap="flat" cmpd="sng" algn="ctr">
                      <a:solidFill>
                        <a:srgbClr val="EFEEE9"/>
                      </a:solidFill>
                      <a:prstDash val="solid"/>
                      <a:round/>
                      <a:headEnd type="none" w="med" len="med"/>
                      <a:tailEnd type="none" w="med" len="med"/>
                    </a:lnB>
                  </a:tcPr>
                </a:tc>
                <a:tc>
                  <a:txBody>
                    <a:bodyPr/>
                    <a:lstStyle/>
                    <a:p>
                      <a:pPr fontAlgn="t"/>
                      <a:r>
                        <a:rPr lang="en-IN">
                          <a:effectLst/>
                          <a:latin typeface="Times New Roman" panose="02020603050405020304" pitchFamily="18" charset="0"/>
                          <a:cs typeface="Times New Roman" panose="02020603050405020304" pitchFamily="18" charset="0"/>
                        </a:rPr>
                        <a:t>182</a:t>
                      </a:r>
                    </a:p>
                  </a:txBody>
                  <a:tcPr>
                    <a:lnL>
                      <a:noFill/>
                    </a:lnL>
                    <a:lnR>
                      <a:noFill/>
                    </a:lnR>
                    <a:lnT>
                      <a:noFill/>
                    </a:lnT>
                    <a:lnB w="9525" cap="flat" cmpd="sng" algn="ctr">
                      <a:solidFill>
                        <a:srgbClr val="EFEEE9"/>
                      </a:solidFill>
                      <a:prstDash val="solid"/>
                      <a:round/>
                      <a:headEnd type="none" w="med" len="med"/>
                      <a:tailEnd type="none" w="med" len="med"/>
                    </a:lnB>
                  </a:tcPr>
                </a:tc>
                <a:extLst>
                  <a:ext uri="{0D108BD9-81ED-4DB2-BD59-A6C34878D82A}">
                    <a16:rowId xmlns:a16="http://schemas.microsoft.com/office/drawing/2014/main" val="144527141"/>
                  </a:ext>
                </a:extLst>
              </a:tr>
              <a:tr h="359251">
                <a:tc>
                  <a:txBody>
                    <a:bodyPr/>
                    <a:lstStyle/>
                    <a:p>
                      <a:pPr fontAlgn="t"/>
                      <a:r>
                        <a:rPr lang="en-IN">
                          <a:effectLst/>
                          <a:latin typeface="Times New Roman" panose="02020603050405020304" pitchFamily="18" charset="0"/>
                          <a:cs typeface="Times New Roman" panose="02020603050405020304" pitchFamily="18" charset="0"/>
                        </a:rPr>
                        <a:t>Female</a:t>
                      </a:r>
                    </a:p>
                  </a:txBody>
                  <a:tcPr>
                    <a:lnL>
                      <a:noFill/>
                    </a:lnL>
                    <a:lnR>
                      <a:noFill/>
                    </a:lnR>
                    <a:lnT w="9525" cap="flat" cmpd="sng" algn="ctr">
                      <a:solidFill>
                        <a:srgbClr val="EFEEE9"/>
                      </a:solidFill>
                      <a:prstDash val="solid"/>
                      <a:round/>
                      <a:headEnd type="none" w="med" len="med"/>
                      <a:tailEnd type="none" w="med" len="med"/>
                    </a:lnT>
                    <a:lnB w="9525" cap="flat" cmpd="sng" algn="ctr">
                      <a:solidFill>
                        <a:srgbClr val="EFEEE9"/>
                      </a:solidFill>
                      <a:prstDash val="solid"/>
                      <a:round/>
                      <a:headEnd type="none" w="med" len="med"/>
                      <a:tailEnd type="none" w="med" len="med"/>
                    </a:lnB>
                  </a:tcPr>
                </a:tc>
                <a:tc>
                  <a:txBody>
                    <a:bodyPr/>
                    <a:lstStyle/>
                    <a:p>
                      <a:pPr fontAlgn="t"/>
                      <a:r>
                        <a:rPr lang="en-IN">
                          <a:effectLst/>
                          <a:latin typeface="Times New Roman" panose="02020603050405020304" pitchFamily="18" charset="0"/>
                          <a:cs typeface="Times New Roman" panose="02020603050405020304" pitchFamily="18" charset="0"/>
                        </a:rPr>
                        <a:t>235</a:t>
                      </a:r>
                    </a:p>
                  </a:txBody>
                  <a:tcPr>
                    <a:lnL>
                      <a:noFill/>
                    </a:lnL>
                    <a:lnR>
                      <a:noFill/>
                    </a:lnR>
                    <a:lnT w="9525" cap="flat" cmpd="sng" algn="ctr">
                      <a:solidFill>
                        <a:srgbClr val="EFEEE9"/>
                      </a:solidFill>
                      <a:prstDash val="solid"/>
                      <a:round/>
                      <a:headEnd type="none" w="med" len="med"/>
                      <a:tailEnd type="none" w="med" len="med"/>
                    </a:lnT>
                    <a:lnB w="9525" cap="flat" cmpd="sng" algn="ctr">
                      <a:solidFill>
                        <a:srgbClr val="EFEEE9"/>
                      </a:solidFill>
                      <a:prstDash val="solid"/>
                      <a:round/>
                      <a:headEnd type="none" w="med" len="med"/>
                      <a:tailEnd type="none" w="med" len="med"/>
                    </a:lnB>
                  </a:tcPr>
                </a:tc>
                <a:extLst>
                  <a:ext uri="{0D108BD9-81ED-4DB2-BD59-A6C34878D82A}">
                    <a16:rowId xmlns:a16="http://schemas.microsoft.com/office/drawing/2014/main" val="2898286567"/>
                  </a:ext>
                </a:extLst>
              </a:tr>
              <a:tr h="359251">
                <a:tc>
                  <a:txBody>
                    <a:bodyPr/>
                    <a:lstStyle/>
                    <a:p>
                      <a:pPr fontAlgn="t"/>
                      <a:r>
                        <a:rPr lang="en-IN" dirty="0">
                          <a:effectLst/>
                          <a:latin typeface="Times New Roman" panose="02020603050405020304" pitchFamily="18" charset="0"/>
                          <a:cs typeface="Times New Roman" panose="02020603050405020304" pitchFamily="18" charset="0"/>
                        </a:rPr>
                        <a:t>Other</a:t>
                      </a:r>
                    </a:p>
                  </a:txBody>
                  <a:tcPr>
                    <a:lnL>
                      <a:noFill/>
                    </a:lnL>
                    <a:lnR>
                      <a:noFill/>
                    </a:lnR>
                    <a:lnT w="9525" cap="flat" cmpd="sng" algn="ctr">
                      <a:solidFill>
                        <a:srgbClr val="EFEEE9"/>
                      </a:solidFill>
                      <a:prstDash val="solid"/>
                      <a:round/>
                      <a:headEnd type="none" w="med" len="med"/>
                      <a:tailEnd type="none" w="med" len="med"/>
                    </a:lnT>
                    <a:lnB>
                      <a:noFill/>
                    </a:lnB>
                  </a:tcPr>
                </a:tc>
                <a:tc>
                  <a:txBody>
                    <a:bodyPr/>
                    <a:lstStyle/>
                    <a:p>
                      <a:pPr fontAlgn="t"/>
                      <a:r>
                        <a:rPr lang="en-IN" dirty="0">
                          <a:effectLst/>
                          <a:latin typeface="Times New Roman" panose="02020603050405020304" pitchFamily="18" charset="0"/>
                          <a:cs typeface="Times New Roman" panose="02020603050405020304" pitchFamily="18" charset="0"/>
                        </a:rPr>
                        <a:t>27</a:t>
                      </a:r>
                    </a:p>
                  </a:txBody>
                  <a:tcPr>
                    <a:lnL>
                      <a:noFill/>
                    </a:lnL>
                    <a:lnR>
                      <a:noFill/>
                    </a:lnR>
                    <a:lnT w="9525" cap="flat" cmpd="sng" algn="ctr">
                      <a:solidFill>
                        <a:srgbClr val="EFEEE9"/>
                      </a:solidFill>
                      <a:prstDash val="solid"/>
                      <a:round/>
                      <a:headEnd type="none" w="med" len="med"/>
                      <a:tailEnd type="none" w="med" len="med"/>
                    </a:lnT>
                    <a:lnB>
                      <a:noFill/>
                    </a:lnB>
                  </a:tcPr>
                </a:tc>
                <a:extLst>
                  <a:ext uri="{0D108BD9-81ED-4DB2-BD59-A6C34878D82A}">
                    <a16:rowId xmlns:a16="http://schemas.microsoft.com/office/drawing/2014/main" val="207423428"/>
                  </a:ext>
                </a:extLst>
              </a:tr>
            </a:tbl>
          </a:graphicData>
        </a:graphic>
      </p:graphicFrame>
      <p:sp>
        <p:nvSpPr>
          <p:cNvPr id="4" name="Rectangle 1">
            <a:extLst>
              <a:ext uri="{FF2B5EF4-FFF2-40B4-BE49-F238E27FC236}">
                <a16:creationId xmlns:a16="http://schemas.microsoft.com/office/drawing/2014/main" id="{6DBE2C5F-35E0-9FB2-0BAE-4171BA924119}"/>
              </a:ext>
            </a:extLst>
          </p:cNvPr>
          <p:cNvSpPr>
            <a:spLocks noChangeArrowheads="1"/>
          </p:cNvSpPr>
          <p:nvPr/>
        </p:nvSpPr>
        <p:spPr bwMode="auto">
          <a:xfrm>
            <a:off x="0" y="-361163"/>
            <a:ext cx="1232741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endParaRPr lang="en-US" sz="1800" b="1"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Measure of Frequency</a:t>
            </a: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The distribution concerns the frequency of each value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Simple frequency distribution 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For the variable of gender, you list all possible answers on the left-hand column. You count the number or percentage of responses for each answer and display it on the right-hand column.</a:t>
            </a:r>
            <a:endParaRPr kumimoji="0" lang="en-US" altLang="en-US" sz="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From this table, you can see that more women than men or people with another gender identity took part in the study.</a:t>
            </a: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4FCEEDE-BB74-0C01-7C17-CFC955EB8840}"/>
              </a:ext>
            </a:extLst>
          </p:cNvPr>
          <p:cNvSpPr txBox="1"/>
          <p:nvPr/>
        </p:nvSpPr>
        <p:spPr>
          <a:xfrm>
            <a:off x="675147" y="3489009"/>
            <a:ext cx="610423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Grouped frequency distribution table</a:t>
            </a:r>
          </a:p>
        </p:txBody>
      </p:sp>
      <p:graphicFrame>
        <p:nvGraphicFramePr>
          <p:cNvPr id="7" name="Table 6">
            <a:extLst>
              <a:ext uri="{FF2B5EF4-FFF2-40B4-BE49-F238E27FC236}">
                <a16:creationId xmlns:a16="http://schemas.microsoft.com/office/drawing/2014/main" id="{10C86816-CE04-FD9D-1E8F-F8D2983B912B}"/>
              </a:ext>
            </a:extLst>
          </p:cNvPr>
          <p:cNvGraphicFramePr>
            <a:graphicFrameLocks noGrp="1"/>
          </p:cNvGraphicFramePr>
          <p:nvPr>
            <p:extLst>
              <p:ext uri="{D42A27DB-BD31-4B8C-83A1-F6EECF244321}">
                <p14:modId xmlns:p14="http://schemas.microsoft.com/office/powerpoint/2010/main" val="2935484225"/>
              </p:ext>
            </p:extLst>
          </p:nvPr>
        </p:nvGraphicFramePr>
        <p:xfrm>
          <a:off x="3249827" y="4505175"/>
          <a:ext cx="8007180" cy="2224896"/>
        </p:xfrm>
        <a:graphic>
          <a:graphicData uri="http://schemas.openxmlformats.org/drawingml/2006/table">
            <a:tbl>
              <a:tblPr/>
              <a:tblGrid>
                <a:gridCol w="4003590">
                  <a:extLst>
                    <a:ext uri="{9D8B030D-6E8A-4147-A177-3AD203B41FA5}">
                      <a16:colId xmlns:a16="http://schemas.microsoft.com/office/drawing/2014/main" val="4172237817"/>
                    </a:ext>
                  </a:extLst>
                </a:gridCol>
                <a:gridCol w="4003590">
                  <a:extLst>
                    <a:ext uri="{9D8B030D-6E8A-4147-A177-3AD203B41FA5}">
                      <a16:colId xmlns:a16="http://schemas.microsoft.com/office/drawing/2014/main" val="3851376869"/>
                    </a:ext>
                  </a:extLst>
                </a:gridCol>
              </a:tblGrid>
              <a:tr h="370816">
                <a:tc>
                  <a:txBody>
                    <a:bodyPr/>
                    <a:lstStyle/>
                    <a:p>
                      <a:pPr algn="l" fontAlgn="t"/>
                      <a:r>
                        <a:rPr lang="en-IN">
                          <a:effectLst/>
                          <a:latin typeface="Times New Roman" panose="02020603050405020304" pitchFamily="18" charset="0"/>
                          <a:cs typeface="Times New Roman" panose="02020603050405020304" pitchFamily="18" charset="0"/>
                        </a:rPr>
                        <a:t>Library visits in the past year</a:t>
                      </a:r>
                    </a:p>
                  </a:txBody>
                  <a:tcPr>
                    <a:lnL>
                      <a:noFill/>
                    </a:lnL>
                    <a:lnR>
                      <a:noFill/>
                    </a:lnR>
                    <a:lnT>
                      <a:noFill/>
                    </a:lnT>
                    <a:lnB>
                      <a:noFill/>
                    </a:lnB>
                  </a:tcPr>
                </a:tc>
                <a:tc>
                  <a:txBody>
                    <a:bodyPr/>
                    <a:lstStyle/>
                    <a:p>
                      <a:pPr algn="l" fontAlgn="t"/>
                      <a:r>
                        <a:rPr lang="en-IN">
                          <a:effectLst/>
                          <a:latin typeface="Times New Roman" panose="02020603050405020304" pitchFamily="18" charset="0"/>
                          <a:cs typeface="Times New Roman" panose="02020603050405020304" pitchFamily="18" charset="0"/>
                        </a:rPr>
                        <a:t>Percent</a:t>
                      </a:r>
                    </a:p>
                  </a:txBody>
                  <a:tcPr>
                    <a:lnL>
                      <a:noFill/>
                    </a:lnL>
                    <a:lnR>
                      <a:noFill/>
                    </a:lnR>
                    <a:lnT>
                      <a:noFill/>
                    </a:lnT>
                    <a:lnB>
                      <a:noFill/>
                    </a:lnB>
                  </a:tcPr>
                </a:tc>
                <a:extLst>
                  <a:ext uri="{0D108BD9-81ED-4DB2-BD59-A6C34878D82A}">
                    <a16:rowId xmlns:a16="http://schemas.microsoft.com/office/drawing/2014/main" val="3775669978"/>
                  </a:ext>
                </a:extLst>
              </a:tr>
              <a:tr h="370816">
                <a:tc>
                  <a:txBody>
                    <a:bodyPr/>
                    <a:lstStyle/>
                    <a:p>
                      <a:pPr fontAlgn="t"/>
                      <a:r>
                        <a:rPr lang="en-IN" dirty="0">
                          <a:effectLst/>
                          <a:latin typeface="Times New Roman" panose="02020603050405020304" pitchFamily="18" charset="0"/>
                          <a:cs typeface="Times New Roman" panose="02020603050405020304" pitchFamily="18" charset="0"/>
                        </a:rPr>
                        <a:t>0–4</a:t>
                      </a:r>
                    </a:p>
                  </a:txBody>
                  <a:tcPr>
                    <a:lnL>
                      <a:noFill/>
                    </a:lnL>
                    <a:lnR>
                      <a:noFill/>
                    </a:lnR>
                    <a:lnT>
                      <a:noFill/>
                    </a:lnT>
                    <a:lnB w="9525" cap="flat" cmpd="sng" algn="ctr">
                      <a:solidFill>
                        <a:srgbClr val="EFEEE9"/>
                      </a:solidFill>
                      <a:prstDash val="solid"/>
                      <a:round/>
                      <a:headEnd type="none" w="med" len="med"/>
                      <a:tailEnd type="none" w="med" len="med"/>
                    </a:lnB>
                  </a:tcPr>
                </a:tc>
                <a:tc>
                  <a:txBody>
                    <a:bodyPr/>
                    <a:lstStyle/>
                    <a:p>
                      <a:pPr fontAlgn="t"/>
                      <a:r>
                        <a:rPr lang="en-IN">
                          <a:effectLst/>
                          <a:latin typeface="Times New Roman" panose="02020603050405020304" pitchFamily="18" charset="0"/>
                          <a:cs typeface="Times New Roman" panose="02020603050405020304" pitchFamily="18" charset="0"/>
                        </a:rPr>
                        <a:t>6%</a:t>
                      </a:r>
                    </a:p>
                  </a:txBody>
                  <a:tcPr>
                    <a:lnL>
                      <a:noFill/>
                    </a:lnL>
                    <a:lnR>
                      <a:noFill/>
                    </a:lnR>
                    <a:lnT>
                      <a:noFill/>
                    </a:lnT>
                    <a:lnB w="9525" cap="flat" cmpd="sng" algn="ctr">
                      <a:solidFill>
                        <a:srgbClr val="EFEEE9"/>
                      </a:solidFill>
                      <a:prstDash val="solid"/>
                      <a:round/>
                      <a:headEnd type="none" w="med" len="med"/>
                      <a:tailEnd type="none" w="med" len="med"/>
                    </a:lnB>
                  </a:tcPr>
                </a:tc>
                <a:extLst>
                  <a:ext uri="{0D108BD9-81ED-4DB2-BD59-A6C34878D82A}">
                    <a16:rowId xmlns:a16="http://schemas.microsoft.com/office/drawing/2014/main" val="991194223"/>
                  </a:ext>
                </a:extLst>
              </a:tr>
              <a:tr h="370816">
                <a:tc>
                  <a:txBody>
                    <a:bodyPr/>
                    <a:lstStyle/>
                    <a:p>
                      <a:pPr fontAlgn="t"/>
                      <a:r>
                        <a:rPr lang="en-IN" dirty="0">
                          <a:effectLst/>
                          <a:latin typeface="Times New Roman" panose="02020603050405020304" pitchFamily="18" charset="0"/>
                          <a:cs typeface="Times New Roman" panose="02020603050405020304" pitchFamily="18" charset="0"/>
                        </a:rPr>
                        <a:t>5–8</a:t>
                      </a:r>
                    </a:p>
                  </a:txBody>
                  <a:tcPr>
                    <a:lnL>
                      <a:noFill/>
                    </a:lnL>
                    <a:lnR>
                      <a:noFill/>
                    </a:lnR>
                    <a:lnT w="9525" cap="flat" cmpd="sng" algn="ctr">
                      <a:solidFill>
                        <a:srgbClr val="EFEEE9"/>
                      </a:solidFill>
                      <a:prstDash val="solid"/>
                      <a:round/>
                      <a:headEnd type="none" w="med" len="med"/>
                      <a:tailEnd type="none" w="med" len="med"/>
                    </a:lnT>
                    <a:lnB w="9525" cap="flat" cmpd="sng" algn="ctr">
                      <a:solidFill>
                        <a:srgbClr val="EFEEE9"/>
                      </a:solidFill>
                      <a:prstDash val="solid"/>
                      <a:round/>
                      <a:headEnd type="none" w="med" len="med"/>
                      <a:tailEnd type="none" w="med" len="med"/>
                    </a:lnB>
                  </a:tcPr>
                </a:tc>
                <a:tc>
                  <a:txBody>
                    <a:bodyPr/>
                    <a:lstStyle/>
                    <a:p>
                      <a:pPr fontAlgn="t"/>
                      <a:r>
                        <a:rPr lang="en-IN">
                          <a:effectLst/>
                          <a:latin typeface="Times New Roman" panose="02020603050405020304" pitchFamily="18" charset="0"/>
                          <a:cs typeface="Times New Roman" panose="02020603050405020304" pitchFamily="18" charset="0"/>
                        </a:rPr>
                        <a:t>20%</a:t>
                      </a:r>
                    </a:p>
                  </a:txBody>
                  <a:tcPr>
                    <a:lnL>
                      <a:noFill/>
                    </a:lnL>
                    <a:lnR>
                      <a:noFill/>
                    </a:lnR>
                    <a:lnT w="9525" cap="flat" cmpd="sng" algn="ctr">
                      <a:solidFill>
                        <a:srgbClr val="EFEEE9"/>
                      </a:solidFill>
                      <a:prstDash val="solid"/>
                      <a:round/>
                      <a:headEnd type="none" w="med" len="med"/>
                      <a:tailEnd type="none" w="med" len="med"/>
                    </a:lnT>
                    <a:lnB w="9525" cap="flat" cmpd="sng" algn="ctr">
                      <a:solidFill>
                        <a:srgbClr val="EFEEE9"/>
                      </a:solidFill>
                      <a:prstDash val="solid"/>
                      <a:round/>
                      <a:headEnd type="none" w="med" len="med"/>
                      <a:tailEnd type="none" w="med" len="med"/>
                    </a:lnB>
                  </a:tcPr>
                </a:tc>
                <a:extLst>
                  <a:ext uri="{0D108BD9-81ED-4DB2-BD59-A6C34878D82A}">
                    <a16:rowId xmlns:a16="http://schemas.microsoft.com/office/drawing/2014/main" val="610085762"/>
                  </a:ext>
                </a:extLst>
              </a:tr>
              <a:tr h="370816">
                <a:tc>
                  <a:txBody>
                    <a:bodyPr/>
                    <a:lstStyle/>
                    <a:p>
                      <a:pPr fontAlgn="t"/>
                      <a:r>
                        <a:rPr lang="en-IN" dirty="0">
                          <a:effectLst/>
                          <a:latin typeface="Times New Roman" panose="02020603050405020304" pitchFamily="18" charset="0"/>
                          <a:cs typeface="Times New Roman" panose="02020603050405020304" pitchFamily="18" charset="0"/>
                        </a:rPr>
                        <a:t>9–12</a:t>
                      </a:r>
                    </a:p>
                  </a:txBody>
                  <a:tcPr>
                    <a:lnL>
                      <a:noFill/>
                    </a:lnL>
                    <a:lnR>
                      <a:noFill/>
                    </a:lnR>
                    <a:lnT w="9525" cap="flat" cmpd="sng" algn="ctr">
                      <a:solidFill>
                        <a:srgbClr val="EFEEE9"/>
                      </a:solidFill>
                      <a:prstDash val="solid"/>
                      <a:round/>
                      <a:headEnd type="none" w="med" len="med"/>
                      <a:tailEnd type="none" w="med" len="med"/>
                    </a:lnT>
                    <a:lnB w="9525" cap="flat" cmpd="sng" algn="ctr">
                      <a:solidFill>
                        <a:srgbClr val="EFEEE9"/>
                      </a:solidFill>
                      <a:prstDash val="solid"/>
                      <a:round/>
                      <a:headEnd type="none" w="med" len="med"/>
                      <a:tailEnd type="none" w="med" len="med"/>
                    </a:lnB>
                  </a:tcPr>
                </a:tc>
                <a:tc>
                  <a:txBody>
                    <a:bodyPr/>
                    <a:lstStyle/>
                    <a:p>
                      <a:pPr fontAlgn="t"/>
                      <a:r>
                        <a:rPr lang="en-IN">
                          <a:effectLst/>
                          <a:latin typeface="Times New Roman" panose="02020603050405020304" pitchFamily="18" charset="0"/>
                          <a:cs typeface="Times New Roman" panose="02020603050405020304" pitchFamily="18" charset="0"/>
                        </a:rPr>
                        <a:t>42%</a:t>
                      </a:r>
                    </a:p>
                  </a:txBody>
                  <a:tcPr>
                    <a:lnL>
                      <a:noFill/>
                    </a:lnL>
                    <a:lnR>
                      <a:noFill/>
                    </a:lnR>
                    <a:lnT w="9525" cap="flat" cmpd="sng" algn="ctr">
                      <a:solidFill>
                        <a:srgbClr val="EFEEE9"/>
                      </a:solidFill>
                      <a:prstDash val="solid"/>
                      <a:round/>
                      <a:headEnd type="none" w="med" len="med"/>
                      <a:tailEnd type="none" w="med" len="med"/>
                    </a:lnT>
                    <a:lnB w="9525" cap="flat" cmpd="sng" algn="ctr">
                      <a:solidFill>
                        <a:srgbClr val="EFEEE9"/>
                      </a:solidFill>
                      <a:prstDash val="solid"/>
                      <a:round/>
                      <a:headEnd type="none" w="med" len="med"/>
                      <a:tailEnd type="none" w="med" len="med"/>
                    </a:lnB>
                  </a:tcPr>
                </a:tc>
                <a:extLst>
                  <a:ext uri="{0D108BD9-81ED-4DB2-BD59-A6C34878D82A}">
                    <a16:rowId xmlns:a16="http://schemas.microsoft.com/office/drawing/2014/main" val="2253753939"/>
                  </a:ext>
                </a:extLst>
              </a:tr>
              <a:tr h="370816">
                <a:tc>
                  <a:txBody>
                    <a:bodyPr/>
                    <a:lstStyle/>
                    <a:p>
                      <a:pPr fontAlgn="t"/>
                      <a:r>
                        <a:rPr lang="en-IN">
                          <a:effectLst/>
                          <a:latin typeface="Times New Roman" panose="02020603050405020304" pitchFamily="18" charset="0"/>
                          <a:cs typeface="Times New Roman" panose="02020603050405020304" pitchFamily="18" charset="0"/>
                        </a:rPr>
                        <a:t>13–16</a:t>
                      </a:r>
                    </a:p>
                  </a:txBody>
                  <a:tcPr>
                    <a:lnL>
                      <a:noFill/>
                    </a:lnL>
                    <a:lnR>
                      <a:noFill/>
                    </a:lnR>
                    <a:lnT w="9525" cap="flat" cmpd="sng" algn="ctr">
                      <a:solidFill>
                        <a:srgbClr val="EFEEE9"/>
                      </a:solidFill>
                      <a:prstDash val="solid"/>
                      <a:round/>
                      <a:headEnd type="none" w="med" len="med"/>
                      <a:tailEnd type="none" w="med" len="med"/>
                    </a:lnT>
                    <a:lnB w="9525" cap="flat" cmpd="sng" algn="ctr">
                      <a:solidFill>
                        <a:srgbClr val="EFEEE9"/>
                      </a:solidFill>
                      <a:prstDash val="solid"/>
                      <a:round/>
                      <a:headEnd type="none" w="med" len="med"/>
                      <a:tailEnd type="none" w="med" len="med"/>
                    </a:lnB>
                  </a:tcPr>
                </a:tc>
                <a:tc>
                  <a:txBody>
                    <a:bodyPr/>
                    <a:lstStyle/>
                    <a:p>
                      <a:pPr fontAlgn="t"/>
                      <a:r>
                        <a:rPr lang="en-IN">
                          <a:effectLst/>
                          <a:latin typeface="Times New Roman" panose="02020603050405020304" pitchFamily="18" charset="0"/>
                          <a:cs typeface="Times New Roman" panose="02020603050405020304" pitchFamily="18" charset="0"/>
                        </a:rPr>
                        <a:t>24%</a:t>
                      </a:r>
                    </a:p>
                  </a:txBody>
                  <a:tcPr>
                    <a:lnL>
                      <a:noFill/>
                    </a:lnL>
                    <a:lnR>
                      <a:noFill/>
                    </a:lnR>
                    <a:lnT w="9525" cap="flat" cmpd="sng" algn="ctr">
                      <a:solidFill>
                        <a:srgbClr val="EFEEE9"/>
                      </a:solidFill>
                      <a:prstDash val="solid"/>
                      <a:round/>
                      <a:headEnd type="none" w="med" len="med"/>
                      <a:tailEnd type="none" w="med" len="med"/>
                    </a:lnT>
                    <a:lnB w="9525" cap="flat" cmpd="sng" algn="ctr">
                      <a:solidFill>
                        <a:srgbClr val="EFEEE9"/>
                      </a:solidFill>
                      <a:prstDash val="solid"/>
                      <a:round/>
                      <a:headEnd type="none" w="med" len="med"/>
                      <a:tailEnd type="none" w="med" len="med"/>
                    </a:lnB>
                  </a:tcPr>
                </a:tc>
                <a:extLst>
                  <a:ext uri="{0D108BD9-81ED-4DB2-BD59-A6C34878D82A}">
                    <a16:rowId xmlns:a16="http://schemas.microsoft.com/office/drawing/2014/main" val="561495715"/>
                  </a:ext>
                </a:extLst>
              </a:tr>
              <a:tr h="370816">
                <a:tc>
                  <a:txBody>
                    <a:bodyPr/>
                    <a:lstStyle/>
                    <a:p>
                      <a:pPr fontAlgn="t"/>
                      <a:r>
                        <a:rPr lang="en-IN">
                          <a:effectLst/>
                          <a:latin typeface="Times New Roman" panose="02020603050405020304" pitchFamily="18" charset="0"/>
                          <a:cs typeface="Times New Roman" panose="02020603050405020304" pitchFamily="18" charset="0"/>
                        </a:rPr>
                        <a:t>17+</a:t>
                      </a:r>
                    </a:p>
                  </a:txBody>
                  <a:tcPr>
                    <a:lnL>
                      <a:noFill/>
                    </a:lnL>
                    <a:lnR>
                      <a:noFill/>
                    </a:lnR>
                    <a:lnT w="9525" cap="flat" cmpd="sng" algn="ctr">
                      <a:solidFill>
                        <a:srgbClr val="EFEEE9"/>
                      </a:solidFill>
                      <a:prstDash val="solid"/>
                      <a:round/>
                      <a:headEnd type="none" w="med" len="med"/>
                      <a:tailEnd type="none" w="med" len="med"/>
                    </a:lnT>
                    <a:lnB>
                      <a:noFill/>
                    </a:lnB>
                  </a:tcPr>
                </a:tc>
                <a:tc>
                  <a:txBody>
                    <a:bodyPr/>
                    <a:lstStyle/>
                    <a:p>
                      <a:pPr fontAlgn="t"/>
                      <a:r>
                        <a:rPr lang="en-IN" dirty="0">
                          <a:effectLst/>
                          <a:latin typeface="Times New Roman" panose="02020603050405020304" pitchFamily="18" charset="0"/>
                          <a:cs typeface="Times New Roman" panose="02020603050405020304" pitchFamily="18" charset="0"/>
                        </a:rPr>
                        <a:t>8%</a:t>
                      </a:r>
                    </a:p>
                  </a:txBody>
                  <a:tcPr>
                    <a:lnL>
                      <a:noFill/>
                    </a:lnL>
                    <a:lnR>
                      <a:noFill/>
                    </a:lnR>
                    <a:lnT w="9525" cap="flat" cmpd="sng" algn="ctr">
                      <a:solidFill>
                        <a:srgbClr val="EFEEE9"/>
                      </a:solidFill>
                      <a:prstDash val="solid"/>
                      <a:round/>
                      <a:headEnd type="none" w="med" len="med"/>
                      <a:tailEnd type="none" w="med" len="med"/>
                    </a:lnT>
                    <a:lnB>
                      <a:noFill/>
                    </a:lnB>
                  </a:tcPr>
                </a:tc>
                <a:extLst>
                  <a:ext uri="{0D108BD9-81ED-4DB2-BD59-A6C34878D82A}">
                    <a16:rowId xmlns:a16="http://schemas.microsoft.com/office/drawing/2014/main" val="2305440394"/>
                  </a:ext>
                </a:extLst>
              </a:tr>
            </a:tbl>
          </a:graphicData>
        </a:graphic>
      </p:graphicFrame>
      <p:sp>
        <p:nvSpPr>
          <p:cNvPr id="8" name="Rectangle 2">
            <a:extLst>
              <a:ext uri="{FF2B5EF4-FFF2-40B4-BE49-F238E27FC236}">
                <a16:creationId xmlns:a16="http://schemas.microsoft.com/office/drawing/2014/main" id="{853E2137-E9DC-BBCF-E71D-D54FDF2C74CC}"/>
              </a:ext>
            </a:extLst>
          </p:cNvPr>
          <p:cNvSpPr>
            <a:spLocks noChangeArrowheads="1"/>
          </p:cNvSpPr>
          <p:nvPr/>
        </p:nvSpPr>
        <p:spPr bwMode="auto">
          <a:xfrm>
            <a:off x="51553" y="3969347"/>
            <a:ext cx="122758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In a grouped frequency distribution, you can group numerical response values and add up the number of responses for each group. You can also convert each of these numbers to percentages</a:t>
            </a:r>
            <a:endParaRPr kumimoji="0" lang="en-US" altLang="en-US" sz="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From this table, you can see that most people visited the library between 5 and 16 times in the past year.</a:t>
            </a: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8003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63" name="Freeform: Shape 106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1">
            <a:extLst>
              <a:ext uri="{FF2B5EF4-FFF2-40B4-BE49-F238E27FC236}">
                <a16:creationId xmlns:a16="http://schemas.microsoft.com/office/drawing/2014/main" id="{6DBE2C5F-35E0-9FB2-0BAE-4171BA924119}"/>
              </a:ext>
            </a:extLst>
          </p:cNvPr>
          <p:cNvSpPr>
            <a:spLocks noChangeArrowheads="1"/>
          </p:cNvSpPr>
          <p:nvPr/>
        </p:nvSpPr>
        <p:spPr bwMode="auto">
          <a:xfrm>
            <a:off x="693282" y="447980"/>
            <a:ext cx="7386412" cy="28651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Aft>
                <a:spcPts val="600"/>
              </a:spcAf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Measures </a:t>
            </a:r>
            <a:r>
              <a:rPr lang="en-US" altLang="en-US" b="1" dirty="0">
                <a:latin typeface="Times New Roman" panose="02020603050405020304" pitchFamily="18" charset="0"/>
                <a:cs typeface="Times New Roman" panose="02020603050405020304" pitchFamily="18" charset="0"/>
              </a:rPr>
              <a:t>of Central Tendency </a:t>
            </a:r>
            <a:r>
              <a:rPr lang="en-US" altLang="en-US" dirty="0">
                <a:latin typeface="Times New Roman" panose="02020603050405020304" pitchFamily="18" charset="0"/>
                <a:cs typeface="Times New Roman" panose="02020603050405020304" pitchFamily="18" charset="0"/>
              </a:rPr>
              <a:t>- It </a:t>
            </a:r>
            <a:r>
              <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rPr>
              <a:t>estimates the center of a data set. </a:t>
            </a:r>
          </a:p>
          <a:p>
            <a:pPr marR="0" lvl="0" eaLnBrk="1" fontAlgn="base" hangingPunct="1">
              <a:lnSpc>
                <a:spcPct val="90000"/>
              </a:lnSpc>
              <a:spcBef>
                <a:spcPct val="0"/>
              </a:spcBef>
              <a:spcAft>
                <a:spcPts val="600"/>
              </a:spcAft>
              <a:buClrTx/>
              <a:buSzTx/>
              <a:tabLst/>
            </a:pP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a:p>
            <a:pPr marR="0" lvl="0" eaLnBrk="1" fontAlgn="base" hangingPunct="1">
              <a:lnSpc>
                <a:spcPct val="90000"/>
              </a:lnSpc>
              <a:spcBef>
                <a:spcPct val="0"/>
              </a:spcBef>
              <a:spcAft>
                <a:spcPts val="600"/>
              </a:spcAft>
              <a:buClrTx/>
              <a:buSzTx/>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3 ways of finding the center location of data</a:t>
            </a:r>
          </a:p>
          <a:p>
            <a:pPr marL="342900" marR="0" lvl="0" indent="-28575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Mean</a:t>
            </a:r>
          </a:p>
          <a:p>
            <a:pPr marL="342900" marR="0" lvl="0" indent="-285750" eaLnBrk="1" fontAlgn="base" hangingPunct="1">
              <a:lnSpc>
                <a:spcPct val="90000"/>
              </a:lnSpc>
              <a:spcBef>
                <a:spcPct val="0"/>
              </a:spcBef>
              <a:spcAft>
                <a:spcPts val="600"/>
              </a:spcAft>
              <a:buClrTx/>
              <a:buSzTx/>
              <a:buFont typeface="Arial" panose="020B0604020202020204" pitchFamily="34" charset="0"/>
              <a:buChar char="•"/>
              <a:tabLst/>
            </a:pPr>
            <a:r>
              <a:rPr lang="en-US" altLang="en-US" sz="1700" dirty="0">
                <a:latin typeface="Times New Roman" panose="02020603050405020304" pitchFamily="18" charset="0"/>
                <a:cs typeface="Times New Roman" panose="02020603050405020304" pitchFamily="18" charset="0"/>
              </a:rPr>
              <a:t>Median</a:t>
            </a:r>
          </a:p>
          <a:p>
            <a:pPr marL="342900" marR="0" lvl="0" indent="-28575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Mode</a:t>
            </a:r>
          </a:p>
          <a:p>
            <a:pPr marL="342900" marR="0" lvl="0" indent="-28575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endParaRPr>
          </a:p>
          <a:p>
            <a:pPr marR="0" lvl="0" eaLnBrk="1" fontAlgn="base" hangingPunct="1">
              <a:lnSpc>
                <a:spcPct val="90000"/>
              </a:lnSpc>
              <a:spcBef>
                <a:spcPct val="0"/>
              </a:spcBef>
              <a:spcAft>
                <a:spcPts val="600"/>
              </a:spcAft>
              <a:buClrTx/>
              <a:buSzTx/>
              <a:tabLst/>
            </a:pPr>
            <a:r>
              <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rPr>
              <a:t>Here we will demonstrate how to calculate the mean, median, and mode using the first 6 responses of our survey.</a:t>
            </a:r>
          </a:p>
          <a:p>
            <a:pPr marR="0" lvl="0" eaLnBrk="1" fontAlgn="base" hangingPunct="1">
              <a:lnSpc>
                <a:spcPct val="90000"/>
              </a:lnSpc>
              <a:spcBef>
                <a:spcPct val="0"/>
              </a:spcBef>
              <a:spcAft>
                <a:spcPts val="600"/>
              </a:spcAft>
              <a:buClrTx/>
              <a:buSzTx/>
              <a:tabLst/>
            </a:pPr>
            <a:endParaRPr lang="en-US" altLang="en-US" sz="1500" dirty="0">
              <a:latin typeface="Times New Roman" panose="02020603050405020304" pitchFamily="18" charset="0"/>
              <a:cs typeface="Times New Roman" panose="02020603050405020304" pitchFamily="18" charset="0"/>
            </a:endParaRPr>
          </a:p>
          <a:p>
            <a:pPr eaLnBrk="1" hangingPunct="1">
              <a:lnSpc>
                <a:spcPct val="90000"/>
              </a:lnSpc>
              <a:spcAft>
                <a:spcPts val="600"/>
              </a:spcAft>
            </a:pP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1" hangingPunct="1">
              <a:lnSpc>
                <a:spcPct val="90000"/>
              </a:lnSpc>
              <a:spcAft>
                <a:spcPts val="600"/>
              </a:spcAft>
            </a:pP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						</a:t>
            </a:r>
          </a:p>
          <a:p>
            <a:pPr eaLnBrk="1" hangingPunct="1">
              <a:lnSpc>
                <a:spcPct val="90000"/>
              </a:lnSpc>
              <a:spcAft>
                <a:spcPts val="600"/>
              </a:spcAft>
            </a:pPr>
            <a:r>
              <a:rPr lang="en-US" altLang="en-US" sz="1500" dirty="0">
                <a:latin typeface="Times New Roman" panose="02020603050405020304" pitchFamily="18" charset="0"/>
                <a:cs typeface="Times New Roman" panose="02020603050405020304" pitchFamily="18" charset="0"/>
              </a:rPr>
              <a:t>                                            </a:t>
            </a: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1065" name="Oval 106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DE8D8C6-5666-62E8-9907-B37F579F5C82}"/>
              </a:ext>
            </a:extLst>
          </p:cNvPr>
          <p:cNvPicPr>
            <a:picLocks noChangeAspect="1"/>
          </p:cNvPicPr>
          <p:nvPr/>
        </p:nvPicPr>
        <p:blipFill>
          <a:blip r:embed="rId2"/>
          <a:stretch>
            <a:fillRect/>
          </a:stretch>
        </p:blipFill>
        <p:spPr>
          <a:xfrm>
            <a:off x="7887184" y="1880541"/>
            <a:ext cx="3781051" cy="2452939"/>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067" name="Freeform: Shape 106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069" name="Straight Connector 106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071" name="Freeform: Shape 107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1073" name="Freeform: Shape 107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75" name="Freeform: Shape 107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graphicFrame>
        <p:nvGraphicFramePr>
          <p:cNvPr id="14" name="Table 14">
            <a:extLst>
              <a:ext uri="{FF2B5EF4-FFF2-40B4-BE49-F238E27FC236}">
                <a16:creationId xmlns:a16="http://schemas.microsoft.com/office/drawing/2014/main" id="{FFD27739-2EFB-55FE-F351-8AAEB33B57FB}"/>
              </a:ext>
            </a:extLst>
          </p:cNvPr>
          <p:cNvGraphicFramePr>
            <a:graphicFrameLocks noGrp="1"/>
          </p:cNvGraphicFramePr>
          <p:nvPr>
            <p:extLst>
              <p:ext uri="{D42A27DB-BD31-4B8C-83A1-F6EECF244321}">
                <p14:modId xmlns:p14="http://schemas.microsoft.com/office/powerpoint/2010/main" val="1236229340"/>
              </p:ext>
            </p:extLst>
          </p:nvPr>
        </p:nvGraphicFramePr>
        <p:xfrm>
          <a:off x="1077326" y="3542936"/>
          <a:ext cx="1737521" cy="2865120"/>
        </p:xfrm>
        <a:graphic>
          <a:graphicData uri="http://schemas.openxmlformats.org/drawingml/2006/table">
            <a:tbl>
              <a:tblPr firstRow="1" bandRow="1">
                <a:tableStyleId>{073A0DAA-6AF3-43AB-8588-CEC1D06C72B9}</a:tableStyleId>
              </a:tblPr>
              <a:tblGrid>
                <a:gridCol w="1737521">
                  <a:extLst>
                    <a:ext uri="{9D8B030D-6E8A-4147-A177-3AD203B41FA5}">
                      <a16:colId xmlns:a16="http://schemas.microsoft.com/office/drawing/2014/main" val="3387137632"/>
                    </a:ext>
                  </a:extLst>
                </a:gridCol>
              </a:tblGrid>
              <a:tr h="1200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library visits: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147279962"/>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54737663"/>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76821507"/>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70778340"/>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07311045"/>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83254568"/>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97492038"/>
                  </a:ext>
                </a:extLst>
              </a:tr>
            </a:tbl>
          </a:graphicData>
        </a:graphic>
      </p:graphicFrame>
      <p:sp>
        <p:nvSpPr>
          <p:cNvPr id="15" name="TextBox 14">
            <a:extLst>
              <a:ext uri="{FF2B5EF4-FFF2-40B4-BE49-F238E27FC236}">
                <a16:creationId xmlns:a16="http://schemas.microsoft.com/office/drawing/2014/main" id="{82385CB2-BC7D-FF2A-DCC9-BCA722CBDC84}"/>
              </a:ext>
            </a:extLst>
          </p:cNvPr>
          <p:cNvSpPr txBox="1"/>
          <p:nvPr/>
        </p:nvSpPr>
        <p:spPr>
          <a:xfrm>
            <a:off x="3867665" y="4213654"/>
            <a:ext cx="1653017" cy="1348061"/>
          </a:xfrm>
          <a:prstGeom prst="rect">
            <a:avLst/>
          </a:prstGeom>
          <a:noFill/>
        </p:spPr>
        <p:txBody>
          <a:bodyPr wrap="none" rtlCol="0">
            <a:spAutoFit/>
          </a:bodyPr>
          <a:lstStyle/>
          <a:p>
            <a:pPr marL="285750" indent="-285750" eaLnBrk="1" hangingPunct="1">
              <a:lnSpc>
                <a:spcPct val="90000"/>
              </a:lnSpc>
              <a:spcAft>
                <a:spcPts val="600"/>
              </a:spcAft>
              <a:buFont typeface="Arial" panose="020B0604020202020204" pitchFamily="34" charset="0"/>
              <a:buChar char="•"/>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Mean : 9.5</a:t>
            </a:r>
          </a:p>
          <a:p>
            <a:pPr marL="285750" indent="-285750" eaLnBrk="1" hangingPunct="1">
              <a:lnSpc>
                <a:spcPct val="90000"/>
              </a:lnSpc>
              <a:spcAft>
                <a:spcPts val="600"/>
              </a:spcAft>
              <a:buFont typeface="Arial" panose="020B0604020202020204" pitchFamily="34" charset="0"/>
              <a:buChar char="•"/>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Median : 7.5</a:t>
            </a:r>
          </a:p>
          <a:p>
            <a:pPr marL="285750" indent="-285750" eaLnBrk="1" hangingPunct="1">
              <a:lnSpc>
                <a:spcPct val="90000"/>
              </a:lnSpc>
              <a:spcAft>
                <a:spcPts val="60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Mode: 3</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901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anim calcmode="lin" valueType="num">
                                      <p:cBhvr additive="base">
                                        <p:cTn id="13"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anim calcmode="lin" valueType="num">
                                      <p:cBhvr additive="base">
                                        <p:cTn id="19"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F1A58E5-4C24-76CE-1216-0058CAD7A5D9}"/>
              </a:ext>
            </a:extLst>
          </p:cNvPr>
          <p:cNvSpPr txBox="1"/>
          <p:nvPr/>
        </p:nvSpPr>
        <p:spPr>
          <a:xfrm>
            <a:off x="742113" y="477998"/>
            <a:ext cx="10351187" cy="4801314"/>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Measures of variability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Measures of variability give you a sense of how spread out the response values are. The range, standard deviation and variance each reflect different aspects of spread.</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Range</a:t>
            </a:r>
          </a:p>
          <a:p>
            <a:r>
              <a:rPr lang="en-US" sz="1600" dirty="0">
                <a:latin typeface="Times New Roman" panose="02020603050405020304" pitchFamily="18" charset="0"/>
                <a:cs typeface="Times New Roman" panose="02020603050405020304" pitchFamily="18" charset="0"/>
              </a:rPr>
              <a:t>The range gives you an idea of how far apart the most extreme response scores are. To find the range, simply subtract the lowest value from the highest value.</a:t>
            </a:r>
          </a:p>
          <a:p>
            <a:r>
              <a:rPr lang="en-US" sz="1600" dirty="0">
                <a:latin typeface="Times New Roman" panose="02020603050405020304" pitchFamily="18" charset="0"/>
                <a:cs typeface="Times New Roman" panose="02020603050405020304" pitchFamily="18" charset="0"/>
              </a:rPr>
              <a:t>Range of visits to the library in the past year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Variance</a:t>
            </a:r>
          </a:p>
          <a:p>
            <a:r>
              <a:rPr lang="en-US" sz="1600" dirty="0">
                <a:latin typeface="Times New Roman" panose="02020603050405020304" pitchFamily="18" charset="0"/>
                <a:cs typeface="Times New Roman" panose="02020603050405020304" pitchFamily="18" charset="0"/>
              </a:rPr>
              <a:t>The variance is the average of squared deviations from the mean. Variance reflects the degree of spread in the data set. The more spread the data, the larger the variance is in relation to the mean.</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Standard deviation</a:t>
            </a:r>
          </a:p>
          <a:p>
            <a:r>
              <a:rPr lang="en-US" sz="1600" dirty="0">
                <a:latin typeface="Times New Roman" panose="02020603050405020304" pitchFamily="18" charset="0"/>
                <a:cs typeface="Times New Roman" panose="02020603050405020304" pitchFamily="18" charset="0"/>
              </a:rPr>
              <a:t>The standard deviation (s) is the average amount of variability in your dataset. It tells you, on average, how far each score lies from the mean. The larger the standard deviation, the more variable the data set is</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Inter Quartile Range (Q3-Q1)</a:t>
            </a:r>
          </a:p>
          <a:p>
            <a:endParaRPr lang="en-US" sz="1600" b="1"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pic>
        <p:nvPicPr>
          <p:cNvPr id="3" name="Picture 2" descr="Diagram&#10;&#10;Description automatically generated">
            <a:extLst>
              <a:ext uri="{FF2B5EF4-FFF2-40B4-BE49-F238E27FC236}">
                <a16:creationId xmlns:a16="http://schemas.microsoft.com/office/drawing/2014/main" id="{ED9A06DA-FEB8-8E77-77B4-59AD108AFCCE}"/>
              </a:ext>
            </a:extLst>
          </p:cNvPr>
          <p:cNvPicPr>
            <a:picLocks noChangeAspect="1"/>
          </p:cNvPicPr>
          <p:nvPr/>
        </p:nvPicPr>
        <p:blipFill>
          <a:blip r:embed="rId2"/>
          <a:stretch>
            <a:fillRect/>
          </a:stretch>
        </p:blipFill>
        <p:spPr>
          <a:xfrm>
            <a:off x="4820508" y="4013273"/>
            <a:ext cx="5388187" cy="2340640"/>
          </a:xfrm>
          <a:prstGeom prst="rect">
            <a:avLst/>
          </a:prstGeom>
        </p:spPr>
      </p:pic>
    </p:spTree>
    <p:extLst>
      <p:ext uri="{BB962C8B-B14F-4D97-AF65-F5344CB8AC3E}">
        <p14:creationId xmlns:p14="http://schemas.microsoft.com/office/powerpoint/2010/main" val="3483639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4B865ED-8C61-290F-E130-648060AB30E1}"/>
              </a:ext>
            </a:extLst>
          </p:cNvPr>
          <p:cNvSpPr>
            <a:spLocks noGrp="1"/>
          </p:cNvSpPr>
          <p:nvPr>
            <p:ph idx="1"/>
          </p:nvPr>
        </p:nvSpPr>
        <p:spPr>
          <a:xfrm>
            <a:off x="441434" y="238999"/>
            <a:ext cx="11603421" cy="6498132"/>
          </a:xfrm>
        </p:spPr>
        <p:txBody>
          <a:bodyPr>
            <a:noAutofit/>
          </a:bodyPr>
          <a:lstStyle/>
          <a:p>
            <a:pPr marL="0" indent="0">
              <a:buNone/>
            </a:pPr>
            <a:r>
              <a:rPr lang="en-US" sz="1800" b="1" dirty="0">
                <a:latin typeface="Times New Roman" panose="02020603050405020304" pitchFamily="18" charset="0"/>
                <a:ea typeface="Calibri" panose="020F0502020204030204" pitchFamily="34" charset="0"/>
                <a:cs typeface="Times New Roman" panose="02020603050405020304" pitchFamily="18" charset="0"/>
              </a:rPr>
              <a:t>Outliers</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buNone/>
            </a:pPr>
            <a:r>
              <a:rPr lang="en-US" sz="1500" dirty="0">
                <a:latin typeface="Times New Roman" panose="02020603050405020304" pitchFamily="18" charset="0"/>
                <a:ea typeface="Calibri" panose="020F0502020204030204" pitchFamily="34" charset="0"/>
                <a:cs typeface="Times New Roman" panose="02020603050405020304" pitchFamily="18" charset="0"/>
              </a:rPr>
              <a:t>Outliers are extreme values that differ from most other data points in a dataset. They can have a big impact on your statistical analyses and skew the results of any hypothesis tests.</a:t>
            </a:r>
          </a:p>
          <a:p>
            <a:pPr marL="0" lvl="0" indent="0">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There are four ways to identify outliers:</a:t>
            </a:r>
          </a:p>
          <a:p>
            <a:r>
              <a:rPr lang="en-IN" sz="1500" b="1" dirty="0">
                <a:latin typeface="Times New Roman" panose="02020603050405020304" pitchFamily="18" charset="0"/>
                <a:ea typeface="Calibri" panose="020F0502020204030204" pitchFamily="34" charset="0"/>
                <a:cs typeface="Times New Roman" panose="02020603050405020304" pitchFamily="18" charset="0"/>
              </a:rPr>
              <a:t>Sorting method</a:t>
            </a:r>
          </a:p>
          <a:p>
            <a:pPr marL="0" indent="0">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You can sort quantitative variables from low to high and scan for extremely low or extremely high values. Flag any extreme values that you find.</a:t>
            </a:r>
          </a:p>
          <a:p>
            <a:r>
              <a:rPr lang="en-IN" sz="1500" b="1" dirty="0">
                <a:latin typeface="Times New Roman" panose="02020603050405020304" pitchFamily="18" charset="0"/>
                <a:ea typeface="Calibri" panose="020F0502020204030204" pitchFamily="34" charset="0"/>
                <a:cs typeface="Times New Roman" panose="02020603050405020304" pitchFamily="18" charset="0"/>
              </a:rPr>
              <a:t>Using visualizations</a:t>
            </a:r>
          </a:p>
          <a:p>
            <a:pPr marL="0" indent="0">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You can use software to visualize your data with a box plot, or a box-and-whisker plot, so you can see the data distribution at a glance</a:t>
            </a:r>
          </a:p>
          <a:p>
            <a:r>
              <a:rPr lang="en-IN" sz="1500" b="1" dirty="0">
                <a:latin typeface="Times New Roman" panose="02020603050405020304" pitchFamily="18" charset="0"/>
                <a:ea typeface="Calibri" panose="020F0502020204030204" pitchFamily="34" charset="0"/>
                <a:cs typeface="Times New Roman" panose="02020603050405020304" pitchFamily="18" charset="0"/>
              </a:rPr>
              <a:t>Statistical outlier detection</a:t>
            </a:r>
          </a:p>
          <a:p>
            <a:pPr marL="0" indent="0">
              <a:buNone/>
            </a:pPr>
            <a:r>
              <a:rPr lang="en-IN" sz="1500" dirty="0">
                <a:latin typeface="Times New Roman" panose="02020603050405020304" pitchFamily="18" charset="0"/>
                <a:ea typeface="Calibri" panose="020F0502020204030204" pitchFamily="34" charset="0"/>
                <a:cs typeface="Times New Roman" panose="02020603050405020304" pitchFamily="18" charset="0"/>
              </a:rPr>
              <a:t>Statistical outlier detection involves applying statistical tests or procedures to identify extreme values. We can convert extreme data points into z scores (x-mean/standard deviation) that tell you how many standard deviations away they are from the mean. Values with a z score greater than 3 or less than –3 are often determined to be outliers</a:t>
            </a:r>
          </a:p>
          <a:p>
            <a:r>
              <a:rPr lang="en-IN" sz="1500" b="1" dirty="0">
                <a:latin typeface="Times New Roman" panose="02020603050405020304" pitchFamily="18" charset="0"/>
                <a:cs typeface="Times New Roman" panose="02020603050405020304" pitchFamily="18" charset="0"/>
              </a:rPr>
              <a:t>Interquartile range method</a:t>
            </a:r>
          </a:p>
          <a:p>
            <a:endParaRPr lang="en-IN" sz="1500" dirty="0">
              <a:latin typeface="Times New Roman" panose="02020603050405020304" pitchFamily="18" charset="0"/>
              <a:cs typeface="Times New Roman" panose="02020603050405020304" pitchFamily="18" charset="0"/>
            </a:endParaRPr>
          </a:p>
          <a:p>
            <a:pPr lvl="2">
              <a:buFont typeface="+mj-lt"/>
              <a:buAutoNum type="arabicPeriod"/>
            </a:pPr>
            <a:r>
              <a:rPr lang="en-IN" sz="1100" dirty="0">
                <a:latin typeface="Times New Roman" panose="02020603050405020304" pitchFamily="18" charset="0"/>
                <a:cs typeface="Times New Roman" panose="02020603050405020304" pitchFamily="18" charset="0"/>
              </a:rPr>
              <a:t>Sort your data from low to high</a:t>
            </a:r>
          </a:p>
          <a:p>
            <a:pPr lvl="2">
              <a:buFont typeface="+mj-lt"/>
              <a:buAutoNum type="arabicPeriod"/>
            </a:pPr>
            <a:r>
              <a:rPr lang="en-IN" sz="1100" dirty="0">
                <a:latin typeface="Times New Roman" panose="02020603050405020304" pitchFamily="18" charset="0"/>
                <a:cs typeface="Times New Roman" panose="02020603050405020304" pitchFamily="18" charset="0"/>
              </a:rPr>
              <a:t>Identify the first quartile (Q1), the median, and the third quartile (Q3).</a:t>
            </a:r>
          </a:p>
          <a:p>
            <a:pPr lvl="2">
              <a:buFont typeface="+mj-lt"/>
              <a:buAutoNum type="arabicPeriod"/>
            </a:pPr>
            <a:r>
              <a:rPr lang="en-IN" sz="1100" dirty="0">
                <a:latin typeface="Times New Roman" panose="02020603050405020304" pitchFamily="18" charset="0"/>
                <a:cs typeface="Times New Roman" panose="02020603050405020304" pitchFamily="18" charset="0"/>
              </a:rPr>
              <a:t>Calculate your IQR = Q3 – Q1</a:t>
            </a:r>
          </a:p>
          <a:p>
            <a:pPr lvl="2">
              <a:buFont typeface="+mj-lt"/>
              <a:buAutoNum type="arabicPeriod"/>
            </a:pPr>
            <a:r>
              <a:rPr lang="en-IN" sz="1100" dirty="0">
                <a:latin typeface="Times New Roman" panose="02020603050405020304" pitchFamily="18" charset="0"/>
                <a:cs typeface="Times New Roman" panose="02020603050405020304" pitchFamily="18" charset="0"/>
              </a:rPr>
              <a:t>Calculate your upper fence = Q3 + (1.5 * IQR)</a:t>
            </a:r>
          </a:p>
          <a:p>
            <a:pPr lvl="2">
              <a:buFont typeface="+mj-lt"/>
              <a:buAutoNum type="arabicPeriod"/>
            </a:pPr>
            <a:r>
              <a:rPr lang="en-IN" sz="1100" dirty="0">
                <a:latin typeface="Times New Roman" panose="02020603050405020304" pitchFamily="18" charset="0"/>
                <a:cs typeface="Times New Roman" panose="02020603050405020304" pitchFamily="18" charset="0"/>
              </a:rPr>
              <a:t>Calculate your lower fence = Q1 – (1.5 * IQR)</a:t>
            </a:r>
          </a:p>
          <a:p>
            <a:pPr lvl="2">
              <a:buFont typeface="+mj-lt"/>
              <a:buAutoNum type="arabicPeriod"/>
            </a:pPr>
            <a:r>
              <a:rPr lang="en-IN" sz="1100" dirty="0">
                <a:latin typeface="Times New Roman" panose="02020603050405020304" pitchFamily="18" charset="0"/>
                <a:cs typeface="Times New Roman" panose="02020603050405020304" pitchFamily="18" charset="0"/>
              </a:rPr>
              <a:t>Use your fences to highlight any outliers, all values that fall outside your fences.</a:t>
            </a:r>
          </a:p>
          <a:p>
            <a:pPr marL="914400" lvl="2" indent="0">
              <a:buNone/>
            </a:pPr>
            <a:r>
              <a:rPr lang="en-IN" sz="1100" dirty="0">
                <a:latin typeface="Times New Roman" panose="02020603050405020304" pitchFamily="18" charset="0"/>
                <a:cs typeface="Times New Roman" panose="02020603050405020304" pitchFamily="18" charset="0"/>
              </a:rPr>
              <a:t>            Outliers are any values greater than your upper fence or less than your lower fence</a:t>
            </a:r>
          </a:p>
          <a:p>
            <a:pPr marL="0" indent="0">
              <a:buNone/>
            </a:pP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lvl="1"/>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a:p>
            <a:pPr marL="457200" lvl="1" indent="0">
              <a:buNone/>
            </a:pP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500" b="0" i="0" dirty="0">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1D3053B-C242-77F4-781C-4FB4A004B060}"/>
              </a:ext>
            </a:extLst>
          </p:cNvPr>
          <p:cNvPicPr>
            <a:picLocks noChangeAspect="1"/>
          </p:cNvPicPr>
          <p:nvPr/>
        </p:nvPicPr>
        <p:blipFill rotWithShape="1">
          <a:blip r:embed="rId3"/>
          <a:srcRect l="1711" t="4406" r="2679" b="12992"/>
          <a:stretch/>
        </p:blipFill>
        <p:spPr>
          <a:xfrm>
            <a:off x="7262949" y="4094310"/>
            <a:ext cx="3814353" cy="2070557"/>
          </a:xfrm>
          <a:prstGeom prst="rect">
            <a:avLst/>
          </a:prstGeom>
        </p:spPr>
      </p:pic>
    </p:spTree>
    <p:extLst>
      <p:ext uri="{BB962C8B-B14F-4D97-AF65-F5344CB8AC3E}">
        <p14:creationId xmlns:p14="http://schemas.microsoft.com/office/powerpoint/2010/main" val="816305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F1A58E5-4C24-76CE-1216-0058CAD7A5D9}"/>
              </a:ext>
            </a:extLst>
          </p:cNvPr>
          <p:cNvSpPr txBox="1"/>
          <p:nvPr/>
        </p:nvSpPr>
        <p:spPr>
          <a:xfrm>
            <a:off x="248194" y="1"/>
            <a:ext cx="11760515" cy="6986528"/>
          </a:xfrm>
          <a:prstGeom prst="rect">
            <a:avLst/>
          </a:prstGeom>
          <a:noFill/>
        </p:spPr>
        <p:txBody>
          <a:bodyPr wrap="square">
            <a:spAutoFit/>
          </a:bodyPr>
          <a:lstStyle/>
          <a:p>
            <a:pPr lvl="0"/>
            <a:endParaRPr lang="en-US" sz="1600" b="1" dirty="0">
              <a:effectLst/>
              <a:latin typeface="Times New Roman" panose="02020603050405020304" pitchFamily="18" charset="0"/>
              <a:ea typeface="Calibri" panose="020F0502020204030204" pitchFamily="34" charset="0"/>
              <a:cs typeface="Times New Roman" panose="02020603050405020304" pitchFamily="18" charset="0"/>
            </a:endParaRPr>
          </a:p>
          <a:p>
            <a:pPr lvl="0"/>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Measure of Shape</a:t>
            </a:r>
            <a:endParaRPr lang="en-IN" sz="1600" b="1" dirty="0">
              <a:latin typeface="Times New Roman" panose="02020603050405020304" pitchFamily="18" charset="0"/>
              <a:ea typeface="Calibri" panose="020F0502020204030204" pitchFamily="34"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All different shapes can be divided into two major categories</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Symmetrical</a:t>
            </a:r>
          </a:p>
          <a:p>
            <a:r>
              <a:rPr lang="en-US" sz="1600" dirty="0">
                <a:latin typeface="Times New Roman" panose="02020603050405020304" pitchFamily="18" charset="0"/>
                <a:cs typeface="Times New Roman" panose="02020603050405020304" pitchFamily="18" charset="0"/>
              </a:rPr>
              <a:t>When we divide the data from the middle then we have equal amount of data on both the sides</a:t>
            </a:r>
            <a:r>
              <a:rPr lang="en-IN" sz="1600" b="0" i="0" dirty="0">
                <a:solidFill>
                  <a:srgbClr val="333333"/>
                </a:solidFill>
                <a:effectLst/>
                <a:latin typeface="Times New Roman" panose="02020603050405020304" pitchFamily="18" charset="0"/>
                <a:cs typeface="Times New Roman" panose="02020603050405020304" pitchFamily="18" charset="0"/>
              </a:rPr>
              <a:t> i.e.,</a:t>
            </a:r>
            <a:r>
              <a:rPr lang="en-IN" sz="1600" dirty="0">
                <a:solidFill>
                  <a:srgbClr val="333333"/>
                </a:solidFill>
                <a:latin typeface="Times New Roman" panose="02020603050405020304" pitchFamily="18" charset="0"/>
                <a:cs typeface="Times New Roman" panose="02020603050405020304" pitchFamily="18" charset="0"/>
              </a:rPr>
              <a:t> </a:t>
            </a:r>
            <a:r>
              <a:rPr lang="en-IN" sz="1600" b="0" i="0" dirty="0">
                <a:solidFill>
                  <a:srgbClr val="333333"/>
                </a:solidFill>
                <a:effectLst/>
                <a:latin typeface="Times New Roman" panose="02020603050405020304" pitchFamily="18" charset="0"/>
                <a:cs typeface="Times New Roman" panose="02020603050405020304" pitchFamily="18" charset="0"/>
              </a:rPr>
              <a:t>two sides of the distribution are a mirror image of each other</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For example, Gaussian (aka Normal) distribution </a:t>
            </a:r>
          </a:p>
          <a:p>
            <a:r>
              <a:rPr lang="en-US" sz="1600" dirty="0">
                <a:latin typeface="Times New Roman" panose="02020603050405020304" pitchFamily="18" charset="0"/>
                <a:cs typeface="Times New Roman" panose="02020603050405020304" pitchFamily="18" charset="0"/>
              </a:rPr>
              <a:t>                        Rectangular Distribution</a:t>
            </a:r>
          </a:p>
          <a:p>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Normal (Gaussian) distribution</a:t>
            </a:r>
          </a:p>
          <a:p>
            <a:pPr marL="857250" lvl="1" indent="-400050">
              <a:buFont typeface="+mj-lt"/>
              <a:buAutoNum type="romanUcPeriod"/>
            </a:pPr>
            <a:r>
              <a:rPr lang="en-US" sz="1600" dirty="0">
                <a:latin typeface="Times New Roman" panose="02020603050405020304" pitchFamily="18" charset="0"/>
                <a:cs typeface="Times New Roman" panose="02020603050405020304" pitchFamily="18" charset="0"/>
              </a:rPr>
              <a:t>It is known to have a bell-shaped curve.</a:t>
            </a:r>
          </a:p>
          <a:p>
            <a:pPr marL="857250" lvl="1" indent="-400050">
              <a:buFont typeface="+mj-lt"/>
              <a:buAutoNum type="romanUcPeriod"/>
            </a:pPr>
            <a:r>
              <a:rPr lang="en-US" sz="1600" dirty="0">
                <a:latin typeface="Times New Roman" panose="02020603050405020304" pitchFamily="18" charset="0"/>
                <a:cs typeface="Times New Roman" panose="02020603050405020304" pitchFamily="18" charset="0"/>
              </a:rPr>
              <a:t>This distribution is observed when the mean of the data is same as the median and it is same as the mode i.e., mean=median=mode</a:t>
            </a:r>
          </a:p>
          <a:p>
            <a:pPr marL="857250" lvl="1" indent="-400050">
              <a:buFont typeface="+mj-lt"/>
              <a:buAutoNum type="romanUcPeriod"/>
            </a:pPr>
            <a:r>
              <a:rPr lang="en-US" sz="1600" dirty="0">
                <a:latin typeface="Times New Roman" panose="02020603050405020304" pitchFamily="18" charset="0"/>
                <a:cs typeface="Times New Roman" panose="02020603050405020304" pitchFamily="18" charset="0"/>
              </a:rPr>
              <a:t> Most of the data are clustered around the centre, About 68% of values lie within one standard deviation (</a:t>
            </a:r>
            <a:r>
              <a:rPr lang="el-GR" sz="1600" dirty="0">
                <a:latin typeface="Times New Roman" panose="02020603050405020304" pitchFamily="18" charset="0"/>
                <a:cs typeface="Times New Roman" panose="02020603050405020304" pitchFamily="18" charset="0"/>
              </a:rPr>
              <a:t>σ) </a:t>
            </a:r>
            <a:r>
              <a:rPr lang="en-US" sz="1600" dirty="0">
                <a:latin typeface="Times New Roman" panose="02020603050405020304" pitchFamily="18" charset="0"/>
                <a:cs typeface="Times New Roman" panose="02020603050405020304" pitchFamily="18" charset="0"/>
              </a:rPr>
              <a:t>away from the mean; about 95% of the values lie within two standard deviations; and about 99.7% are within three standard deviations. </a:t>
            </a:r>
            <a:r>
              <a:rPr lang="en-US" sz="1600" b="1" dirty="0">
                <a:latin typeface="Times New Roman" panose="02020603050405020304" pitchFamily="18" charset="0"/>
                <a:cs typeface="Times New Roman" panose="02020603050405020304" pitchFamily="18" charset="0"/>
              </a:rPr>
              <a:t>This is known as the empirical rule or the 3-sigma rule</a:t>
            </a:r>
          </a:p>
          <a:p>
            <a:pPr marL="857250" lvl="1" indent="-400050">
              <a:buFont typeface="+mj-lt"/>
              <a:buAutoNum type="romanUcPeriod"/>
            </a:pPr>
            <a:r>
              <a:rPr lang="en-US" sz="1600" dirty="0">
                <a:latin typeface="Times New Roman" panose="02020603050405020304" pitchFamily="18" charset="0"/>
                <a:cs typeface="Times New Roman" panose="02020603050405020304" pitchFamily="18" charset="0"/>
              </a:rPr>
              <a:t>Given a sufficiently large sample size, the sampling distribution of the mean for a variable will approximate a normal distribution regardless of that variable’s distribution in the population. This is known as </a:t>
            </a:r>
            <a:r>
              <a:rPr lang="en-US" sz="1600" b="1" dirty="0">
                <a:latin typeface="Times New Roman" panose="02020603050405020304" pitchFamily="18" charset="0"/>
                <a:cs typeface="Times New Roman" panose="02020603050405020304" pitchFamily="18" charset="0"/>
              </a:rPr>
              <a:t>Central limit theorem </a:t>
            </a:r>
            <a:endParaRPr lang="en-US" sz="1600" dirty="0">
              <a:latin typeface="Times New Roman" panose="02020603050405020304" pitchFamily="18" charset="0"/>
              <a:cs typeface="Times New Roman" panose="02020603050405020304" pitchFamily="18" charset="0"/>
            </a:endParaRPr>
          </a:p>
          <a:p>
            <a:pPr lvl="1"/>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 Asymmetrical </a:t>
            </a:r>
          </a:p>
          <a:p>
            <a:r>
              <a:rPr lang="en-US" sz="1600" dirty="0">
                <a:latin typeface="Times New Roman" panose="02020603050405020304" pitchFamily="18" charset="0"/>
                <a:cs typeface="Times New Roman" panose="02020603050405020304" pitchFamily="18" charset="0"/>
              </a:rPr>
              <a:t>            When we divide the data from the middle then we have do not have equal amount of data on both the sides. Asymmetry is    	conceptualized through the concept of skewness  </a:t>
            </a:r>
          </a:p>
          <a:p>
            <a:r>
              <a:rPr lang="en-US" sz="1600" dirty="0">
                <a:latin typeface="Times New Roman" panose="02020603050405020304" pitchFamily="18" charset="0"/>
                <a:cs typeface="Times New Roman" panose="02020603050405020304" pitchFamily="18" charset="0"/>
              </a:rPr>
              <a:t> </a:t>
            </a:r>
          </a:p>
          <a:p>
            <a:r>
              <a:rPr lang="en-IN" sz="1600" b="1" i="0" dirty="0">
                <a:solidFill>
                  <a:srgbClr val="333333"/>
                </a:solidFill>
                <a:effectLst/>
                <a:latin typeface="Times New Roman" panose="02020603050405020304" pitchFamily="18" charset="0"/>
                <a:cs typeface="Times New Roman" panose="02020603050405020304" pitchFamily="18" charset="0"/>
              </a:rPr>
              <a:t>                          Skewness is the tendency for the values to be more frequent around the high or low ends of the x-axis.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endParaRPr lang="en-US" sz="1600" b="1" dirty="0">
              <a:latin typeface="Times New Roman" panose="02020603050405020304" pitchFamily="18" charset="0"/>
              <a:cs typeface="Times New Roman" panose="02020603050405020304" pitchFamily="18" charset="0"/>
            </a:endParaRPr>
          </a:p>
          <a:p>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pic>
        <p:nvPicPr>
          <p:cNvPr id="3" name="Picture 2" descr="Chart, histogram&#10;&#10;Description automatically generated">
            <a:extLst>
              <a:ext uri="{FF2B5EF4-FFF2-40B4-BE49-F238E27FC236}">
                <a16:creationId xmlns:a16="http://schemas.microsoft.com/office/drawing/2014/main" id="{A29C6425-7FDA-B8AE-5E98-3750F9D4E212}"/>
              </a:ext>
            </a:extLst>
          </p:cNvPr>
          <p:cNvPicPr>
            <a:picLocks noChangeAspect="1"/>
          </p:cNvPicPr>
          <p:nvPr/>
        </p:nvPicPr>
        <p:blipFill>
          <a:blip r:embed="rId3"/>
          <a:stretch>
            <a:fillRect/>
          </a:stretch>
        </p:blipFill>
        <p:spPr>
          <a:xfrm>
            <a:off x="7916090" y="1605527"/>
            <a:ext cx="3082835" cy="1402177"/>
          </a:xfrm>
          <a:prstGeom prst="rect">
            <a:avLst/>
          </a:prstGeom>
        </p:spPr>
      </p:pic>
    </p:spTree>
    <p:extLst>
      <p:ext uri="{BB962C8B-B14F-4D97-AF65-F5344CB8AC3E}">
        <p14:creationId xmlns:p14="http://schemas.microsoft.com/office/powerpoint/2010/main" val="1523199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337" name="Rectangle 11288">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338" name="Group 1129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1292" name="Rectangle 1129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9" name="Rectangle 1129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340" name="Rectangle 1129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C992C5E-46FE-59D7-9F98-5046E43BBEED}"/>
              </a:ext>
            </a:extLst>
          </p:cNvPr>
          <p:cNvSpPr>
            <a:spLocks noChangeArrowheads="1"/>
          </p:cNvSpPr>
          <p:nvPr/>
        </p:nvSpPr>
        <p:spPr bwMode="auto">
          <a:xfrm>
            <a:off x="513585" y="222422"/>
            <a:ext cx="5278066" cy="62066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fontAlgn="base">
              <a:lnSpc>
                <a:spcPct val="90000"/>
              </a:lnSpc>
              <a:spcBef>
                <a:spcPct val="0"/>
              </a:spcBef>
              <a:spcAft>
                <a:spcPts val="600"/>
              </a:spcAft>
            </a:pP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A distribution is said to be </a:t>
            </a: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positively skewed</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(right </a:t>
            </a:r>
            <a:r>
              <a:rPr lang="en-US" altLang="en-US" sz="1400" dirty="0">
                <a:latin typeface="Times New Roman" panose="02020603050405020304" pitchFamily="18" charset="0"/>
                <a:cs typeface="Times New Roman" panose="02020603050405020304" pitchFamily="18" charset="0"/>
              </a:rPr>
              <a:t>s</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kewed) when the tail on the right side of the histogram is longer than the left side. Most of the values tend to cluster toward the left side of the x-axis</a:t>
            </a:r>
          </a:p>
          <a:p>
            <a:pPr fontAlgn="base">
              <a:lnSpc>
                <a:spcPct val="90000"/>
              </a:lnSpc>
              <a:spcBef>
                <a:spcPct val="0"/>
              </a:spcBef>
              <a:spcAft>
                <a:spcPts val="600"/>
              </a:spcAft>
            </a:pP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A distribution is said to be </a:t>
            </a: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negatively skewed</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(left skewed)when the tail on the left side of the histogram is longer than the right side. Most of the values tend to cluster toward the right side of the x-axis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fontAlgn="base">
              <a:lnSpc>
                <a:spcPct val="90000"/>
              </a:lnSpc>
              <a:spcBef>
                <a:spcPct val="0"/>
              </a:spcBef>
              <a:spcAft>
                <a:spcPts val="600"/>
              </a:spcAft>
            </a:pPr>
            <a:endParaRPr lang="en-US" altLang="en-US" sz="1400" dirty="0">
              <a:latin typeface="Times New Roman" panose="02020603050405020304" pitchFamily="18" charset="0"/>
              <a:cs typeface="Times New Roman" panose="02020603050405020304" pitchFamily="18" charset="0"/>
            </a:endParaRPr>
          </a:p>
          <a:p>
            <a:pPr fontAlgn="base">
              <a:lnSpc>
                <a:spcPct val="90000"/>
              </a:lnSpc>
              <a:spcBef>
                <a:spcPct val="0"/>
              </a:spcBef>
              <a:spcAft>
                <a:spcPts val="600"/>
              </a:spcAft>
            </a:pPr>
            <a:endPar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fontAlgn="base">
              <a:lnSpc>
                <a:spcPct val="90000"/>
              </a:lnSpc>
              <a:spcBef>
                <a:spcPct val="0"/>
              </a:spcBef>
              <a:spcAft>
                <a:spcPts val="600"/>
              </a:spcAft>
            </a:pPr>
            <a:endParaRPr lang="en-US" altLang="en-US" sz="1400" dirty="0">
              <a:latin typeface="Times New Roman" panose="02020603050405020304" pitchFamily="18" charset="0"/>
              <a:cs typeface="Times New Roman" panose="02020603050405020304" pitchFamily="18" charset="0"/>
            </a:endParaRPr>
          </a:p>
          <a:p>
            <a:pPr fontAlgn="base">
              <a:lnSpc>
                <a:spcPct val="90000"/>
              </a:lnSpc>
              <a:spcBef>
                <a:spcPct val="0"/>
              </a:spcBef>
              <a:spcAft>
                <a:spcPts val="600"/>
              </a:spcAft>
            </a:pPr>
            <a:endPar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fontAlgn="base">
              <a:lnSpc>
                <a:spcPct val="90000"/>
              </a:lnSpc>
              <a:spcBef>
                <a:spcPct val="0"/>
              </a:spcBef>
              <a:spcAft>
                <a:spcPts val="600"/>
              </a:spcAft>
            </a:pPr>
            <a:endPar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fontAlgn="base">
              <a:lnSpc>
                <a:spcPct val="90000"/>
              </a:lnSpc>
              <a:spcBef>
                <a:spcPct val="0"/>
              </a:spcBef>
              <a:spcAft>
                <a:spcPts val="600"/>
              </a:spcAft>
            </a:pP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Key features of the </a:t>
            </a: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skewed distribution</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asymmetrical shape</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mean and median have different values and do not all lie at the centre of the curve</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there can be more than one mode</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the distribution of the data tends towards the high or low end of the dataset</a:t>
            </a:r>
          </a:p>
        </p:txBody>
      </p:sp>
      <p:sp>
        <p:nvSpPr>
          <p:cNvPr id="11341" name="Rectangle 1129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2" name="Rectangle 1129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Graph: Height of Students">
            <a:extLst>
              <a:ext uri="{FF2B5EF4-FFF2-40B4-BE49-F238E27FC236}">
                <a16:creationId xmlns:a16="http://schemas.microsoft.com/office/drawing/2014/main" id="{7ACAC7E7-4810-184A-3E2C-6C6536D6B6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762" r="4" b="4"/>
          <a:stretch/>
        </p:blipFill>
        <p:spPr bwMode="auto">
          <a:xfrm>
            <a:off x="7083423" y="581892"/>
            <a:ext cx="4397433" cy="2518756"/>
          </a:xfrm>
          <a:prstGeom prst="rect">
            <a:avLst/>
          </a:prstGeom>
          <a:noFill/>
          <a:extLst>
            <a:ext uri="{909E8E84-426E-40DD-AFC4-6F175D3DCCD1}">
              <a14:hiddenFill xmlns:a14="http://schemas.microsoft.com/office/drawing/2010/main">
                <a:solidFill>
                  <a:srgbClr val="FFFFFF"/>
                </a:solidFill>
              </a14:hiddenFill>
            </a:ext>
          </a:extLst>
        </p:spPr>
      </p:pic>
      <p:sp>
        <p:nvSpPr>
          <p:cNvPr id="11343" name="Rectangle 11300">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7" name="Picture 3" descr="Graph: Height of Students">
            <a:extLst>
              <a:ext uri="{FF2B5EF4-FFF2-40B4-BE49-F238E27FC236}">
                <a16:creationId xmlns:a16="http://schemas.microsoft.com/office/drawing/2014/main" id="{F7F7008B-E3B6-98A9-67DA-130FED8592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470" r="2" b="1500"/>
          <a:stretch/>
        </p:blipFill>
        <p:spPr bwMode="auto">
          <a:xfrm>
            <a:off x="7083423" y="3707894"/>
            <a:ext cx="4395569" cy="25187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Graphical user interface, application&#10;&#10;Description automatically generated">
            <a:extLst>
              <a:ext uri="{FF2B5EF4-FFF2-40B4-BE49-F238E27FC236}">
                <a16:creationId xmlns:a16="http://schemas.microsoft.com/office/drawing/2014/main" id="{B47282A1-E4A8-E29F-AE7D-6135F8D80B99}"/>
              </a:ext>
            </a:extLst>
          </p:cNvPr>
          <p:cNvPicPr>
            <a:picLocks noChangeAspect="1"/>
          </p:cNvPicPr>
          <p:nvPr/>
        </p:nvPicPr>
        <p:blipFill rotWithShape="1">
          <a:blip r:embed="rId4"/>
          <a:srcRect l="15256" t="27711" r="13946" b="-1875"/>
          <a:stretch/>
        </p:blipFill>
        <p:spPr>
          <a:xfrm>
            <a:off x="513584" y="2373675"/>
            <a:ext cx="4153988" cy="1789611"/>
          </a:xfrm>
          <a:prstGeom prst="rect">
            <a:avLst/>
          </a:prstGeom>
        </p:spPr>
      </p:pic>
    </p:spTree>
    <p:extLst>
      <p:ext uri="{BB962C8B-B14F-4D97-AF65-F5344CB8AC3E}">
        <p14:creationId xmlns:p14="http://schemas.microsoft.com/office/powerpoint/2010/main" val="1546085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87" name="Rectangle 1066">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8" name="Group 1068">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7956356" y="1890469"/>
            <a:ext cx="5860051" cy="2079143"/>
            <a:chOff x="6081624" y="1998368"/>
            <a:chExt cx="5613457" cy="782175"/>
          </a:xfrm>
          <a:solidFill>
            <a:schemeClr val="accent4"/>
          </a:solidFill>
        </p:grpSpPr>
        <p:sp>
          <p:nvSpPr>
            <p:cNvPr id="1070" name="Rectangle 1069">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70">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90" name="Rectangle 1072">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ABB7E4-71CD-5F05-3688-97843D59DB57}"/>
              </a:ext>
            </a:extLst>
          </p:cNvPr>
          <p:cNvSpPr>
            <a:spLocks noGrp="1"/>
          </p:cNvSpPr>
          <p:nvPr>
            <p:ph idx="1"/>
          </p:nvPr>
        </p:nvSpPr>
        <p:spPr>
          <a:xfrm>
            <a:off x="579528" y="513317"/>
            <a:ext cx="10515600" cy="6107451"/>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other common measure of shape is called the kurtosis.</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Kurtosis deals with the height  of the data</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We have 3 types of kurtosis</a:t>
            </a:r>
          </a:p>
          <a:p>
            <a:pPr marL="342900" lvl="2" indent="-285750">
              <a:spcBef>
                <a:spcPts val="0"/>
              </a:spcBef>
              <a:spcAft>
                <a:spcPts val="600"/>
              </a:spcAf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+ve kurtosis (Leptokurtic)</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We have an abnormally high peak (too much values of central tendency)</a:t>
            </a:r>
          </a:p>
          <a:p>
            <a:pPr marL="342900" lvl="2" indent="-285750">
              <a:spcBef>
                <a:spcPts val="0"/>
              </a:spcBef>
              <a:spcAft>
                <a:spcPts val="600"/>
              </a:spcAf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-ve kurtosis (Platykurtic)</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We have an no peak i.e., it is like a plateau(no distinctive central tendency)</a:t>
            </a:r>
          </a:p>
          <a:p>
            <a:pPr marL="342900" lvl="2" indent="-285750">
              <a:spcBef>
                <a:spcPts val="0"/>
              </a:spcBef>
              <a:spcAft>
                <a:spcPts val="600"/>
              </a:spcAf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Zero kurtosis (Mesokurtic)</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It is same as the normal distribution, neither high or flat peak.</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Bi-modal or Multi-Modal</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This is the case when we have more than one mode in the data</a:t>
            </a:r>
          </a:p>
          <a:p>
            <a:pPr marL="0" marR="0" lvl="2"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We have wave shaped distribution commonly associated with multi-modal data</a:t>
            </a:r>
          </a:p>
          <a:p>
            <a:pPr marL="0" marR="0" lvl="2" indent="0" algn="l" defTabSz="914400" rtl="0" eaLnBrk="1" fontAlgn="auto" latinLnBrk="0" hangingPunct="1">
              <a:lnSpc>
                <a:spcPct val="9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0"/>
              </a:spcBef>
              <a:spcAft>
                <a:spcPts val="600"/>
              </a:spcAft>
              <a:buClrTx/>
              <a:buSzTx/>
              <a:buFontTx/>
              <a:buNone/>
              <a:tabLst/>
              <a:defRPr/>
            </a:pP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sz="1600" dirty="0"/>
          </a:p>
        </p:txBody>
      </p:sp>
      <p:pic>
        <p:nvPicPr>
          <p:cNvPr id="4" name="Picture 3">
            <a:extLst>
              <a:ext uri="{FF2B5EF4-FFF2-40B4-BE49-F238E27FC236}">
                <a16:creationId xmlns:a16="http://schemas.microsoft.com/office/drawing/2014/main" id="{B97C5337-3151-DF57-6124-1CF4E723ECFE}"/>
              </a:ext>
            </a:extLst>
          </p:cNvPr>
          <p:cNvPicPr>
            <a:picLocks noChangeAspect="1"/>
          </p:cNvPicPr>
          <p:nvPr/>
        </p:nvPicPr>
        <p:blipFill>
          <a:blip r:embed="rId3"/>
          <a:stretch>
            <a:fillRect/>
          </a:stretch>
        </p:blipFill>
        <p:spPr>
          <a:xfrm>
            <a:off x="6862405" y="1248987"/>
            <a:ext cx="4714225" cy="2569251"/>
          </a:xfrm>
          <a:prstGeom prst="rect">
            <a:avLst/>
          </a:prstGeom>
        </p:spPr>
      </p:pic>
      <p:pic>
        <p:nvPicPr>
          <p:cNvPr id="5" name="Picture 4" descr="Table&#10;&#10;Description automatically generated">
            <a:extLst>
              <a:ext uri="{FF2B5EF4-FFF2-40B4-BE49-F238E27FC236}">
                <a16:creationId xmlns:a16="http://schemas.microsoft.com/office/drawing/2014/main" id="{6C5B91FC-B535-94A4-A60A-AACFC4C739C7}"/>
              </a:ext>
            </a:extLst>
          </p:cNvPr>
          <p:cNvPicPr>
            <a:picLocks noChangeAspect="1"/>
          </p:cNvPicPr>
          <p:nvPr/>
        </p:nvPicPr>
        <p:blipFill>
          <a:blip r:embed="rId4"/>
          <a:stretch>
            <a:fillRect/>
          </a:stretch>
        </p:blipFill>
        <p:spPr>
          <a:xfrm>
            <a:off x="7533403" y="3683149"/>
            <a:ext cx="3802476" cy="1362775"/>
          </a:xfrm>
          <a:prstGeom prst="rect">
            <a:avLst/>
          </a:prstGeom>
        </p:spPr>
      </p:pic>
    </p:spTree>
    <p:extLst>
      <p:ext uri="{BB962C8B-B14F-4D97-AF65-F5344CB8AC3E}">
        <p14:creationId xmlns:p14="http://schemas.microsoft.com/office/powerpoint/2010/main" val="3979968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 name="Rectangle 1062">
            <a:extLst>
              <a:ext uri="{FF2B5EF4-FFF2-40B4-BE49-F238E27FC236}">
                <a16:creationId xmlns:a16="http://schemas.microsoft.com/office/drawing/2014/main" id="{5DD103AA-7536-490B-973F-73CA63A7E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1060" name="Graphic 1059" descr="Statistics">
            <a:extLst>
              <a:ext uri="{FF2B5EF4-FFF2-40B4-BE49-F238E27FC236}">
                <a16:creationId xmlns:a16="http://schemas.microsoft.com/office/drawing/2014/main" id="{0D0CB4BC-087F-A5ED-74BC-88D8D0A68CF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570706"/>
            <a:ext cx="914400" cy="914400"/>
          </a:xfrm>
          <a:prstGeom prst="rect">
            <a:avLst/>
          </a:prstGeom>
        </p:spPr>
      </p:pic>
      <p:sp>
        <p:nvSpPr>
          <p:cNvPr id="4" name="TextBox 3">
            <a:extLst>
              <a:ext uri="{FF2B5EF4-FFF2-40B4-BE49-F238E27FC236}">
                <a16:creationId xmlns:a16="http://schemas.microsoft.com/office/drawing/2014/main" id="{AF1A58E5-4C24-76CE-1216-0058CAD7A5D9}"/>
              </a:ext>
            </a:extLst>
          </p:cNvPr>
          <p:cNvSpPr txBox="1"/>
          <p:nvPr/>
        </p:nvSpPr>
        <p:spPr>
          <a:xfrm>
            <a:off x="838200" y="1825625"/>
            <a:ext cx="10515600" cy="4351338"/>
          </a:xfrm>
          <a:prstGeom prst="rect">
            <a:avLst/>
          </a:prstGeom>
        </p:spPr>
        <p:txBody>
          <a:bodyPr vert="horz" lIns="91440" tIns="45720" rIns="91440" bIns="45720" rtlCol="0">
            <a:normAutofit lnSpcReduction="10000"/>
          </a:bodyPr>
          <a:lstStyle/>
          <a:p>
            <a:pPr>
              <a:lnSpc>
                <a:spcPct val="90000"/>
              </a:lnSpc>
              <a:spcAft>
                <a:spcPts val="600"/>
              </a:spcAft>
            </a:pPr>
            <a:r>
              <a:rPr lang="en-US" sz="1700" b="1" dirty="0">
                <a:latin typeface="Times New Roman" panose="02020603050405020304" pitchFamily="18" charset="0"/>
                <a:cs typeface="Times New Roman" panose="02020603050405020304" pitchFamily="18" charset="0"/>
              </a:rPr>
              <a:t>Measures of Association between Variables</a:t>
            </a:r>
          </a:p>
          <a:p>
            <a:pPr>
              <a:lnSpc>
                <a:spcPct val="90000"/>
              </a:lnSpc>
              <a:spcAft>
                <a:spcPts val="600"/>
              </a:spcAft>
            </a:pPr>
            <a:endParaRPr lang="en-US" sz="1700" b="1" dirty="0">
              <a:latin typeface="Times New Roman" panose="02020603050405020304" pitchFamily="18" charset="0"/>
              <a:cs typeface="Times New Roman" panose="02020603050405020304" pitchFamily="18" charset="0"/>
            </a:endParaRPr>
          </a:p>
          <a:p>
            <a:pPr>
              <a:lnSpc>
                <a:spcPct val="90000"/>
              </a:lnSpc>
              <a:spcAft>
                <a:spcPts val="600"/>
              </a:spcAft>
            </a:pPr>
            <a:r>
              <a:rPr lang="en-US" sz="1700" dirty="0">
                <a:latin typeface="Times New Roman" panose="02020603050405020304" pitchFamily="18" charset="0"/>
                <a:cs typeface="Times New Roman" panose="02020603050405020304" pitchFamily="18" charset="0"/>
              </a:rPr>
              <a:t>We will now consider the two measures that can be </a:t>
            </a:r>
          </a:p>
          <a:p>
            <a:pPr>
              <a:lnSpc>
                <a:spcPct val="90000"/>
              </a:lnSpc>
              <a:spcAft>
                <a:spcPts val="600"/>
              </a:spcAft>
            </a:pPr>
            <a:r>
              <a:rPr lang="en-US" sz="1700" dirty="0">
                <a:latin typeface="Times New Roman" panose="02020603050405020304" pitchFamily="18" charset="0"/>
                <a:cs typeface="Times New Roman" panose="02020603050405020304" pitchFamily="18" charset="0"/>
              </a:rPr>
              <a:t>used to measure the relationship between two variables</a:t>
            </a:r>
          </a:p>
          <a:p>
            <a:pPr>
              <a:lnSpc>
                <a:spcPct val="90000"/>
              </a:lnSpc>
              <a:spcAft>
                <a:spcPts val="600"/>
              </a:spcAft>
            </a:pPr>
            <a:endParaRPr lang="en-US" sz="1700" dirty="0">
              <a:latin typeface="Times New Roman" panose="02020603050405020304" pitchFamily="18" charset="0"/>
              <a:cs typeface="Times New Roman" panose="02020603050405020304" pitchFamily="18" charset="0"/>
            </a:endParaRPr>
          </a:p>
          <a:p>
            <a:pPr marL="114300">
              <a:lnSpc>
                <a:spcPct val="90000"/>
              </a:lnSpc>
              <a:spcAft>
                <a:spcPts val="600"/>
              </a:spcAft>
            </a:pPr>
            <a:r>
              <a:rPr lang="en-US" sz="1700" dirty="0">
                <a:latin typeface="Times New Roman" panose="02020603050405020304" pitchFamily="18" charset="0"/>
                <a:cs typeface="Times New Roman" panose="02020603050405020304" pitchFamily="18" charset="0"/>
              </a:rPr>
              <a:t>Covariance</a:t>
            </a:r>
          </a:p>
          <a:p>
            <a:pPr marL="114300">
              <a:lnSpc>
                <a:spcPct val="90000"/>
              </a:lnSpc>
              <a:spcAft>
                <a:spcPts val="600"/>
              </a:spcAft>
            </a:pPr>
            <a:r>
              <a:rPr lang="en-US" sz="1700" dirty="0">
                <a:latin typeface="Times New Roman" panose="02020603050405020304" pitchFamily="18" charset="0"/>
                <a:cs typeface="Times New Roman" panose="02020603050405020304" pitchFamily="18" charset="0"/>
              </a:rPr>
              <a:t>Correlation coefficient</a:t>
            </a:r>
          </a:p>
          <a:p>
            <a:pPr>
              <a:lnSpc>
                <a:spcPct val="90000"/>
              </a:lnSpc>
              <a:spcAft>
                <a:spcPts val="600"/>
              </a:spcAft>
            </a:pPr>
            <a:r>
              <a:rPr lang="en-US" sz="1700" dirty="0">
                <a:latin typeface="Times New Roman" panose="02020603050405020304" pitchFamily="18" charset="0"/>
                <a:cs typeface="Times New Roman" panose="02020603050405020304" pitchFamily="18" charset="0"/>
              </a:rPr>
              <a:t> </a:t>
            </a:r>
          </a:p>
          <a:p>
            <a:pPr marL="342900" indent="-285750">
              <a:lnSpc>
                <a:spcPct val="90000"/>
              </a:lnSpc>
              <a:spcAft>
                <a:spcPts val="600"/>
              </a:spcAf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If the covariance and correlation values are positive, this indicates that the two variables are positively related. In other words, when one increases, the other one generally also increases.</a:t>
            </a:r>
          </a:p>
          <a:p>
            <a:pPr marL="342900" indent="-285750">
              <a:lnSpc>
                <a:spcPct val="90000"/>
              </a:lnSpc>
              <a:spcAft>
                <a:spcPts val="600"/>
              </a:spcAf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On the other hand, if the covariance and correlation values are negative, this indicates that the two variables are negatively related. That is, when one increases, the other will typically decrease.</a:t>
            </a:r>
          </a:p>
          <a:p>
            <a:pPr marL="342900" indent="-285750">
              <a:lnSpc>
                <a:spcPct val="90000"/>
              </a:lnSpc>
              <a:spcAft>
                <a:spcPts val="600"/>
              </a:spcAf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Covariance and correlation values of 0 indicate that the two variables are unrelated (at least in a linear sense)</a:t>
            </a:r>
          </a:p>
          <a:p>
            <a:pPr marL="342900" indent="-285750">
              <a:lnSpc>
                <a:spcPct val="90000"/>
              </a:lnSpc>
              <a:spcAft>
                <a:spcPts val="600"/>
              </a:spcAf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Correlation coefficient is always between -1 and 1. The closer |r| (the absolute value of r) is to 1, the stronger the linear relationship between the two variables.</a:t>
            </a:r>
          </a:p>
          <a:p>
            <a:pPr>
              <a:lnSpc>
                <a:spcPct val="90000"/>
              </a:lnSpc>
              <a:spcAft>
                <a:spcPts val="600"/>
              </a:spcAft>
            </a:pPr>
            <a:endParaRPr lang="en-US" sz="1700" dirty="0">
              <a:latin typeface="Times New Roman" panose="02020603050405020304" pitchFamily="18" charset="0"/>
              <a:cs typeface="Times New Roman" panose="02020603050405020304" pitchFamily="18" charset="0"/>
            </a:endParaRPr>
          </a:p>
          <a:p>
            <a:pPr>
              <a:lnSpc>
                <a:spcPct val="90000"/>
              </a:lnSpc>
              <a:spcAft>
                <a:spcPts val="600"/>
              </a:spcAft>
            </a:pPr>
            <a:endParaRPr lang="en-US" sz="1700" dirty="0">
              <a:latin typeface="Times New Roman" panose="02020603050405020304" pitchFamily="18" charset="0"/>
              <a:cs typeface="Times New Roman" panose="02020603050405020304" pitchFamily="18" charset="0"/>
            </a:endParaRPr>
          </a:p>
          <a:p>
            <a:pPr>
              <a:lnSpc>
                <a:spcPct val="90000"/>
              </a:lnSpc>
              <a:spcAft>
                <a:spcPts val="600"/>
              </a:spcAft>
            </a:pPr>
            <a:endParaRPr lang="en-US" sz="1700" dirty="0">
              <a:latin typeface="Times New Roman" panose="02020603050405020304" pitchFamily="18" charset="0"/>
              <a:cs typeface="Times New Roman" panose="02020603050405020304" pitchFamily="18" charset="0"/>
            </a:endParaRPr>
          </a:p>
          <a:p>
            <a:pPr>
              <a:lnSpc>
                <a:spcPct val="90000"/>
              </a:lnSpc>
              <a:spcAft>
                <a:spcPts val="600"/>
              </a:spcAft>
            </a:pPr>
            <a:endParaRPr lang="en-US" sz="1700" dirty="0">
              <a:latin typeface="Times New Roman" panose="02020603050405020304" pitchFamily="18" charset="0"/>
              <a:cs typeface="Times New Roman" panose="02020603050405020304" pitchFamily="18" charset="0"/>
            </a:endParaRPr>
          </a:p>
          <a:p>
            <a:pPr>
              <a:lnSpc>
                <a:spcPct val="90000"/>
              </a:lnSpc>
              <a:spcAft>
                <a:spcPts val="600"/>
              </a:spcAft>
            </a:pPr>
            <a:endParaRPr lang="en-US" sz="1700" dirty="0">
              <a:latin typeface="Times New Roman" panose="02020603050405020304" pitchFamily="18" charset="0"/>
              <a:cs typeface="Times New Roman" panose="02020603050405020304" pitchFamily="18" charset="0"/>
            </a:endParaRPr>
          </a:p>
          <a:p>
            <a:pPr>
              <a:lnSpc>
                <a:spcPct val="90000"/>
              </a:lnSpc>
              <a:spcAft>
                <a:spcPts val="600"/>
              </a:spcAft>
            </a:pPr>
            <a:endParaRPr lang="en-US" sz="1700" dirty="0">
              <a:latin typeface="Times New Roman" panose="02020603050405020304" pitchFamily="18" charset="0"/>
              <a:cs typeface="Times New Roman" panose="02020603050405020304" pitchFamily="18" charset="0"/>
            </a:endParaRPr>
          </a:p>
        </p:txBody>
      </p:sp>
      <p:pic>
        <p:nvPicPr>
          <p:cNvPr id="3" name="Picture 2" descr="Diagram&#10;&#10;Description automatically generated">
            <a:extLst>
              <a:ext uri="{FF2B5EF4-FFF2-40B4-BE49-F238E27FC236}">
                <a16:creationId xmlns:a16="http://schemas.microsoft.com/office/drawing/2014/main" id="{6DA95772-548C-D4F5-F36A-D2949AE6DF60}"/>
              </a:ext>
            </a:extLst>
          </p:cNvPr>
          <p:cNvPicPr>
            <a:picLocks noChangeAspect="1"/>
          </p:cNvPicPr>
          <p:nvPr/>
        </p:nvPicPr>
        <p:blipFill>
          <a:blip r:embed="rId5"/>
          <a:stretch>
            <a:fillRect/>
          </a:stretch>
        </p:blipFill>
        <p:spPr>
          <a:xfrm>
            <a:off x="6794863" y="283934"/>
            <a:ext cx="3368040" cy="3565549"/>
          </a:xfrm>
          <a:prstGeom prst="rect">
            <a:avLst/>
          </a:prstGeom>
        </p:spPr>
      </p:pic>
    </p:spTree>
    <p:extLst>
      <p:ext uri="{BB962C8B-B14F-4D97-AF65-F5344CB8AC3E}">
        <p14:creationId xmlns:p14="http://schemas.microsoft.com/office/powerpoint/2010/main" val="3497080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98" name="Rectangle 1094">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Freeform: Shape 1096">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9458989A-346A-CCE9-3C43-54027A96EF5C}"/>
              </a:ext>
            </a:extLst>
          </p:cNvPr>
          <p:cNvSpPr txBox="1"/>
          <p:nvPr/>
        </p:nvSpPr>
        <p:spPr>
          <a:xfrm>
            <a:off x="838200" y="609600"/>
            <a:ext cx="3739341" cy="1330839"/>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2400" b="1" kern="1200">
              <a:solidFill>
                <a:schemeClr val="tx1"/>
              </a:solidFill>
              <a:effectLst/>
              <a:latin typeface="+mj-lt"/>
              <a:ea typeface="+mj-ea"/>
              <a:cs typeface="+mj-cs"/>
            </a:endParaRPr>
          </a:p>
          <a:p>
            <a:pPr>
              <a:lnSpc>
                <a:spcPct val="90000"/>
              </a:lnSpc>
              <a:spcBef>
                <a:spcPct val="0"/>
              </a:spcBef>
              <a:spcAft>
                <a:spcPts val="600"/>
              </a:spcAft>
            </a:pPr>
            <a:endParaRPr lang="en-US" sz="2400" b="1" kern="1200">
              <a:solidFill>
                <a:schemeClr val="tx1"/>
              </a:solidFill>
              <a:effectLst/>
              <a:latin typeface="+mj-lt"/>
              <a:ea typeface="+mj-ea"/>
              <a:cs typeface="+mj-cs"/>
            </a:endParaRPr>
          </a:p>
          <a:p>
            <a:pPr>
              <a:lnSpc>
                <a:spcPct val="90000"/>
              </a:lnSpc>
              <a:spcBef>
                <a:spcPct val="0"/>
              </a:spcBef>
              <a:spcAft>
                <a:spcPts val="600"/>
              </a:spcAft>
            </a:pPr>
            <a:r>
              <a:rPr lang="en-US" sz="2400" b="1" kern="1200">
                <a:solidFill>
                  <a:schemeClr val="tx1"/>
                </a:solidFill>
                <a:effectLst/>
                <a:latin typeface="+mj-lt"/>
                <a:ea typeface="+mj-ea"/>
                <a:cs typeface="+mj-cs"/>
              </a:rPr>
              <a:t>INFERENTIAL STATISTICS</a:t>
            </a:r>
            <a:endParaRPr lang="en-US" sz="2400" kern="1200">
              <a:solidFill>
                <a:schemeClr val="tx1"/>
              </a:solidFill>
              <a:effectLst/>
              <a:latin typeface="+mj-lt"/>
              <a:ea typeface="+mj-ea"/>
              <a:cs typeface="+mj-cs"/>
            </a:endParaRPr>
          </a:p>
        </p:txBody>
      </p:sp>
      <p:sp>
        <p:nvSpPr>
          <p:cNvPr id="9" name="TextBox 8">
            <a:extLst>
              <a:ext uri="{FF2B5EF4-FFF2-40B4-BE49-F238E27FC236}">
                <a16:creationId xmlns:a16="http://schemas.microsoft.com/office/drawing/2014/main" id="{9200C6E1-1822-A2C6-41D6-1AC586478C0B}"/>
              </a:ext>
            </a:extLst>
          </p:cNvPr>
          <p:cNvSpPr txBox="1"/>
          <p:nvPr/>
        </p:nvSpPr>
        <p:spPr>
          <a:xfrm>
            <a:off x="862366" y="2194102"/>
            <a:ext cx="3427001" cy="3908586"/>
          </a:xfrm>
          <a:prstGeom prst="rect">
            <a:avLst/>
          </a:prstGeom>
        </p:spPr>
        <p:txBody>
          <a:bodyPr vert="horz" lIns="91440" tIns="45720" rIns="91440" bIns="45720" rtlCol="0">
            <a:normAutofit/>
          </a:bodyPr>
          <a:lstStyle/>
          <a:p>
            <a:pPr>
              <a:lnSpc>
                <a:spcPct val="90000"/>
              </a:lnSpc>
              <a:spcAft>
                <a:spcPts val="600"/>
              </a:spcAft>
            </a:pPr>
            <a:r>
              <a:rPr lang="en-US" sz="2000" dirty="0">
                <a:latin typeface="Times New Roman" panose="02020603050405020304" pitchFamily="18" charset="0"/>
                <a:cs typeface="Times New Roman" panose="02020603050405020304" pitchFamily="18" charset="0"/>
              </a:rPr>
              <a:t>Inferential statistics is a branch of statistics that makes the use of various analytical tools to draw inferences about the population data from sample data</a:t>
            </a:r>
          </a:p>
        </p:txBody>
      </p:sp>
      <p:pic>
        <p:nvPicPr>
          <p:cNvPr id="3" name="Picture 2" descr="Chart&#10;&#10;Description automatically generated">
            <a:extLst>
              <a:ext uri="{FF2B5EF4-FFF2-40B4-BE49-F238E27FC236}">
                <a16:creationId xmlns:a16="http://schemas.microsoft.com/office/drawing/2014/main" id="{79D3085D-F69F-7CD4-FD49-08AED863BF2C}"/>
              </a:ext>
            </a:extLst>
          </p:cNvPr>
          <p:cNvPicPr>
            <a:picLocks noChangeAspect="1"/>
          </p:cNvPicPr>
          <p:nvPr/>
        </p:nvPicPr>
        <p:blipFill>
          <a:blip r:embed="rId2"/>
          <a:stretch>
            <a:fillRect/>
          </a:stretch>
        </p:blipFill>
        <p:spPr>
          <a:xfrm>
            <a:off x="5445457" y="1132693"/>
            <a:ext cx="6155141" cy="4616355"/>
          </a:xfrm>
          <a:prstGeom prst="rect">
            <a:avLst/>
          </a:prstGeom>
        </p:spPr>
      </p:pic>
    </p:spTree>
    <p:extLst>
      <p:ext uri="{BB962C8B-B14F-4D97-AF65-F5344CB8AC3E}">
        <p14:creationId xmlns:p14="http://schemas.microsoft.com/office/powerpoint/2010/main" val="1282270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Arc 9">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extBox 1">
            <a:extLst>
              <a:ext uri="{FF2B5EF4-FFF2-40B4-BE49-F238E27FC236}">
                <a16:creationId xmlns:a16="http://schemas.microsoft.com/office/drawing/2014/main" id="{5BACBE6C-7B8C-0EB9-ACA0-34C800BC5FC5}"/>
              </a:ext>
            </a:extLst>
          </p:cNvPr>
          <p:cNvSpPr txBox="1"/>
          <p:nvPr/>
        </p:nvSpPr>
        <p:spPr>
          <a:xfrm>
            <a:off x="579302" y="336458"/>
            <a:ext cx="6102852" cy="2582297"/>
          </a:xfrm>
          <a:prstGeom prst="rect">
            <a:avLst/>
          </a:prstGeom>
        </p:spPr>
        <p:txBody>
          <a:bodyPr vert="horz" lIns="91440" tIns="45720" rIns="91440" bIns="45720" rtlCol="0">
            <a:noAutofit/>
          </a:bodyPr>
          <a:lstStyle/>
          <a:p>
            <a:pPr>
              <a:lnSpc>
                <a:spcPct val="90000"/>
              </a:lnSpc>
              <a:spcAft>
                <a:spcPts val="600"/>
              </a:spcAft>
            </a:pPr>
            <a:r>
              <a:rPr lang="en-US" b="1" dirty="0">
                <a:latin typeface="Times New Roman" panose="02020603050405020304" pitchFamily="18" charset="0"/>
                <a:cs typeface="Times New Roman" panose="02020603050405020304" pitchFamily="18" charset="0"/>
              </a:rPr>
              <a:t>Hypothesis testing </a:t>
            </a:r>
          </a:p>
          <a:p>
            <a:pPr>
              <a:lnSpc>
                <a:spcPct val="90000"/>
              </a:lnSpc>
              <a:spcAft>
                <a:spcPts val="600"/>
              </a:spcAft>
            </a:pPr>
            <a:r>
              <a:rPr lang="en-US" sz="1600" dirty="0">
                <a:latin typeface="Times New Roman" panose="02020603050405020304" pitchFamily="18" charset="0"/>
                <a:cs typeface="Times New Roman" panose="02020603050405020304" pitchFamily="18" charset="0"/>
              </a:rPr>
              <a:t>Hypothesis testing is a type of inferential statistics that is used to test assumptions and draw conclusions about the population from the available sample data. </a:t>
            </a:r>
          </a:p>
          <a:p>
            <a:pPr fontAlgn="base">
              <a:lnSpc>
                <a:spcPct val="90000"/>
              </a:lnSpc>
              <a:spcAft>
                <a:spcPts val="600"/>
              </a:spcAft>
            </a:pPr>
            <a:endParaRPr lang="en-US" sz="1600" b="1" dirty="0">
              <a:latin typeface="Times New Roman" panose="02020603050405020304" pitchFamily="18" charset="0"/>
              <a:cs typeface="Times New Roman" panose="02020603050405020304" pitchFamily="18" charset="0"/>
            </a:endParaRPr>
          </a:p>
          <a:p>
            <a:pPr fontAlgn="base">
              <a:lnSpc>
                <a:spcPct val="90000"/>
              </a:lnSpc>
              <a:spcAft>
                <a:spcPts val="600"/>
              </a:spcAft>
            </a:pPr>
            <a:r>
              <a:rPr lang="en-US" sz="1600" b="1" i="0" dirty="0">
                <a:effectLst/>
                <a:latin typeface="Times New Roman" panose="02020603050405020304" pitchFamily="18" charset="0"/>
                <a:cs typeface="Times New Roman" panose="02020603050405020304" pitchFamily="18" charset="0"/>
              </a:rPr>
              <a:t>Null hypothesis (H0): </a:t>
            </a:r>
            <a:r>
              <a:rPr lang="en-US" sz="1600" i="0" dirty="0">
                <a:effectLst/>
                <a:latin typeface="Times New Roman" panose="02020603050405020304" pitchFamily="18" charset="0"/>
                <a:cs typeface="Times New Roman" panose="02020603050405020304" pitchFamily="18" charset="0"/>
              </a:rPr>
              <a:t>There’s no effect in the population.</a:t>
            </a:r>
          </a:p>
          <a:p>
            <a:pPr fontAlgn="base">
              <a:lnSpc>
                <a:spcPct val="90000"/>
              </a:lnSpc>
              <a:spcAft>
                <a:spcPts val="600"/>
              </a:spcAft>
            </a:pPr>
            <a:r>
              <a:rPr lang="en-US" sz="1600" b="1" i="0" dirty="0">
                <a:effectLst/>
                <a:latin typeface="Times New Roman" panose="02020603050405020304" pitchFamily="18" charset="0"/>
                <a:cs typeface="Times New Roman" panose="02020603050405020304" pitchFamily="18" charset="0"/>
              </a:rPr>
              <a:t>Alternative hypothesis (Ha or H1): </a:t>
            </a:r>
            <a:r>
              <a:rPr lang="en-US" sz="1600" i="0" dirty="0">
                <a:effectLst/>
                <a:latin typeface="Times New Roman" panose="02020603050405020304" pitchFamily="18" charset="0"/>
                <a:cs typeface="Times New Roman" panose="02020603050405020304" pitchFamily="18" charset="0"/>
              </a:rPr>
              <a:t>There’s an effect in the population</a:t>
            </a:r>
          </a:p>
          <a:p>
            <a:pPr fontAlgn="base">
              <a:lnSpc>
                <a:spcPct val="90000"/>
              </a:lnSpc>
              <a:spcAft>
                <a:spcPts val="600"/>
              </a:spcAft>
            </a:pPr>
            <a:endParaRPr lang="en-US" sz="1600" i="0" dirty="0">
              <a:effectLst/>
              <a:latin typeface="Times New Roman" panose="02020603050405020304" pitchFamily="18" charset="0"/>
              <a:cs typeface="Times New Roman" panose="02020603050405020304" pitchFamily="18" charset="0"/>
            </a:endParaRPr>
          </a:p>
          <a:p>
            <a:pPr marL="57150">
              <a:lnSpc>
                <a:spcPct val="90000"/>
              </a:lnSpc>
              <a:spcAft>
                <a:spcPts val="600"/>
              </a:spcAft>
            </a:pPr>
            <a:endParaRPr lang="en-US" sz="1600" dirty="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D39D70F7-6CF6-C18D-BC31-6E1BCA7A212E}"/>
              </a:ext>
            </a:extLst>
          </p:cNvPr>
          <p:cNvSpPr txBox="1"/>
          <p:nvPr/>
        </p:nvSpPr>
        <p:spPr>
          <a:xfrm>
            <a:off x="579302" y="2485724"/>
            <a:ext cx="10918815" cy="3819507"/>
          </a:xfrm>
          <a:prstGeom prst="rect">
            <a:avLst/>
          </a:prstGeom>
          <a:noFill/>
        </p:spPr>
        <p:txBody>
          <a:bodyPr wrap="square">
            <a:spAutoFit/>
          </a:bodyPr>
          <a:lstStyle/>
          <a:p>
            <a:pPr fontAlgn="base">
              <a:lnSpc>
                <a:spcPct val="90000"/>
              </a:lnSpc>
              <a:spcAft>
                <a:spcPts val="600"/>
              </a:spcAft>
            </a:pPr>
            <a:endParaRPr lang="en-US" sz="1600" b="1" i="0" dirty="0">
              <a:effectLst/>
              <a:latin typeface="Times New Roman" panose="02020603050405020304" pitchFamily="18" charset="0"/>
              <a:cs typeface="Times New Roman" panose="02020603050405020304" pitchFamily="18" charset="0"/>
            </a:endParaRPr>
          </a:p>
          <a:p>
            <a:pPr fontAlgn="base">
              <a:lnSpc>
                <a:spcPct val="90000"/>
              </a:lnSpc>
              <a:spcAft>
                <a:spcPts val="600"/>
              </a:spcAft>
            </a:pPr>
            <a:r>
              <a:rPr lang="en-US" sz="1600" b="1" i="0" dirty="0">
                <a:effectLst/>
                <a:latin typeface="Times New Roman" panose="02020603050405020304" pitchFamily="18" charset="0"/>
                <a:cs typeface="Times New Roman" panose="02020603050405020304" pitchFamily="18" charset="0"/>
              </a:rPr>
              <a:t>Test Statistic</a:t>
            </a:r>
          </a:p>
          <a:p>
            <a:pPr fontAlgn="base">
              <a:lnSpc>
                <a:spcPct val="90000"/>
              </a:lnSpc>
              <a:spcAft>
                <a:spcPts val="600"/>
              </a:spcAft>
            </a:pPr>
            <a:r>
              <a:rPr lang="en-US" sz="1600" b="0" i="0" dirty="0">
                <a:effectLst/>
                <a:latin typeface="Times New Roman" panose="02020603050405020304" pitchFamily="18" charset="0"/>
                <a:cs typeface="Times New Roman" panose="02020603050405020304" pitchFamily="18" charset="0"/>
              </a:rPr>
              <a:t>The test statistic is a number calculated from a statistical test of a hypothesis. It describes how far your observed data is from the null hypothesis of no relationship between variables </a:t>
            </a:r>
          </a:p>
          <a:p>
            <a:pPr fontAlgn="base">
              <a:lnSpc>
                <a:spcPct val="90000"/>
              </a:lnSpc>
              <a:spcAft>
                <a:spcPts val="600"/>
              </a:spcAft>
            </a:pPr>
            <a:r>
              <a:rPr lang="en-US" sz="1600" b="1" dirty="0">
                <a:latin typeface="Times New Roman" panose="02020603050405020304" pitchFamily="18" charset="0"/>
                <a:cs typeface="Times New Roman" panose="02020603050405020304" pitchFamily="18" charset="0"/>
              </a:rPr>
              <a:t>C</a:t>
            </a:r>
            <a:r>
              <a:rPr lang="en-US" sz="1600" b="1" i="0" dirty="0">
                <a:effectLst/>
                <a:latin typeface="Times New Roman" panose="02020603050405020304" pitchFamily="18" charset="0"/>
                <a:cs typeface="Times New Roman" panose="02020603050405020304" pitchFamily="18" charset="0"/>
              </a:rPr>
              <a:t>ritical </a:t>
            </a:r>
            <a:r>
              <a:rPr lang="en-US" sz="1600" b="1" dirty="0">
                <a:latin typeface="Times New Roman" panose="02020603050405020304" pitchFamily="18" charset="0"/>
                <a:cs typeface="Times New Roman" panose="02020603050405020304" pitchFamily="18" charset="0"/>
              </a:rPr>
              <a:t>V</a:t>
            </a:r>
            <a:r>
              <a:rPr lang="en-US" sz="1600" b="1" i="0" dirty="0">
                <a:effectLst/>
                <a:latin typeface="Times New Roman" panose="02020603050405020304" pitchFamily="18" charset="0"/>
                <a:cs typeface="Times New Roman" panose="02020603050405020304" pitchFamily="18" charset="0"/>
              </a:rPr>
              <a:t>alue</a:t>
            </a:r>
          </a:p>
          <a:p>
            <a:pPr fontAlgn="base">
              <a:lnSpc>
                <a:spcPct val="90000"/>
              </a:lnSpc>
              <a:spcAft>
                <a:spcPts val="600"/>
              </a:spcAft>
            </a:pPr>
            <a:r>
              <a:rPr lang="en-US" sz="1600" b="0" i="0" dirty="0">
                <a:effectLst/>
                <a:latin typeface="Times New Roman" panose="02020603050405020304" pitchFamily="18" charset="0"/>
                <a:cs typeface="Times New Roman" panose="02020603050405020304" pitchFamily="18" charset="0"/>
              </a:rPr>
              <a:t>A critical value is the point on the scale of the test statistic beyond which we reject the null hypothesis</a:t>
            </a:r>
          </a:p>
          <a:p>
            <a:pPr fontAlgn="base">
              <a:lnSpc>
                <a:spcPct val="90000"/>
              </a:lnSpc>
              <a:spcAft>
                <a:spcPts val="600"/>
              </a:spcAft>
            </a:pPr>
            <a:endParaRPr lang="en-US" sz="1600" b="0" i="0" dirty="0">
              <a:effectLst/>
              <a:latin typeface="Times New Roman" panose="02020603050405020304" pitchFamily="18" charset="0"/>
              <a:cs typeface="Times New Roman" panose="02020603050405020304" pitchFamily="18" charset="0"/>
            </a:endParaRPr>
          </a:p>
          <a:p>
            <a:pPr>
              <a:lnSpc>
                <a:spcPct val="90000"/>
              </a:lnSpc>
              <a:spcAft>
                <a:spcPts val="600"/>
              </a:spcAft>
            </a:pPr>
            <a:r>
              <a:rPr lang="en-US" sz="1600" b="1" dirty="0">
                <a:latin typeface="Times New Roman" panose="02020603050405020304" pitchFamily="18" charset="0"/>
                <a:cs typeface="Times New Roman" panose="02020603050405020304" pitchFamily="18" charset="0"/>
              </a:rPr>
              <a:t>What is P value ?</a:t>
            </a:r>
          </a:p>
          <a:p>
            <a:pPr>
              <a:lnSpc>
                <a:spcPct val="90000"/>
              </a:lnSpc>
              <a:spcAft>
                <a:spcPts val="600"/>
              </a:spcAft>
            </a:pPr>
            <a:r>
              <a:rPr lang="en-US" sz="1600" dirty="0">
                <a:latin typeface="Times New Roman" panose="02020603050405020304" pitchFamily="18" charset="0"/>
                <a:cs typeface="Times New Roman" panose="02020603050405020304" pitchFamily="18" charset="0"/>
              </a:rPr>
              <a:t>The p-value, or probability value, tells you how likely it is that your data could have occurred under the null hypothesis.</a:t>
            </a:r>
          </a:p>
          <a:p>
            <a:pPr>
              <a:lnSpc>
                <a:spcPct val="90000"/>
              </a:lnSpc>
              <a:spcAft>
                <a:spcPts val="600"/>
              </a:spcAft>
            </a:pPr>
            <a:r>
              <a:rPr lang="en-US" sz="1600" dirty="0">
                <a:latin typeface="Times New Roman" panose="02020603050405020304" pitchFamily="18" charset="0"/>
                <a:cs typeface="Times New Roman" panose="02020603050405020304" pitchFamily="18" charset="0"/>
              </a:rPr>
              <a:t> It does this by calculating the likelihood of your test statistic, which is the number calculated by a statistical test using your data</a:t>
            </a:r>
          </a:p>
          <a:p>
            <a:pPr>
              <a:lnSpc>
                <a:spcPct val="90000"/>
              </a:lnSpc>
              <a:spcAft>
                <a:spcPts val="600"/>
              </a:spcAft>
            </a:pPr>
            <a:r>
              <a:rPr lang="en-US" sz="1600" b="1" dirty="0">
                <a:latin typeface="Times New Roman" panose="02020603050405020304" pitchFamily="18" charset="0"/>
                <a:cs typeface="Times New Roman" panose="02020603050405020304" pitchFamily="18" charset="0"/>
              </a:rPr>
              <a:t>What is </a:t>
            </a:r>
            <a:r>
              <a:rPr lang="en-US" sz="1600" b="1" i="0" dirty="0">
                <a:effectLst/>
                <a:latin typeface="Times New Roman" panose="02020603050405020304" pitchFamily="18" charset="0"/>
                <a:cs typeface="Times New Roman" panose="02020603050405020304" pitchFamily="18" charset="0"/>
              </a:rPr>
              <a:t>Statistical significance level( alpha) ? </a:t>
            </a:r>
          </a:p>
          <a:p>
            <a:pPr>
              <a:lnSpc>
                <a:spcPct val="90000"/>
              </a:lnSpc>
              <a:spcAft>
                <a:spcPts val="600"/>
              </a:spcAft>
            </a:pPr>
            <a:r>
              <a:rPr lang="en-US" sz="1600" i="0" dirty="0">
                <a:effectLst/>
                <a:latin typeface="Times New Roman" panose="02020603050405020304" pitchFamily="18" charset="0"/>
                <a:cs typeface="Times New Roman" panose="02020603050405020304" pitchFamily="18" charset="0"/>
              </a:rPr>
              <a:t>The level of significance is the measurement of the statistical significance. It defines whether the null hypothesis is assumed </a:t>
            </a:r>
          </a:p>
          <a:p>
            <a:pPr>
              <a:lnSpc>
                <a:spcPct val="90000"/>
              </a:lnSpc>
              <a:spcAft>
                <a:spcPts val="600"/>
              </a:spcAft>
            </a:pPr>
            <a:r>
              <a:rPr lang="en-US" sz="1600" i="0" dirty="0">
                <a:effectLst/>
                <a:latin typeface="Times New Roman" panose="02020603050405020304" pitchFamily="18" charset="0"/>
                <a:cs typeface="Times New Roman" panose="02020603050405020304" pitchFamily="18" charset="0"/>
              </a:rPr>
              <a:t>to be accepted or rejected</a:t>
            </a:r>
            <a:r>
              <a:rPr lang="en-US" sz="1600" dirty="0">
                <a:latin typeface="Times New Roman" panose="02020603050405020304" pitchFamily="18" charset="0"/>
                <a:cs typeface="Times New Roman" panose="02020603050405020304" pitchFamily="18" charset="0"/>
              </a:rPr>
              <a:t>.</a:t>
            </a:r>
            <a:endParaRPr lang="en-US" sz="1600" b="0" i="0" dirty="0">
              <a:effectLst/>
              <a:latin typeface="Times New Roman" panose="02020603050405020304" pitchFamily="18" charset="0"/>
              <a:cs typeface="Times New Roman" panose="02020603050405020304" pitchFamily="18" charset="0"/>
            </a:endParaRPr>
          </a:p>
        </p:txBody>
      </p:sp>
      <p:pic>
        <p:nvPicPr>
          <p:cNvPr id="7" name="Picture 6" descr="Diagram&#10;&#10;Description automatically generated">
            <a:extLst>
              <a:ext uri="{FF2B5EF4-FFF2-40B4-BE49-F238E27FC236}">
                <a16:creationId xmlns:a16="http://schemas.microsoft.com/office/drawing/2014/main" id="{4C83B175-B747-08D6-B353-AEA07CAC8510}"/>
              </a:ext>
            </a:extLst>
          </p:cNvPr>
          <p:cNvPicPr>
            <a:picLocks noChangeAspect="1"/>
          </p:cNvPicPr>
          <p:nvPr/>
        </p:nvPicPr>
        <p:blipFill rotWithShape="1">
          <a:blip r:embed="rId3"/>
          <a:srcRect t="52936"/>
          <a:stretch/>
        </p:blipFill>
        <p:spPr>
          <a:xfrm>
            <a:off x="6900585" y="774556"/>
            <a:ext cx="5044742" cy="1513594"/>
          </a:xfrm>
          <a:prstGeom prst="rect">
            <a:avLst/>
          </a:prstGeom>
          <a:effectLst/>
        </p:spPr>
      </p:pic>
    </p:spTree>
    <p:extLst>
      <p:ext uri="{BB962C8B-B14F-4D97-AF65-F5344CB8AC3E}">
        <p14:creationId xmlns:p14="http://schemas.microsoft.com/office/powerpoint/2010/main" val="2471917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F1A58E5-4C24-76CE-1216-0058CAD7A5D9}"/>
              </a:ext>
            </a:extLst>
          </p:cNvPr>
          <p:cNvSpPr txBox="1"/>
          <p:nvPr/>
        </p:nvSpPr>
        <p:spPr>
          <a:xfrm>
            <a:off x="838200" y="1825625"/>
            <a:ext cx="5393361" cy="4351338"/>
          </a:xfrm>
          <a:prstGeom prst="rect">
            <a:avLst/>
          </a:prstGeom>
        </p:spPr>
        <p:txBody>
          <a:bodyPr vert="horz" lIns="91440" tIns="45720" rIns="91440" bIns="45720" rtlCol="0">
            <a:normAutofit/>
          </a:bodyPr>
          <a:lstStyle/>
          <a:p>
            <a:pPr fontAlgn="base">
              <a:lnSpc>
                <a:spcPct val="90000"/>
              </a:lnSpc>
              <a:spcAft>
                <a:spcPts val="600"/>
              </a:spcAft>
            </a:pPr>
            <a:endParaRPr lang="en-US" b="1" i="0" dirty="0">
              <a:effectLst/>
            </a:endParaRPr>
          </a:p>
          <a:p>
            <a:pPr fontAlgn="base">
              <a:lnSpc>
                <a:spcPct val="90000"/>
              </a:lnSpc>
              <a:spcAft>
                <a:spcPts val="600"/>
              </a:spcAft>
            </a:pPr>
            <a:endParaRPr lang="en-US" i="0" dirty="0">
              <a:effectLst/>
            </a:endParaRPr>
          </a:p>
          <a:p>
            <a:pPr fontAlgn="base">
              <a:lnSpc>
                <a:spcPct val="90000"/>
              </a:lnSpc>
              <a:spcAft>
                <a:spcPts val="600"/>
              </a:spcAft>
            </a:pPr>
            <a:r>
              <a:rPr lang="en-US" b="0" i="0" dirty="0">
                <a:effectLst/>
                <a:latin typeface="Times New Roman" panose="02020603050405020304" pitchFamily="18" charset="0"/>
                <a:cs typeface="Times New Roman" panose="02020603050405020304" pitchFamily="18" charset="0"/>
              </a:rPr>
              <a:t>A type I error (false-positive) occurs if an investigator rejects a null hypothesis that is actually true in the population; </a:t>
            </a:r>
          </a:p>
          <a:p>
            <a:pPr fontAlgn="base">
              <a:lnSpc>
                <a:spcPct val="90000"/>
              </a:lnSpc>
              <a:spcAft>
                <a:spcPts val="600"/>
              </a:spcAft>
            </a:pPr>
            <a:r>
              <a:rPr lang="en-US" dirty="0">
                <a:latin typeface="Times New Roman" panose="02020603050405020304" pitchFamily="18" charset="0"/>
                <a:cs typeface="Times New Roman" panose="02020603050405020304" pitchFamily="18" charset="0"/>
              </a:rPr>
              <a:t>A</a:t>
            </a:r>
            <a:r>
              <a:rPr lang="en-US" b="0" i="0" dirty="0">
                <a:effectLst/>
                <a:latin typeface="Times New Roman" panose="02020603050405020304" pitchFamily="18" charset="0"/>
                <a:cs typeface="Times New Roman" panose="02020603050405020304" pitchFamily="18" charset="0"/>
              </a:rPr>
              <a:t> type II error (false-negative) occurs if </a:t>
            </a:r>
            <a:r>
              <a:rPr lang="en-US" dirty="0">
                <a:latin typeface="Times New Roman" panose="02020603050405020304" pitchFamily="18" charset="0"/>
                <a:cs typeface="Times New Roman" panose="02020603050405020304" pitchFamily="18" charset="0"/>
              </a:rPr>
              <a:t>an</a:t>
            </a:r>
            <a:r>
              <a:rPr lang="en-US" b="0" i="0" dirty="0">
                <a:effectLst/>
                <a:latin typeface="Times New Roman" panose="02020603050405020304" pitchFamily="18" charset="0"/>
                <a:cs typeface="Times New Roman" panose="02020603050405020304" pitchFamily="18" charset="0"/>
              </a:rPr>
              <a:t> investigator fails to reject a null hypothesis that is actually false in the population.</a:t>
            </a:r>
          </a:p>
          <a:p>
            <a:pPr fontAlgn="base">
              <a:lnSpc>
                <a:spcPct val="90000"/>
              </a:lnSpc>
              <a:spcAft>
                <a:spcPts val="600"/>
              </a:spcAft>
            </a:pPr>
            <a:endParaRPr lang="en-US" b="0" i="0" dirty="0">
              <a:effectLst/>
            </a:endParaRPr>
          </a:p>
          <a:p>
            <a:pPr fontAlgn="base">
              <a:lnSpc>
                <a:spcPct val="90000"/>
              </a:lnSpc>
              <a:spcAft>
                <a:spcPts val="600"/>
              </a:spcAft>
            </a:pPr>
            <a:endParaRPr lang="en-US" b="0" i="0" dirty="0">
              <a:effectLst/>
            </a:endParaRPr>
          </a:p>
        </p:txBody>
      </p:sp>
      <p:sp>
        <p:nvSpPr>
          <p:cNvPr id="13" name="Oval 12">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 name="Picture 2" descr="A collage of two people&#10;&#10;Description automatically generated with low confidence">
            <a:extLst>
              <a:ext uri="{FF2B5EF4-FFF2-40B4-BE49-F238E27FC236}">
                <a16:creationId xmlns:a16="http://schemas.microsoft.com/office/drawing/2014/main" id="{7D804E08-6F65-5000-ECA8-4D4ACE0F6AC6}"/>
              </a:ext>
            </a:extLst>
          </p:cNvPr>
          <p:cNvPicPr>
            <a:picLocks noChangeAspect="1"/>
          </p:cNvPicPr>
          <p:nvPr/>
        </p:nvPicPr>
        <p:blipFill>
          <a:blip r:embed="rId3"/>
          <a:stretch>
            <a:fillRect/>
          </a:stretch>
        </p:blipFill>
        <p:spPr>
          <a:xfrm>
            <a:off x="6885530" y="1825625"/>
            <a:ext cx="4221597" cy="3155643"/>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p:spPr>
      </p:pic>
      <p:sp>
        <p:nvSpPr>
          <p:cNvPr id="6" name="TextBox 5">
            <a:extLst>
              <a:ext uri="{FF2B5EF4-FFF2-40B4-BE49-F238E27FC236}">
                <a16:creationId xmlns:a16="http://schemas.microsoft.com/office/drawing/2014/main" id="{E455B7E8-4044-42B9-B046-9A5E2AD4D884}"/>
              </a:ext>
            </a:extLst>
          </p:cNvPr>
          <p:cNvSpPr txBox="1"/>
          <p:nvPr/>
        </p:nvSpPr>
        <p:spPr>
          <a:xfrm>
            <a:off x="838199" y="1152062"/>
            <a:ext cx="9482959" cy="341632"/>
          </a:xfrm>
          <a:prstGeom prst="rect">
            <a:avLst/>
          </a:prstGeom>
          <a:noFill/>
        </p:spPr>
        <p:txBody>
          <a:bodyPr wrap="square">
            <a:spAutoFit/>
          </a:bodyPr>
          <a:lstStyle/>
          <a:p>
            <a:pPr fontAlgn="base">
              <a:lnSpc>
                <a:spcPct val="90000"/>
              </a:lnSpc>
              <a:spcAft>
                <a:spcPts val="600"/>
              </a:spcAft>
            </a:pPr>
            <a:r>
              <a:rPr lang="en-US" b="1" dirty="0">
                <a:latin typeface="Times New Roman" panose="02020603050405020304" pitchFamily="18" charset="0"/>
                <a:cs typeface="Times New Roman" panose="02020603050405020304" pitchFamily="18" charset="0"/>
              </a:rPr>
              <a:t>T</a:t>
            </a:r>
            <a:r>
              <a:rPr lang="en-US" b="1" i="0" dirty="0">
                <a:effectLst/>
                <a:latin typeface="Times New Roman" panose="02020603050405020304" pitchFamily="18" charset="0"/>
                <a:cs typeface="Times New Roman" panose="02020603050405020304" pitchFamily="18" charset="0"/>
              </a:rPr>
              <a:t>ype </a:t>
            </a:r>
            <a:r>
              <a:rPr lang="en-US" b="1" dirty="0">
                <a:latin typeface="Times New Roman" panose="02020603050405020304" pitchFamily="18" charset="0"/>
                <a:cs typeface="Times New Roman" panose="02020603050405020304" pitchFamily="18" charset="0"/>
              </a:rPr>
              <a:t>I</a:t>
            </a:r>
            <a:r>
              <a:rPr lang="en-US" b="1" i="0" dirty="0">
                <a:effectLst/>
                <a:latin typeface="Times New Roman" panose="02020603050405020304" pitchFamily="18" charset="0"/>
                <a:cs typeface="Times New Roman" panose="02020603050405020304" pitchFamily="18" charset="0"/>
              </a:rPr>
              <a:t> (also known as ‘α’) and Type II (also known as ‘β’) errors</a:t>
            </a:r>
          </a:p>
        </p:txBody>
      </p:sp>
    </p:spTree>
    <p:extLst>
      <p:ext uri="{BB962C8B-B14F-4D97-AF65-F5344CB8AC3E}">
        <p14:creationId xmlns:p14="http://schemas.microsoft.com/office/powerpoint/2010/main" val="1619205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87" name="Rectangle 1066">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8" name="Group 1068">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7956356" y="1890469"/>
            <a:ext cx="5860051" cy="2079143"/>
            <a:chOff x="6081624" y="1998368"/>
            <a:chExt cx="5613457" cy="782175"/>
          </a:xfrm>
          <a:solidFill>
            <a:schemeClr val="accent4"/>
          </a:solidFill>
        </p:grpSpPr>
        <p:sp>
          <p:nvSpPr>
            <p:cNvPr id="1070" name="Rectangle 1069">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70">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90" name="Rectangle 1072">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Graphical user interface, text, application, letter&#10;&#10;Description automatically generated">
            <a:extLst>
              <a:ext uri="{FF2B5EF4-FFF2-40B4-BE49-F238E27FC236}">
                <a16:creationId xmlns:a16="http://schemas.microsoft.com/office/drawing/2014/main" id="{38C1F2DB-E6C0-1495-8B29-077B3D2188AF}"/>
              </a:ext>
            </a:extLst>
          </p:cNvPr>
          <p:cNvPicPr>
            <a:picLocks noGrp="1" noChangeAspect="1"/>
          </p:cNvPicPr>
          <p:nvPr>
            <p:ph idx="1"/>
          </p:nvPr>
        </p:nvPicPr>
        <p:blipFill>
          <a:blip r:embed="rId2"/>
          <a:stretch>
            <a:fillRect/>
          </a:stretch>
        </p:blipFill>
        <p:spPr>
          <a:xfrm>
            <a:off x="1026774" y="1257675"/>
            <a:ext cx="9858975" cy="4351338"/>
          </a:xfrm>
        </p:spPr>
      </p:pic>
    </p:spTree>
    <p:extLst>
      <p:ext uri="{BB962C8B-B14F-4D97-AF65-F5344CB8AC3E}">
        <p14:creationId xmlns:p14="http://schemas.microsoft.com/office/powerpoint/2010/main" val="2116278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1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2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B512145-E678-0653-CEE5-1AD0B2B0A358}"/>
              </a:ext>
            </a:extLst>
          </p:cNvPr>
          <p:cNvSpPr txBox="1"/>
          <p:nvPr/>
        </p:nvSpPr>
        <p:spPr>
          <a:xfrm>
            <a:off x="428522" y="1998368"/>
            <a:ext cx="6077217" cy="3055713"/>
          </a:xfrm>
          <a:prstGeom prst="rect">
            <a:avLst/>
          </a:prstGeom>
        </p:spPr>
        <p:txBody>
          <a:bodyPr vert="horz" lIns="91440" tIns="45720" rIns="91440" bIns="45720" rtlCol="0" anchor="ctr">
            <a:normAutofit/>
          </a:bodyPr>
          <a:lstStyle/>
          <a:p>
            <a:pPr>
              <a:lnSpc>
                <a:spcPct val="90000"/>
              </a:lnSpc>
              <a:spcAft>
                <a:spcPts val="600"/>
              </a:spcAft>
            </a:pPr>
            <a:endParaRPr lang="en-US" sz="2000" b="1" i="0" dirty="0">
              <a:effectLst/>
              <a:latin typeface="Times New Roman" panose="02020603050405020304" pitchFamily="18" charset="0"/>
              <a:cs typeface="Times New Roman" panose="02020603050405020304" pitchFamily="18" charset="0"/>
            </a:endParaRPr>
          </a:p>
          <a:p>
            <a:pPr>
              <a:lnSpc>
                <a:spcPct val="90000"/>
              </a:lnSpc>
              <a:spcAft>
                <a:spcPts val="600"/>
              </a:spcAft>
            </a:pPr>
            <a:r>
              <a:rPr lang="en-US" b="0" i="0" dirty="0">
                <a:effectLst/>
                <a:latin typeface="Times New Roman" panose="02020603050405020304" pitchFamily="18" charset="0"/>
                <a:cs typeface="Times New Roman" panose="02020603050405020304" pitchFamily="18" charset="0"/>
              </a:rPr>
              <a:t>Parametric statistical tests are those </a:t>
            </a:r>
            <a:r>
              <a:rPr lang="en-US" b="1" i="0" dirty="0">
                <a:effectLst/>
                <a:latin typeface="Times New Roman" panose="02020603050405020304" pitchFamily="18" charset="0"/>
                <a:cs typeface="Times New Roman" panose="02020603050405020304" pitchFamily="18" charset="0"/>
              </a:rPr>
              <a:t>statistical tests that</a:t>
            </a:r>
          </a:p>
          <a:p>
            <a:pPr>
              <a:lnSpc>
                <a:spcPct val="90000"/>
              </a:lnSpc>
              <a:spcAft>
                <a:spcPts val="600"/>
              </a:spcAft>
            </a:pPr>
            <a:r>
              <a:rPr lang="en-US" b="1" i="0" dirty="0">
                <a:effectLst/>
                <a:latin typeface="Times New Roman" panose="02020603050405020304" pitchFamily="18" charset="0"/>
                <a:cs typeface="Times New Roman" panose="02020603050405020304" pitchFamily="18" charset="0"/>
              </a:rPr>
              <a:t>assume the data approximately follows a normal</a:t>
            </a:r>
          </a:p>
          <a:p>
            <a:pPr>
              <a:lnSpc>
                <a:spcPct val="90000"/>
              </a:lnSpc>
              <a:spcAft>
                <a:spcPts val="600"/>
              </a:spcAft>
            </a:pPr>
            <a:r>
              <a:rPr lang="en-US" b="1" i="0" dirty="0">
                <a:effectLst/>
                <a:latin typeface="Times New Roman" panose="02020603050405020304" pitchFamily="18" charset="0"/>
                <a:cs typeface="Times New Roman" panose="02020603050405020304" pitchFamily="18" charset="0"/>
              </a:rPr>
              <a:t>distribution</a:t>
            </a:r>
            <a:r>
              <a:rPr lang="en-US" b="0" i="0" dirty="0">
                <a:effectLst/>
                <a:latin typeface="Times New Roman" panose="02020603050405020304" pitchFamily="18" charset="0"/>
                <a:cs typeface="Times New Roman" panose="02020603050405020304" pitchFamily="18" charset="0"/>
              </a:rPr>
              <a:t>, amongst other assumptions </a:t>
            </a:r>
          </a:p>
          <a:p>
            <a:pPr>
              <a:lnSpc>
                <a:spcPct val="90000"/>
              </a:lnSpc>
              <a:spcAft>
                <a:spcPts val="600"/>
              </a:spcAft>
            </a:pPr>
            <a:r>
              <a:rPr lang="en-US" b="0" i="0" dirty="0">
                <a:effectLst/>
                <a:latin typeface="Times New Roman" panose="02020603050405020304" pitchFamily="18" charset="0"/>
                <a:cs typeface="Times New Roman" panose="02020603050405020304" pitchFamily="18" charset="0"/>
              </a:rPr>
              <a:t>(examples include z-test, t-test etc.) </a:t>
            </a:r>
            <a:endParaRPr lang="en-US" dirty="0">
              <a:latin typeface="Times New Roman" panose="02020603050405020304" pitchFamily="18" charset="0"/>
              <a:cs typeface="Times New Roman" panose="02020603050405020304" pitchFamily="18" charset="0"/>
            </a:endParaRPr>
          </a:p>
        </p:txBody>
      </p:sp>
      <p:pic>
        <p:nvPicPr>
          <p:cNvPr id="12" name="Picture 11" descr="Diagram&#10;&#10;Description automatically generated">
            <a:extLst>
              <a:ext uri="{FF2B5EF4-FFF2-40B4-BE49-F238E27FC236}">
                <a16:creationId xmlns:a16="http://schemas.microsoft.com/office/drawing/2014/main" id="{CBA0559D-FA8E-87BE-12B9-31AD79FD6A2A}"/>
              </a:ext>
            </a:extLst>
          </p:cNvPr>
          <p:cNvPicPr>
            <a:picLocks noChangeAspect="1"/>
          </p:cNvPicPr>
          <p:nvPr/>
        </p:nvPicPr>
        <p:blipFill>
          <a:blip r:embed="rId3"/>
          <a:stretch>
            <a:fillRect/>
          </a:stretch>
        </p:blipFill>
        <p:spPr>
          <a:xfrm>
            <a:off x="6505740" y="2484255"/>
            <a:ext cx="3961861" cy="3714244"/>
          </a:xfrm>
          <a:prstGeom prst="rect">
            <a:avLst/>
          </a:prstGeom>
        </p:spPr>
      </p:pic>
      <p:sp>
        <p:nvSpPr>
          <p:cNvPr id="25" name="Rectangle 2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2" descr="CI = \bar{x} \pm z \frac{s}{\sqrt{n}}">
            <a:extLst>
              <a:ext uri="{FF2B5EF4-FFF2-40B4-BE49-F238E27FC236}">
                <a16:creationId xmlns:a16="http://schemas.microsoft.com/office/drawing/2014/main" id="{0238E7CE-8367-CCA0-2289-2088F2736AA9}"/>
              </a:ext>
            </a:extLst>
          </p:cNvPr>
          <p:cNvSpPr>
            <a:spLocks noChangeAspect="1" noChangeArrowheads="1"/>
          </p:cNvSpPr>
          <p:nvPr/>
        </p:nvSpPr>
        <p:spPr bwMode="auto">
          <a:xfrm>
            <a:off x="5943599" y="3276599"/>
            <a:ext cx="3331029" cy="33310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TextBox 41">
            <a:extLst>
              <a:ext uri="{FF2B5EF4-FFF2-40B4-BE49-F238E27FC236}">
                <a16:creationId xmlns:a16="http://schemas.microsoft.com/office/drawing/2014/main" id="{3264CE64-7761-7B5B-667A-4C38810D5B3D}"/>
              </a:ext>
            </a:extLst>
          </p:cNvPr>
          <p:cNvSpPr txBox="1"/>
          <p:nvPr/>
        </p:nvSpPr>
        <p:spPr>
          <a:xfrm>
            <a:off x="546550" y="782102"/>
            <a:ext cx="10908043" cy="1021818"/>
          </a:xfrm>
          <a:prstGeom prst="rect">
            <a:avLst/>
          </a:prstGeom>
          <a:noFill/>
        </p:spPr>
        <p:txBody>
          <a:bodyPr wrap="square">
            <a:spAutoFit/>
          </a:bodyPr>
          <a:lstStyle/>
          <a:p>
            <a:pPr>
              <a:lnSpc>
                <a:spcPct val="90000"/>
              </a:lnSpc>
              <a:spcAft>
                <a:spcPts val="600"/>
              </a:spcAft>
            </a:pPr>
            <a:r>
              <a:rPr lang="en-IN" sz="2000" b="1" i="0" dirty="0">
                <a:solidFill>
                  <a:srgbClr val="202124"/>
                </a:solidFill>
                <a:effectLst/>
                <a:latin typeface="Times New Roman" panose="02020603050405020304" pitchFamily="18" charset="0"/>
                <a:cs typeface="Times New Roman" panose="02020603050405020304" pitchFamily="18" charset="0"/>
              </a:rPr>
              <a:t>Parametric statistics </a:t>
            </a:r>
          </a:p>
          <a:p>
            <a:pPr>
              <a:lnSpc>
                <a:spcPct val="90000"/>
              </a:lnSpc>
              <a:spcAft>
                <a:spcPts val="600"/>
              </a:spcAft>
            </a:pPr>
            <a:r>
              <a:rPr lang="en-IN" i="0" dirty="0">
                <a:solidFill>
                  <a:srgbClr val="202124"/>
                </a:solidFill>
                <a:effectLst/>
                <a:latin typeface="Times New Roman" panose="02020603050405020304" pitchFamily="18" charset="0"/>
                <a:cs typeface="Times New Roman" panose="02020603050405020304" pitchFamily="18" charset="0"/>
              </a:rPr>
              <a:t>Parametric statistics is based on assumptions about the distribution of </a:t>
            </a:r>
          </a:p>
          <a:p>
            <a:pPr>
              <a:lnSpc>
                <a:spcPct val="90000"/>
              </a:lnSpc>
              <a:spcAft>
                <a:spcPts val="600"/>
              </a:spcAft>
            </a:pPr>
            <a:r>
              <a:rPr lang="en-IN" i="0" dirty="0">
                <a:solidFill>
                  <a:srgbClr val="202124"/>
                </a:solidFill>
                <a:effectLst/>
                <a:latin typeface="Times New Roman" panose="02020603050405020304" pitchFamily="18" charset="0"/>
                <a:cs typeface="Times New Roman" panose="02020603050405020304" pitchFamily="18" charset="0"/>
              </a:rPr>
              <a:t>population from which the sample was taken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286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27FF48C-AF46-4D52-998F-ED0BDDEEF2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9000"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AF1A58E5-4C24-76CE-1216-0058CAD7A5D9}"/>
              </a:ext>
            </a:extLst>
          </p:cNvPr>
          <p:cNvSpPr txBox="1"/>
          <p:nvPr/>
        </p:nvSpPr>
        <p:spPr>
          <a:xfrm>
            <a:off x="311799" y="190785"/>
            <a:ext cx="7239000" cy="6196951"/>
          </a:xfrm>
          <a:prstGeom prst="rect">
            <a:avLst/>
          </a:prstGeom>
        </p:spPr>
        <p:txBody>
          <a:bodyPr vert="horz" lIns="91440" tIns="45720" rIns="91440" bIns="45720" rtlCol="0">
            <a:noAutofit/>
          </a:bodyPr>
          <a:lstStyle/>
          <a:p>
            <a:pPr fontAlgn="base">
              <a:lnSpc>
                <a:spcPct val="90000"/>
              </a:lnSpc>
            </a:pPr>
            <a:endParaRPr lang="en-US" sz="1600" b="1" i="0" dirty="0">
              <a:effectLst/>
              <a:latin typeface="Times New Roman" panose="02020603050405020304" pitchFamily="18" charset="0"/>
              <a:cs typeface="Times New Roman" panose="02020603050405020304" pitchFamily="18" charset="0"/>
            </a:endParaRPr>
          </a:p>
          <a:p>
            <a:pPr fontAlgn="base">
              <a:lnSpc>
                <a:spcPct val="90000"/>
              </a:lnSpc>
            </a:pPr>
            <a:r>
              <a:rPr lang="en-US" sz="1600" b="1" i="0" dirty="0">
                <a:effectLst/>
                <a:latin typeface="Times New Roman" panose="02020603050405020304" pitchFamily="18" charset="0"/>
                <a:cs typeface="Times New Roman" panose="02020603050405020304" pitchFamily="18" charset="0"/>
              </a:rPr>
              <a:t>Z Test:</a:t>
            </a:r>
            <a:r>
              <a:rPr lang="en-US" sz="1600" b="0" i="0" dirty="0">
                <a:effectLst/>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Z</a:t>
            </a:r>
            <a:r>
              <a:rPr lang="en-US" sz="1600" b="0" i="0" u="none" strike="noStrike" dirty="0">
                <a:effectLst/>
                <a:latin typeface="Times New Roman" panose="02020603050405020304" pitchFamily="18" charset="0"/>
                <a:cs typeface="Times New Roman" panose="02020603050405020304" pitchFamily="18" charset="0"/>
              </a:rPr>
              <a:t> test</a:t>
            </a:r>
            <a:r>
              <a:rPr lang="en-US" sz="1600" b="0" i="0" dirty="0">
                <a:effectLst/>
                <a:latin typeface="Times New Roman" panose="02020603050405020304" pitchFamily="18" charset="0"/>
                <a:cs typeface="Times New Roman" panose="02020603050405020304" pitchFamily="18" charset="0"/>
              </a:rPr>
              <a:t> is used on data that follows a </a:t>
            </a:r>
            <a:r>
              <a:rPr lang="en-US" sz="1600" b="0" i="0" u="none" strike="noStrike" dirty="0">
                <a:effectLst/>
                <a:latin typeface="Times New Roman" panose="02020603050405020304" pitchFamily="18" charset="0"/>
                <a:cs typeface="Times New Roman" panose="02020603050405020304" pitchFamily="18" charset="0"/>
              </a:rPr>
              <a:t>normal distribution</a:t>
            </a:r>
            <a:r>
              <a:rPr lang="en-US" sz="1600" b="0" i="0" dirty="0">
                <a:effectLst/>
                <a:latin typeface="Times New Roman" panose="02020603050405020304" pitchFamily="18" charset="0"/>
                <a:cs typeface="Times New Roman" panose="02020603050405020304" pitchFamily="18" charset="0"/>
              </a:rPr>
              <a:t> and has a sample size greater than or equal to 30. It is used to test if the </a:t>
            </a:r>
            <a:r>
              <a:rPr lang="en-US" sz="1600" b="0" i="0" u="none" strike="noStrike" dirty="0">
                <a:effectLst/>
                <a:latin typeface="Times New Roman" panose="02020603050405020304" pitchFamily="18" charset="0"/>
                <a:cs typeface="Times New Roman" panose="02020603050405020304" pitchFamily="18" charset="0"/>
              </a:rPr>
              <a:t>means</a:t>
            </a:r>
            <a:r>
              <a:rPr lang="en-US" sz="1600" b="0" i="0" dirty="0">
                <a:effectLst/>
                <a:latin typeface="Times New Roman" panose="02020603050405020304" pitchFamily="18" charset="0"/>
                <a:cs typeface="Times New Roman" panose="02020603050405020304" pitchFamily="18" charset="0"/>
              </a:rPr>
              <a:t> of the sample and population are equal when the population variance is known. The right tailed hypothesis can be set up as follows:</a:t>
            </a:r>
          </a:p>
          <a:p>
            <a:pPr fontAlgn="base">
              <a:lnSpc>
                <a:spcPct val="90000"/>
              </a:lnSpc>
            </a:pPr>
            <a:endParaRPr lang="en-US" sz="1600" b="0" i="0" dirty="0">
              <a:effectLst/>
              <a:latin typeface="Times New Roman" panose="02020603050405020304" pitchFamily="18" charset="0"/>
              <a:cs typeface="Times New Roman" panose="02020603050405020304" pitchFamily="18" charset="0"/>
            </a:endParaRPr>
          </a:p>
          <a:p>
            <a:pPr fontAlgn="base">
              <a:lnSpc>
                <a:spcPct val="90000"/>
              </a:lnSpc>
            </a:pPr>
            <a:r>
              <a:rPr lang="en-US" sz="1600" b="0" i="0" dirty="0">
                <a:effectLst/>
                <a:latin typeface="Times New Roman" panose="02020603050405020304" pitchFamily="18" charset="0"/>
                <a:cs typeface="Times New Roman" panose="02020603050405020304" pitchFamily="18" charset="0"/>
              </a:rPr>
              <a:t>Null Hypothesis: H0 : </a:t>
            </a:r>
            <a:r>
              <a:rPr lang="en-US" sz="1600" b="0" i="0" dirty="0" err="1">
                <a:effectLst/>
                <a:latin typeface="Times New Roman" panose="02020603050405020304" pitchFamily="18" charset="0"/>
                <a:cs typeface="Times New Roman" panose="02020603050405020304" pitchFamily="18" charset="0"/>
              </a:rPr>
              <a:t>μ</a:t>
            </a:r>
            <a:r>
              <a:rPr lang="en-US" sz="1600" b="0" i="0" dirty="0">
                <a:effectLst/>
                <a:latin typeface="Times New Roman" panose="02020603050405020304" pitchFamily="18" charset="0"/>
                <a:cs typeface="Times New Roman" panose="02020603050405020304" pitchFamily="18" charset="0"/>
              </a:rPr>
              <a:t>=μ0</a:t>
            </a:r>
          </a:p>
          <a:p>
            <a:pPr fontAlgn="base">
              <a:lnSpc>
                <a:spcPct val="90000"/>
              </a:lnSpc>
            </a:pPr>
            <a:r>
              <a:rPr lang="en-US" sz="1600" b="0" i="0" dirty="0">
                <a:effectLst/>
                <a:latin typeface="Times New Roman" panose="02020603050405020304" pitchFamily="18" charset="0"/>
                <a:cs typeface="Times New Roman" panose="02020603050405020304" pitchFamily="18" charset="0"/>
              </a:rPr>
              <a:t>Alternate Hypothesis: H1 : </a:t>
            </a:r>
            <a:r>
              <a:rPr lang="en-US" sz="1600" b="0" i="0" dirty="0" err="1">
                <a:effectLst/>
                <a:latin typeface="Times New Roman" panose="02020603050405020304" pitchFamily="18" charset="0"/>
                <a:cs typeface="Times New Roman" panose="02020603050405020304" pitchFamily="18" charset="0"/>
              </a:rPr>
              <a:t>μ</a:t>
            </a:r>
            <a:r>
              <a:rPr lang="en-US" sz="1600" b="0" i="0" dirty="0">
                <a:effectLst/>
                <a:latin typeface="Times New Roman" panose="02020603050405020304" pitchFamily="18" charset="0"/>
                <a:cs typeface="Times New Roman" panose="02020603050405020304" pitchFamily="18" charset="0"/>
              </a:rPr>
              <a:t>&gt;μ0</a:t>
            </a:r>
          </a:p>
          <a:p>
            <a:pPr fontAlgn="base">
              <a:lnSpc>
                <a:spcPct val="90000"/>
              </a:lnSpc>
            </a:pPr>
            <a:r>
              <a:rPr lang="en-US" sz="1600" b="0" i="0" dirty="0">
                <a:effectLst/>
                <a:latin typeface="Times New Roman" panose="02020603050405020304" pitchFamily="18" charset="0"/>
                <a:cs typeface="Times New Roman" panose="02020603050405020304" pitchFamily="18" charset="0"/>
              </a:rPr>
              <a:t>Test Statistic: z =  (x¯ −</a:t>
            </a:r>
            <a:r>
              <a:rPr lang="en-US" sz="1600" b="0" i="0" dirty="0" err="1">
                <a:effectLst/>
                <a:latin typeface="Times New Roman" panose="02020603050405020304" pitchFamily="18" charset="0"/>
                <a:cs typeface="Times New Roman" panose="02020603050405020304" pitchFamily="18" charset="0"/>
              </a:rPr>
              <a:t>μ</a:t>
            </a:r>
            <a:r>
              <a:rPr lang="en-US" sz="1600" b="0" i="0" dirty="0">
                <a:effectLst/>
                <a:latin typeface="Times New Roman" panose="02020603050405020304" pitchFamily="18" charset="0"/>
                <a:cs typeface="Times New Roman" panose="02020603050405020304" pitchFamily="18" charset="0"/>
              </a:rPr>
              <a:t>) /</a:t>
            </a:r>
            <a:r>
              <a:rPr lang="en-US" sz="1600" b="0" i="0" dirty="0" err="1">
                <a:effectLst/>
                <a:latin typeface="Times New Roman" panose="02020603050405020304" pitchFamily="18" charset="0"/>
                <a:cs typeface="Times New Roman" panose="02020603050405020304" pitchFamily="18" charset="0"/>
              </a:rPr>
              <a:t>σ√n</a:t>
            </a:r>
            <a:endParaRPr lang="en-US" sz="1600" dirty="0">
              <a:latin typeface="Times New Roman" panose="02020603050405020304" pitchFamily="18" charset="0"/>
              <a:cs typeface="Times New Roman" panose="02020603050405020304" pitchFamily="18" charset="0"/>
            </a:endParaRPr>
          </a:p>
          <a:p>
            <a:pPr fontAlgn="base">
              <a:lnSpc>
                <a:spcPct val="90000"/>
              </a:lnSpc>
            </a:pPr>
            <a:r>
              <a:rPr lang="en-US" sz="1600" b="0" i="0" dirty="0">
                <a:effectLst/>
                <a:latin typeface="Times New Roman" panose="02020603050405020304" pitchFamily="18" charset="0"/>
                <a:cs typeface="Times New Roman" panose="02020603050405020304" pitchFamily="18" charset="0"/>
              </a:rPr>
              <a:t>Decision Criteria: If the z statistic &gt; z critical value then reject the null hypothesis</a:t>
            </a:r>
          </a:p>
          <a:p>
            <a:pPr fontAlgn="base">
              <a:lnSpc>
                <a:spcPct val="90000"/>
              </a:lnSpc>
            </a:pPr>
            <a:endParaRPr lang="en-US" sz="1600" b="1" dirty="0">
              <a:latin typeface="Times New Roman" panose="02020603050405020304" pitchFamily="18" charset="0"/>
              <a:cs typeface="Times New Roman" panose="02020603050405020304" pitchFamily="18" charset="0"/>
            </a:endParaRPr>
          </a:p>
          <a:p>
            <a:pPr fontAlgn="base">
              <a:lnSpc>
                <a:spcPct val="90000"/>
              </a:lnSpc>
            </a:pPr>
            <a:r>
              <a:rPr lang="en-US" sz="1600" b="1" i="0" dirty="0">
                <a:effectLst/>
                <a:latin typeface="Times New Roman" panose="02020603050405020304" pitchFamily="18" charset="0"/>
                <a:cs typeface="Times New Roman" panose="02020603050405020304" pitchFamily="18" charset="0"/>
              </a:rPr>
              <a:t>Example 1:</a:t>
            </a:r>
            <a:r>
              <a:rPr lang="en-US" sz="1600" b="0" i="0" dirty="0">
                <a:effectLst/>
                <a:latin typeface="Times New Roman" panose="02020603050405020304" pitchFamily="18" charset="0"/>
                <a:cs typeface="Times New Roman" panose="02020603050405020304" pitchFamily="18" charset="0"/>
              </a:rPr>
              <a:t> A teacher claims that the mean score of students in his class is greater than 82 with a standard deviation of 20. If a sample of 81 students was selected with a mean score of 90 then check if there is enough evidence to support this claim at a 0.05 significance level.</a:t>
            </a:r>
          </a:p>
          <a:p>
            <a:pPr fontAlgn="base">
              <a:lnSpc>
                <a:spcPct val="90000"/>
              </a:lnSpc>
            </a:pPr>
            <a:r>
              <a:rPr lang="en-US" sz="1600" b="1" i="0" dirty="0">
                <a:effectLst/>
                <a:latin typeface="Times New Roman" panose="02020603050405020304" pitchFamily="18" charset="0"/>
                <a:cs typeface="Times New Roman" panose="02020603050405020304" pitchFamily="18" charset="0"/>
              </a:rPr>
              <a:t>Solution:</a:t>
            </a:r>
            <a:r>
              <a:rPr lang="en-US" sz="1600" b="0" i="0" dirty="0">
                <a:effectLst/>
                <a:latin typeface="Times New Roman" panose="02020603050405020304" pitchFamily="18" charset="0"/>
                <a:cs typeface="Times New Roman" panose="02020603050405020304" pitchFamily="18" charset="0"/>
              </a:rPr>
              <a:t> As the sample size is 81 and population standard deviation is known, this is an example of a right-tailed one-sample z test.</a:t>
            </a:r>
          </a:p>
          <a:p>
            <a:pPr fontAlgn="base">
              <a:lnSpc>
                <a:spcPct val="90000"/>
              </a:lnSpc>
            </a:pPr>
            <a:endParaRPr lang="en-US" sz="1600" b="0" i="0" dirty="0">
              <a:effectLst/>
              <a:latin typeface="Times New Roman" panose="02020603050405020304" pitchFamily="18" charset="0"/>
              <a:cs typeface="Times New Roman" panose="02020603050405020304" pitchFamily="18" charset="0"/>
            </a:endParaRPr>
          </a:p>
          <a:p>
            <a:pPr fontAlgn="base">
              <a:lnSpc>
                <a:spcPct val="90000"/>
              </a:lnSpc>
            </a:pPr>
            <a:r>
              <a:rPr lang="en-US" sz="1600" b="0" i="0" dirty="0">
                <a:effectLst/>
                <a:latin typeface="Times New Roman" panose="02020603050405020304" pitchFamily="18" charset="0"/>
                <a:cs typeface="Times New Roman" panose="02020603050405020304" pitchFamily="18" charset="0"/>
              </a:rPr>
              <a:t>H0 : </a:t>
            </a:r>
            <a:r>
              <a:rPr lang="en-US" sz="1600" b="0" i="0" dirty="0" err="1">
                <a:effectLst/>
                <a:latin typeface="Times New Roman" panose="02020603050405020304" pitchFamily="18" charset="0"/>
                <a:cs typeface="Times New Roman" panose="02020603050405020304" pitchFamily="18" charset="0"/>
              </a:rPr>
              <a:t>μ</a:t>
            </a:r>
            <a:r>
              <a:rPr lang="en-US" sz="1600" b="0" i="0" dirty="0">
                <a:effectLst/>
                <a:latin typeface="Times New Roman" panose="02020603050405020304" pitchFamily="18" charset="0"/>
                <a:cs typeface="Times New Roman" panose="02020603050405020304" pitchFamily="18" charset="0"/>
              </a:rPr>
              <a:t>=82</a:t>
            </a:r>
          </a:p>
          <a:p>
            <a:pPr fontAlgn="base">
              <a:lnSpc>
                <a:spcPct val="90000"/>
              </a:lnSpc>
            </a:pPr>
            <a:r>
              <a:rPr lang="en-US" sz="1600" b="0" i="0" dirty="0">
                <a:effectLst/>
                <a:latin typeface="Times New Roman" panose="02020603050405020304" pitchFamily="18" charset="0"/>
                <a:cs typeface="Times New Roman" panose="02020603050405020304" pitchFamily="18" charset="0"/>
              </a:rPr>
              <a:t>H1 : </a:t>
            </a:r>
            <a:r>
              <a:rPr lang="en-US" sz="1600" b="0" i="0" dirty="0" err="1">
                <a:effectLst/>
                <a:latin typeface="Times New Roman" panose="02020603050405020304" pitchFamily="18" charset="0"/>
                <a:cs typeface="Times New Roman" panose="02020603050405020304" pitchFamily="18" charset="0"/>
              </a:rPr>
              <a:t>μ</a:t>
            </a:r>
            <a:r>
              <a:rPr lang="en-US" sz="1600" b="0" i="0" dirty="0">
                <a:effectLst/>
                <a:latin typeface="Times New Roman" panose="02020603050405020304" pitchFamily="18" charset="0"/>
                <a:cs typeface="Times New Roman" panose="02020603050405020304" pitchFamily="18" charset="0"/>
              </a:rPr>
              <a:t>&gt;82</a:t>
            </a:r>
          </a:p>
          <a:p>
            <a:pPr fontAlgn="base">
              <a:lnSpc>
                <a:spcPct val="90000"/>
              </a:lnSpc>
            </a:pPr>
            <a:endParaRPr lang="en-US" sz="1600" b="0" i="0" dirty="0">
              <a:effectLst/>
              <a:latin typeface="Times New Roman" panose="02020603050405020304" pitchFamily="18" charset="0"/>
              <a:cs typeface="Times New Roman" panose="02020603050405020304" pitchFamily="18" charset="0"/>
            </a:endParaRPr>
          </a:p>
          <a:p>
            <a:pPr fontAlgn="base">
              <a:lnSpc>
                <a:spcPct val="90000"/>
              </a:lnSpc>
            </a:pPr>
            <a:endParaRPr lang="en-US" sz="1600" b="0" i="0" dirty="0">
              <a:effectLst/>
              <a:latin typeface="Times New Roman" panose="02020603050405020304" pitchFamily="18" charset="0"/>
              <a:cs typeface="Times New Roman" panose="02020603050405020304" pitchFamily="18" charset="0"/>
            </a:endParaRPr>
          </a:p>
          <a:p>
            <a:pPr fontAlgn="base">
              <a:lnSpc>
                <a:spcPct val="90000"/>
              </a:lnSpc>
            </a:pPr>
            <a:endParaRPr lang="en-US" sz="1600" dirty="0">
              <a:latin typeface="Times New Roman" panose="02020603050405020304" pitchFamily="18" charset="0"/>
              <a:cs typeface="Times New Roman" panose="02020603050405020304" pitchFamily="18" charset="0"/>
            </a:endParaRPr>
          </a:p>
          <a:p>
            <a:pPr fontAlgn="base">
              <a:lnSpc>
                <a:spcPct val="90000"/>
              </a:lnSpc>
            </a:pPr>
            <a:r>
              <a:rPr lang="en-US" sz="1600" b="0" i="0" dirty="0">
                <a:effectLst/>
                <a:latin typeface="Times New Roman" panose="02020603050405020304" pitchFamily="18" charset="0"/>
                <a:cs typeface="Times New Roman" panose="02020603050405020304" pitchFamily="18" charset="0"/>
              </a:rPr>
              <a:t>From the z table the critical value at α = 1.96</a:t>
            </a:r>
          </a:p>
          <a:p>
            <a:pPr fontAlgn="base">
              <a:lnSpc>
                <a:spcPct val="90000"/>
              </a:lnSpc>
            </a:pPr>
            <a:endParaRPr lang="en-US" sz="1600" dirty="0">
              <a:latin typeface="Times New Roman" panose="02020603050405020304" pitchFamily="18" charset="0"/>
              <a:cs typeface="Times New Roman" panose="02020603050405020304" pitchFamily="18" charset="0"/>
            </a:endParaRPr>
          </a:p>
          <a:p>
            <a:pPr fontAlgn="base">
              <a:lnSpc>
                <a:spcPct val="90000"/>
              </a:lnSpc>
            </a:pPr>
            <a:r>
              <a:rPr lang="en-US" sz="1600" b="0" i="0" dirty="0">
                <a:effectLst/>
                <a:latin typeface="Times New Roman" panose="02020603050405020304" pitchFamily="18" charset="0"/>
                <a:cs typeface="Times New Roman" panose="02020603050405020304" pitchFamily="18" charset="0"/>
              </a:rPr>
              <a:t>As 3.6 &gt; 1.96 thus, the null hypothesis is rejected, and it is concluded that there is enough evidence to support the teacher's claim.</a:t>
            </a:r>
          </a:p>
          <a:p>
            <a:pPr fontAlgn="base">
              <a:lnSpc>
                <a:spcPct val="90000"/>
              </a:lnSpc>
            </a:pPr>
            <a:r>
              <a:rPr lang="en-US" sz="1600" b="1" i="0" dirty="0">
                <a:effectLst/>
                <a:latin typeface="Times New Roman" panose="02020603050405020304" pitchFamily="18" charset="0"/>
                <a:cs typeface="Times New Roman" panose="02020603050405020304" pitchFamily="18" charset="0"/>
              </a:rPr>
              <a:t>Answer:</a:t>
            </a:r>
            <a:r>
              <a:rPr lang="en-US" sz="1600" b="0" i="0" dirty="0">
                <a:effectLst/>
                <a:latin typeface="Times New Roman" panose="02020603050405020304" pitchFamily="18" charset="0"/>
                <a:cs typeface="Times New Roman" panose="02020603050405020304" pitchFamily="18" charset="0"/>
              </a:rPr>
              <a:t> Reject the null hypothesis</a:t>
            </a:r>
          </a:p>
          <a:p>
            <a:pPr>
              <a:lnSpc>
                <a:spcPct val="90000"/>
              </a:lnSpc>
              <a:spcBef>
                <a:spcPts val="2000"/>
              </a:spcBef>
              <a:spcAft>
                <a:spcPts val="2000"/>
              </a:spcAft>
            </a:pPr>
            <a:endParaRPr lang="en-US" sz="1600" dirty="0">
              <a:latin typeface="Times New Roman" panose="02020603050405020304" pitchFamily="18" charset="0"/>
              <a:cs typeface="Times New Roman" panose="02020603050405020304" pitchFamily="18" charset="0"/>
            </a:endParaRPr>
          </a:p>
          <a:p>
            <a:pPr>
              <a:lnSpc>
                <a:spcPct val="90000"/>
              </a:lnSpc>
            </a:pP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pic>
        <p:nvPicPr>
          <p:cNvPr id="5" name="Picture 4" descr="Table&#10;&#10;Description automatically generated">
            <a:extLst>
              <a:ext uri="{FF2B5EF4-FFF2-40B4-BE49-F238E27FC236}">
                <a16:creationId xmlns:a16="http://schemas.microsoft.com/office/drawing/2014/main" id="{78BD8808-1FBD-056B-77F1-5B49400E7247}"/>
              </a:ext>
            </a:extLst>
          </p:cNvPr>
          <p:cNvPicPr>
            <a:picLocks noChangeAspect="1"/>
          </p:cNvPicPr>
          <p:nvPr/>
        </p:nvPicPr>
        <p:blipFill rotWithShape="1">
          <a:blip r:embed="rId3"/>
          <a:srcRect t="965" r="-1" b="2457"/>
          <a:stretch/>
        </p:blipFill>
        <p:spPr>
          <a:xfrm>
            <a:off x="7609213" y="898017"/>
            <a:ext cx="4524372" cy="265508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707696D-BE6D-2882-DEE3-5C6E7D332431}"/>
                  </a:ext>
                </a:extLst>
              </p:cNvPr>
              <p:cNvSpPr txBox="1"/>
              <p:nvPr/>
            </p:nvSpPr>
            <p:spPr>
              <a:xfrm>
                <a:off x="7366596" y="4196656"/>
                <a:ext cx="6100354" cy="2051972"/>
              </a:xfrm>
              <a:prstGeom prst="rect">
                <a:avLst/>
              </a:prstGeom>
              <a:noFill/>
            </p:spPr>
            <p:txBody>
              <a:bodyPr wrap="square">
                <a:spAutoFit/>
              </a:bodyPr>
              <a:lstStyle/>
              <a:p>
                <a:pPr lvl="1" fontAlgn="base"/>
                <a:r>
                  <a:rPr lang="en-US" b="0" i="0" dirty="0">
                    <a:effectLst/>
                    <a:latin typeface="Times New Roman" panose="02020603050405020304" pitchFamily="18" charset="0"/>
                    <a:cs typeface="Times New Roman" panose="02020603050405020304" pitchFamily="18" charset="0"/>
                  </a:rPr>
                  <a:t>z =  (x¯ −</a:t>
                </a:r>
                <a:r>
                  <a:rPr lang="en-US" b="0" i="0" dirty="0" err="1">
                    <a:effectLst/>
                    <a:latin typeface="Times New Roman" panose="02020603050405020304" pitchFamily="18" charset="0"/>
                    <a:cs typeface="Times New Roman" panose="02020603050405020304" pitchFamily="18" charset="0"/>
                  </a:rPr>
                  <a:t>μ</a:t>
                </a:r>
                <a:r>
                  <a:rPr lang="en-US" b="0" i="0" dirty="0">
                    <a:effectLst/>
                    <a:latin typeface="Times New Roman" panose="02020603050405020304" pitchFamily="18" charset="0"/>
                    <a:cs typeface="Times New Roman" panose="02020603050405020304" pitchFamily="18" charset="0"/>
                  </a:rPr>
                  <a:t>) /</a:t>
                </a:r>
                <a:r>
                  <a:rPr lang="en-US" b="0" i="0" dirty="0" err="1">
                    <a:effectLst/>
                    <a:latin typeface="Times New Roman" panose="02020603050405020304" pitchFamily="18" charset="0"/>
                    <a:cs typeface="Times New Roman" panose="02020603050405020304" pitchFamily="18" charset="0"/>
                  </a:rPr>
                  <a:t>σ√n</a:t>
                </a:r>
                <a:endParaRPr lang="en-US" dirty="0">
                  <a:latin typeface="Times New Roman" panose="02020603050405020304" pitchFamily="18" charset="0"/>
                  <a:cs typeface="Times New Roman" panose="02020603050405020304" pitchFamily="18" charset="0"/>
                </a:endParaRPr>
              </a:p>
              <a:p>
                <a:pPr lvl="1" fontAlgn="base"/>
                <a:r>
                  <a:rPr lang="en-US" b="0" i="0" dirty="0">
                    <a:effectLst/>
                    <a:latin typeface="Times New Roman" panose="02020603050405020304" pitchFamily="18" charset="0"/>
                    <a:cs typeface="Times New Roman" panose="02020603050405020304" pitchFamily="18" charset="0"/>
                  </a:rPr>
                  <a:t>x¯ = 90 </a:t>
                </a:r>
              </a:p>
              <a:p>
                <a:pPr lvl="1" fontAlgn="base"/>
                <a:r>
                  <a:rPr lang="en-US" b="0" i="0" dirty="0" err="1">
                    <a:effectLst/>
                    <a:latin typeface="Times New Roman" panose="02020603050405020304" pitchFamily="18" charset="0"/>
                    <a:cs typeface="Times New Roman" panose="02020603050405020304" pitchFamily="18" charset="0"/>
                  </a:rPr>
                  <a:t>μ</a:t>
                </a:r>
                <a:r>
                  <a:rPr lang="en-US" b="0" i="0" dirty="0">
                    <a:effectLst/>
                    <a:latin typeface="Times New Roman" panose="02020603050405020304" pitchFamily="18" charset="0"/>
                    <a:cs typeface="Times New Roman" panose="02020603050405020304" pitchFamily="18" charset="0"/>
                  </a:rPr>
                  <a:t> = 82</a:t>
                </a:r>
              </a:p>
              <a:p>
                <a:pPr lvl="1" fontAlgn="base"/>
                <a:r>
                  <a:rPr lang="en-US" b="0" i="0" dirty="0">
                    <a:effectLst/>
                    <a:latin typeface="Times New Roman" panose="02020603050405020304" pitchFamily="18" charset="0"/>
                    <a:cs typeface="Times New Roman" panose="02020603050405020304" pitchFamily="18" charset="0"/>
                  </a:rPr>
                  <a:t>n = 81  </a:t>
                </a:r>
              </a:p>
              <a:p>
                <a:pPr lvl="1" fontAlgn="base"/>
                <a:r>
                  <a:rPr lang="en-US" b="0" i="0" dirty="0" err="1">
                    <a:effectLst/>
                    <a:latin typeface="Times New Roman" panose="02020603050405020304" pitchFamily="18" charset="0"/>
                    <a:cs typeface="Times New Roman" panose="02020603050405020304" pitchFamily="18" charset="0"/>
                  </a:rPr>
                  <a:t>σ</a:t>
                </a:r>
                <a:r>
                  <a:rPr lang="en-US" b="0" i="0" dirty="0">
                    <a:effectLst/>
                    <a:latin typeface="Times New Roman" panose="02020603050405020304" pitchFamily="18" charset="0"/>
                    <a:cs typeface="Times New Roman" panose="02020603050405020304" pitchFamily="18" charset="0"/>
                  </a:rPr>
                  <a:t> = 20</a:t>
                </a:r>
              </a:p>
              <a:p>
                <a:pPr lvl="1" fontAlgn="base"/>
                <a:r>
                  <a:rPr lang="en-US" dirty="0">
                    <a:latin typeface="Times New Roman" panose="02020603050405020304" pitchFamily="18" charset="0"/>
                    <a:cs typeface="Times New Roman" panose="02020603050405020304" pitchFamily="18" charset="0"/>
                  </a:rPr>
                  <a:t>z = 90-82/(20/</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81)</m:t>
                    </m:r>
                  </m:oMath>
                </a14:m>
                <a:endParaRPr lang="en-US" b="0" i="0" dirty="0">
                  <a:effectLst/>
                  <a:latin typeface="Times New Roman" panose="02020603050405020304" pitchFamily="18" charset="0"/>
                  <a:cs typeface="Times New Roman" panose="02020603050405020304" pitchFamily="18" charset="0"/>
                </a:endParaRPr>
              </a:p>
              <a:p>
                <a:pPr lvl="1" fontAlgn="base"/>
                <a:r>
                  <a:rPr lang="en-US" b="0" i="0" dirty="0">
                    <a:effectLst/>
                    <a:latin typeface="Times New Roman" panose="02020603050405020304" pitchFamily="18" charset="0"/>
                    <a:cs typeface="Times New Roman" panose="02020603050405020304" pitchFamily="18" charset="0"/>
                  </a:rPr>
                  <a:t>z = 3.6</a:t>
                </a:r>
                <a:endParaRPr lang="en-US"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C707696D-BE6D-2882-DEE3-5C6E7D332431}"/>
                  </a:ext>
                </a:extLst>
              </p:cNvPr>
              <p:cNvSpPr txBox="1">
                <a:spLocks noRot="1" noChangeAspect="1" noMove="1" noResize="1" noEditPoints="1" noAdjustHandles="1" noChangeArrowheads="1" noChangeShapeType="1" noTextEdit="1"/>
              </p:cNvSpPr>
              <p:nvPr/>
            </p:nvSpPr>
            <p:spPr>
              <a:xfrm>
                <a:off x="7366596" y="4196656"/>
                <a:ext cx="6100354" cy="2051972"/>
              </a:xfrm>
              <a:prstGeom prst="rect">
                <a:avLst/>
              </a:prstGeom>
              <a:blipFill>
                <a:blip r:embed="rId4"/>
                <a:stretch>
                  <a:fillRect t="-1227" b="-3681"/>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20C2C696-152A-381F-F8FE-F7F02D0E289D}"/>
              </a:ext>
            </a:extLst>
          </p:cNvPr>
          <p:cNvSpPr txBox="1"/>
          <p:nvPr/>
        </p:nvSpPr>
        <p:spPr>
          <a:xfrm>
            <a:off x="311799" y="4761443"/>
            <a:ext cx="6897188" cy="584775"/>
          </a:xfrm>
          <a:prstGeom prst="rect">
            <a:avLst/>
          </a:prstGeom>
          <a:noFill/>
        </p:spPr>
        <p:txBody>
          <a:bodyPr wrap="square">
            <a:spAutoFit/>
          </a:bodyPr>
          <a:lstStyle/>
          <a:p>
            <a:r>
              <a:rPr lang="en-US" sz="1600" b="0" i="0" dirty="0">
                <a:effectLst/>
                <a:latin typeface="Times New Roman" panose="02020603050405020304" pitchFamily="18" charset="0"/>
                <a:cs typeface="Times New Roman" panose="02020603050405020304" pitchFamily="18" charset="0"/>
              </a:rPr>
              <a:t> α = 0.05</a:t>
            </a:r>
          </a:p>
          <a:p>
            <a:r>
              <a:rPr lang="en-US" sz="1600" dirty="0">
                <a:latin typeface="Times New Roman" panose="02020603050405020304" pitchFamily="18" charset="0"/>
                <a:cs typeface="Times New Roman" panose="02020603050405020304" pitchFamily="18" charset="0"/>
              </a:rPr>
              <a:t>Then confidence level = 1-</a:t>
            </a:r>
            <a:r>
              <a:rPr lang="en-US" sz="1600" b="0" i="0" dirty="0">
                <a:effectLst/>
                <a:latin typeface="Times New Roman" panose="02020603050405020304" pitchFamily="18" charset="0"/>
                <a:cs typeface="Times New Roman" panose="02020603050405020304" pitchFamily="18" charset="0"/>
              </a:rPr>
              <a:t> α = </a:t>
            </a:r>
            <a:r>
              <a:rPr lang="en-US" sz="1600" dirty="0">
                <a:latin typeface="Times New Roman" panose="02020603050405020304" pitchFamily="18" charset="0"/>
                <a:cs typeface="Times New Roman" panose="02020603050405020304" pitchFamily="18" charset="0"/>
              </a:rPr>
              <a:t>1-0.05 = 0.95</a:t>
            </a:r>
            <a:endParaRPr lang="en-US" sz="1600" dirty="0"/>
          </a:p>
        </p:txBody>
      </p:sp>
    </p:spTree>
    <p:extLst>
      <p:ext uri="{BB962C8B-B14F-4D97-AF65-F5344CB8AC3E}">
        <p14:creationId xmlns:p14="http://schemas.microsoft.com/office/powerpoint/2010/main" val="3316725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6" name="Arc 105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F1A58E5-4C24-76CE-1216-0058CAD7A5D9}"/>
              </a:ext>
            </a:extLst>
          </p:cNvPr>
          <p:cNvSpPr txBox="1"/>
          <p:nvPr/>
        </p:nvSpPr>
        <p:spPr>
          <a:xfrm>
            <a:off x="848239" y="181957"/>
            <a:ext cx="10861590" cy="5078313"/>
          </a:xfrm>
          <a:prstGeom prst="rect">
            <a:avLst/>
          </a:prstGeom>
          <a:noFill/>
        </p:spPr>
        <p:txBody>
          <a:bodyPr wrap="square">
            <a:spAutoFit/>
          </a:bodyPr>
          <a:lstStyle/>
          <a:p>
            <a:pPr algn="l" fontAlgn="base"/>
            <a:endParaRPr lang="en-IN" sz="1600" b="1" i="0" dirty="0">
              <a:solidFill>
                <a:srgbClr val="333333"/>
              </a:solidFill>
              <a:effectLst/>
              <a:latin typeface="Times New Roman" panose="02020603050405020304" pitchFamily="18" charset="0"/>
              <a:cs typeface="Times New Roman" panose="02020603050405020304" pitchFamily="18" charset="0"/>
            </a:endParaRPr>
          </a:p>
          <a:p>
            <a:pPr algn="l" fontAlgn="base"/>
            <a:r>
              <a:rPr lang="en-IN" sz="1600" b="1" i="0" dirty="0">
                <a:solidFill>
                  <a:srgbClr val="333333"/>
                </a:solidFill>
                <a:effectLst/>
                <a:latin typeface="Times New Roman" panose="02020603050405020304" pitchFamily="18" charset="0"/>
                <a:cs typeface="Times New Roman" panose="02020603050405020304" pitchFamily="18" charset="0"/>
              </a:rPr>
              <a:t>T Test:</a:t>
            </a:r>
            <a:r>
              <a:rPr lang="en-IN" sz="1600" b="0" i="0" dirty="0">
                <a:solidFill>
                  <a:srgbClr val="333333"/>
                </a:solidFill>
                <a:effectLst/>
                <a:latin typeface="Times New Roman" panose="02020603050405020304" pitchFamily="18" charset="0"/>
                <a:cs typeface="Times New Roman" panose="02020603050405020304" pitchFamily="18" charset="0"/>
              </a:rPr>
              <a:t> </a:t>
            </a:r>
            <a:r>
              <a:rPr lang="en-IN" sz="1600" b="0" i="0" u="none" strike="noStrike" dirty="0">
                <a:solidFill>
                  <a:srgbClr val="01A5F2"/>
                </a:solidFill>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t test</a:t>
            </a:r>
            <a:r>
              <a:rPr lang="en-IN" sz="1600" b="0" i="0" dirty="0">
                <a:effectLst/>
                <a:latin typeface="Times New Roman" panose="02020603050405020304" pitchFamily="18" charset="0"/>
                <a:cs typeface="Times New Roman" panose="02020603050405020304" pitchFamily="18" charset="0"/>
              </a:rPr>
              <a:t> </a:t>
            </a:r>
            <a:r>
              <a:rPr lang="en-IN" sz="1600" b="0" i="0" dirty="0">
                <a:solidFill>
                  <a:srgbClr val="333333"/>
                </a:solidFill>
                <a:effectLst/>
                <a:latin typeface="Times New Roman" panose="02020603050405020304" pitchFamily="18" charset="0"/>
                <a:cs typeface="Times New Roman" panose="02020603050405020304" pitchFamily="18" charset="0"/>
              </a:rPr>
              <a:t>is used when the sample size is lesser than 30. It is used to compare the sample and population mean when the population variance is unknown. The hypothesis test for inferential statistics is given as follows:</a:t>
            </a:r>
          </a:p>
          <a:p>
            <a:pPr algn="l" fontAlgn="base"/>
            <a:r>
              <a:rPr lang="en-IN" sz="1600" b="0" i="0" dirty="0">
                <a:solidFill>
                  <a:srgbClr val="333333"/>
                </a:solidFill>
                <a:effectLst/>
                <a:latin typeface="Times New Roman" panose="02020603050405020304" pitchFamily="18" charset="0"/>
                <a:cs typeface="Times New Roman" panose="02020603050405020304" pitchFamily="18" charset="0"/>
              </a:rPr>
              <a:t>Null Hypothesis: H0 : </a:t>
            </a:r>
            <a:r>
              <a:rPr lang="el-GR" sz="1600" b="0" i="0" dirty="0">
                <a:solidFill>
                  <a:srgbClr val="333333"/>
                </a:solidFill>
                <a:effectLst/>
                <a:latin typeface="Times New Roman" panose="02020603050405020304" pitchFamily="18" charset="0"/>
                <a:cs typeface="Times New Roman" panose="02020603050405020304" pitchFamily="18" charset="0"/>
              </a:rPr>
              <a:t>μ=μ0</a:t>
            </a:r>
          </a:p>
          <a:p>
            <a:pPr algn="l" fontAlgn="base"/>
            <a:r>
              <a:rPr lang="en-IN" sz="1600" b="0" i="0" dirty="0">
                <a:solidFill>
                  <a:srgbClr val="333333"/>
                </a:solidFill>
                <a:effectLst/>
                <a:latin typeface="Times New Roman" panose="02020603050405020304" pitchFamily="18" charset="0"/>
                <a:cs typeface="Times New Roman" panose="02020603050405020304" pitchFamily="18" charset="0"/>
              </a:rPr>
              <a:t>Alternate Hypothesis: H1 : </a:t>
            </a:r>
            <a:r>
              <a:rPr lang="el-GR" sz="1600" b="0" i="0" dirty="0">
                <a:solidFill>
                  <a:srgbClr val="333333"/>
                </a:solidFill>
                <a:effectLst/>
                <a:latin typeface="Times New Roman" panose="02020603050405020304" pitchFamily="18" charset="0"/>
                <a:cs typeface="Times New Roman" panose="02020603050405020304" pitchFamily="18" charset="0"/>
              </a:rPr>
              <a:t>μ&gt;μ0 </a:t>
            </a:r>
            <a:endParaRPr lang="en-US" sz="1600" b="0" i="0" dirty="0">
              <a:solidFill>
                <a:srgbClr val="333333"/>
              </a:solidFill>
              <a:effectLst/>
              <a:latin typeface="Times New Roman" panose="02020603050405020304" pitchFamily="18" charset="0"/>
              <a:cs typeface="Times New Roman" panose="02020603050405020304" pitchFamily="18" charset="0"/>
            </a:endParaRPr>
          </a:p>
          <a:p>
            <a:pPr fontAlgn="base"/>
            <a:r>
              <a:rPr lang="en-IN" sz="1600" b="0" i="0" dirty="0">
                <a:solidFill>
                  <a:srgbClr val="333333"/>
                </a:solidFill>
                <a:effectLst/>
                <a:latin typeface="Times New Roman" panose="02020603050405020304" pitchFamily="18" charset="0"/>
                <a:cs typeface="Times New Roman" panose="02020603050405020304" pitchFamily="18" charset="0"/>
              </a:rPr>
              <a:t>Test Statistic: t =  (x¯ −</a:t>
            </a:r>
            <a:r>
              <a:rPr lang="el-GR" sz="1600" b="0" i="0" dirty="0">
                <a:solidFill>
                  <a:srgbClr val="333333"/>
                </a:solidFill>
                <a:effectLst/>
                <a:latin typeface="Times New Roman" panose="02020603050405020304" pitchFamily="18" charset="0"/>
                <a:cs typeface="Times New Roman" panose="02020603050405020304" pitchFamily="18" charset="0"/>
              </a:rPr>
              <a:t>μ</a:t>
            </a:r>
            <a:r>
              <a:rPr lang="en-US" sz="1600" b="0" i="0" dirty="0">
                <a:solidFill>
                  <a:srgbClr val="333333"/>
                </a:solidFill>
                <a:effectLst/>
                <a:latin typeface="Times New Roman" panose="02020603050405020304" pitchFamily="18" charset="0"/>
                <a:cs typeface="Times New Roman" panose="02020603050405020304" pitchFamily="18" charset="0"/>
              </a:rPr>
              <a:t>) /</a:t>
            </a:r>
            <a:r>
              <a:rPr lang="en-US" sz="1600" dirty="0">
                <a:solidFill>
                  <a:srgbClr val="333333"/>
                </a:solidFill>
                <a:latin typeface="Times New Roman" panose="02020603050405020304" pitchFamily="18" charset="0"/>
                <a:cs typeface="Times New Roman" panose="02020603050405020304" pitchFamily="18" charset="0"/>
              </a:rPr>
              <a:t>s</a:t>
            </a:r>
            <a:r>
              <a:rPr lang="el-GR" sz="1600" b="0" i="0" dirty="0">
                <a:solidFill>
                  <a:srgbClr val="333333"/>
                </a:solidFill>
                <a:effectLst/>
                <a:latin typeface="Times New Roman" panose="02020603050405020304" pitchFamily="18" charset="0"/>
                <a:cs typeface="Times New Roman" panose="02020603050405020304" pitchFamily="18" charset="0"/>
              </a:rPr>
              <a:t>√</a:t>
            </a:r>
            <a:r>
              <a:rPr lang="en-US" sz="1600" b="0" i="0" dirty="0">
                <a:solidFill>
                  <a:srgbClr val="333333"/>
                </a:solidFill>
                <a:effectLst/>
                <a:latin typeface="Times New Roman" panose="02020603050405020304" pitchFamily="18" charset="0"/>
                <a:cs typeface="Times New Roman" panose="02020603050405020304" pitchFamily="18" charset="0"/>
              </a:rPr>
              <a:t>n</a:t>
            </a:r>
            <a:endParaRPr lang="en-IN" sz="1600" dirty="0">
              <a:solidFill>
                <a:srgbClr val="333333"/>
              </a:solidFill>
              <a:latin typeface="Times New Roman" panose="02020603050405020304" pitchFamily="18" charset="0"/>
              <a:cs typeface="Times New Roman" panose="02020603050405020304" pitchFamily="18" charset="0"/>
            </a:endParaRPr>
          </a:p>
          <a:p>
            <a:pPr algn="l" fontAlgn="base"/>
            <a:r>
              <a:rPr lang="en-IN" sz="1600" b="0" i="0" dirty="0">
                <a:solidFill>
                  <a:srgbClr val="333333"/>
                </a:solidFill>
                <a:effectLst/>
                <a:latin typeface="Times New Roman" panose="02020603050405020304" pitchFamily="18" charset="0"/>
                <a:cs typeface="Times New Roman" panose="02020603050405020304" pitchFamily="18" charset="0"/>
              </a:rPr>
              <a:t>Decision Criteria: If the t statistic &gt; t critical value then reject the null hypothesis.</a:t>
            </a:r>
          </a:p>
          <a:p>
            <a:pPr algn="l" fontAlgn="base"/>
            <a:endParaRPr lang="en-IN" sz="2000" b="1" dirty="0">
              <a:solidFill>
                <a:srgbClr val="333333"/>
              </a:solidFill>
              <a:latin typeface="Times New Roman" panose="02020603050405020304" pitchFamily="18" charset="0"/>
              <a:cs typeface="Times New Roman" panose="02020603050405020304" pitchFamily="18" charset="0"/>
            </a:endParaRPr>
          </a:p>
          <a:p>
            <a:pPr fontAlgn="base"/>
            <a:endParaRPr lang="en-IN" sz="2000" b="1" dirty="0">
              <a:solidFill>
                <a:srgbClr val="333333"/>
              </a:solidFill>
              <a:latin typeface="Times New Roman" panose="02020603050405020304" pitchFamily="18" charset="0"/>
              <a:cs typeface="Times New Roman" panose="02020603050405020304" pitchFamily="18" charset="0"/>
            </a:endParaRPr>
          </a:p>
          <a:p>
            <a:pPr fontAlgn="base"/>
            <a:r>
              <a:rPr lang="en-IN" sz="2400" b="1" dirty="0">
                <a:solidFill>
                  <a:srgbClr val="333333"/>
                </a:solidFill>
                <a:latin typeface="Times New Roman" panose="02020603050405020304" pitchFamily="18" charset="0"/>
                <a:cs typeface="Times New Roman" panose="02020603050405020304" pitchFamily="18" charset="0"/>
              </a:rPr>
              <a:t>Non-Parametric Statistics</a:t>
            </a:r>
          </a:p>
          <a:p>
            <a:pPr fontAlgn="base"/>
            <a:endParaRPr lang="en-IN" sz="2000" b="1" dirty="0">
              <a:solidFill>
                <a:srgbClr val="333333"/>
              </a:solidFill>
              <a:latin typeface="Times New Roman" panose="02020603050405020304" pitchFamily="18" charset="0"/>
              <a:cs typeface="Times New Roman" panose="02020603050405020304" pitchFamily="18" charset="0"/>
            </a:endParaRPr>
          </a:p>
          <a:p>
            <a:pPr fontAlgn="base"/>
            <a:r>
              <a:rPr lang="en-IN" sz="1600" dirty="0">
                <a:solidFill>
                  <a:srgbClr val="333333"/>
                </a:solidFill>
                <a:latin typeface="Times New Roman" panose="02020603050405020304" pitchFamily="18" charset="0"/>
                <a:cs typeface="Times New Roman" panose="02020603050405020304" pitchFamily="18" charset="0"/>
              </a:rPr>
              <a:t>Non-Parametric Statistics doesn’t assume anything about the population parameters. Nonparametric tests include chi-square, Fisher’s exact test and the Mann-Whitney test</a:t>
            </a:r>
          </a:p>
          <a:p>
            <a:pPr fontAlgn="base"/>
            <a:endParaRPr lang="en-IN" sz="1600" dirty="0">
              <a:solidFill>
                <a:srgbClr val="333333"/>
              </a:solidFill>
              <a:latin typeface="Times New Roman" panose="02020603050405020304" pitchFamily="18" charset="0"/>
              <a:cs typeface="Times New Roman" panose="02020603050405020304" pitchFamily="18" charset="0"/>
            </a:endParaRPr>
          </a:p>
          <a:p>
            <a:pPr fontAlgn="base"/>
            <a:endParaRPr lang="en-IN" sz="1600" dirty="0">
              <a:solidFill>
                <a:srgbClr val="333333"/>
              </a:solidFill>
              <a:latin typeface="Times New Roman" panose="02020603050405020304" pitchFamily="18" charset="0"/>
              <a:cs typeface="Times New Roman" panose="02020603050405020304" pitchFamily="18" charset="0"/>
            </a:endParaRPr>
          </a:p>
          <a:p>
            <a:pPr algn="l" fontAlgn="base"/>
            <a:r>
              <a:rPr lang="en-IN" sz="1600" i="0" dirty="0">
                <a:solidFill>
                  <a:srgbClr val="333333"/>
                </a:solidFill>
                <a:effectLst/>
                <a:latin typeface="Times New Roman" panose="02020603050405020304" pitchFamily="18" charset="0"/>
                <a:cs typeface="Times New Roman" panose="02020603050405020304" pitchFamily="18" charset="0"/>
              </a:rPr>
              <a:t> </a:t>
            </a:r>
          </a:p>
          <a:p>
            <a:pPr fontAlgn="base"/>
            <a:r>
              <a:rPr lang="en-IN" sz="1600" b="1" i="0" dirty="0">
                <a:solidFill>
                  <a:srgbClr val="333333"/>
                </a:solidFill>
                <a:effectLst/>
                <a:latin typeface="Times New Roman" panose="02020603050405020304" pitchFamily="18" charset="0"/>
                <a:cs typeface="Times New Roman" panose="02020603050405020304" pitchFamily="18" charset="0"/>
              </a:rPr>
              <a:t>Chi Square Test -</a:t>
            </a:r>
            <a:r>
              <a:rPr lang="en-IN" sz="1600" i="0" dirty="0">
                <a:solidFill>
                  <a:srgbClr val="333333"/>
                </a:solidFill>
                <a:effectLst/>
                <a:latin typeface="Times New Roman" panose="02020603050405020304" pitchFamily="18" charset="0"/>
                <a:cs typeface="Times New Roman" panose="02020603050405020304" pitchFamily="18" charset="0"/>
              </a:rPr>
              <a:t>(Non-Parametric Test)</a:t>
            </a:r>
            <a:endParaRPr lang="en-IN" sz="1600" b="1" i="0" dirty="0">
              <a:solidFill>
                <a:srgbClr val="333333"/>
              </a:solidFill>
              <a:effectLst/>
              <a:latin typeface="Times New Roman" panose="02020603050405020304" pitchFamily="18" charset="0"/>
              <a:cs typeface="Times New Roman" panose="02020603050405020304" pitchFamily="18" charset="0"/>
            </a:endParaRPr>
          </a:p>
          <a:p>
            <a:pPr algn="l" fontAlgn="base"/>
            <a:r>
              <a:rPr lang="en-IN" sz="1600" i="0" dirty="0">
                <a:solidFill>
                  <a:srgbClr val="333333"/>
                </a:solidFill>
                <a:effectLst/>
                <a:latin typeface="Times New Roman" panose="02020603050405020304" pitchFamily="18" charset="0"/>
                <a:cs typeface="Times New Roman" panose="02020603050405020304" pitchFamily="18" charset="0"/>
              </a:rPr>
              <a:t>When we have two categorical variables, and we want to check if they are related with each other or not.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46E6C9D5-31EB-FF87-58FE-E5EA905D36B9}"/>
              </a:ext>
            </a:extLst>
          </p:cNvPr>
          <p:cNvCxnSpPr/>
          <p:nvPr/>
        </p:nvCxnSpPr>
        <p:spPr>
          <a:xfrm>
            <a:off x="960781" y="3062297"/>
            <a:ext cx="3433829" cy="0"/>
          </a:xfrm>
          <a:prstGeom prst="line">
            <a:avLst/>
          </a:prstGeom>
          <a:ln w="69850">
            <a:solidFill>
              <a:srgbClr val="FCBC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4139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7625</TotalTime>
  <Words>3127</Words>
  <Application>Microsoft Macintosh PowerPoint</Application>
  <PresentationFormat>Widescreen</PresentationFormat>
  <Paragraphs>334</Paragraphs>
  <Slides>22</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vt:lpstr>
      <vt:lpstr>Calibri</vt:lpstr>
      <vt:lpstr>Calibri Light</vt:lpstr>
      <vt:lpstr>Cambria Math</vt:lpstr>
      <vt:lpstr>Courier New</vt:lpstr>
      <vt:lpstr>Times New Roman</vt:lpstr>
      <vt:lpstr>Wingdings</vt:lpstr>
      <vt:lpstr>Office Theme</vt:lpstr>
      <vt:lpstr>Statistics for Machine Learning</vt:lpstr>
      <vt:lpstr>Basic concepts in statistics for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for Machine Learning</dc:title>
  <dc:creator>Mereena Joseph</dc:creator>
  <cp:lastModifiedBy>Mereena Joseph</cp:lastModifiedBy>
  <cp:revision>4</cp:revision>
  <dcterms:created xsi:type="dcterms:W3CDTF">2022-10-06T04:50:20Z</dcterms:created>
  <dcterms:modified xsi:type="dcterms:W3CDTF">2022-10-13T04:52:16Z</dcterms:modified>
</cp:coreProperties>
</file>
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63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FA3A8-D790-1444-B628-5092293F2C29}" v="4" dt="2022-10-06T11:11:0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6"/>
    <p:restoredTop sz="92993"/>
  </p:normalViewPr>
  <p:slideViewPr>
    <p:cSldViewPr snapToGrid="0">
      <p:cViewPr varScale="1">
        <p:scale>
          <a:sx n="124" d="100"/>
          <a:sy n="124" d="100"/>
        </p:scale>
        <p:origin x="20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C842-478B-F29B-9AE2-575E5D683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7D3D5-0235-D0BA-E386-AEBE11F8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8BE10-F830-02AF-F4CB-081CBE02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560FB-2406-4405-D5A0-FB03D996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A9477-8E4F-FD90-D08A-7E0F82E8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6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1FC5-C894-068A-1233-EE081072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C32A-7F0A-1C7D-F54A-A80293FCD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07F12-1320-6A9E-CE71-48D3AD66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CE8-83D1-6E3D-9087-DA3FDD0C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C0B82-6052-BDC0-9D1D-DC5D9949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4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5F56-2F37-CD42-58E8-8D86D039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60EA5-CAC3-4753-0AB8-77C1021E1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C041A-1016-81D0-1266-293F1811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C45FB-1985-F88D-4EAC-356498F8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B9ECF-7E77-7233-3674-06D7A56C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5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6BF2-6BA5-93BF-B2C0-3F89AA8E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BED4-80AB-E1B9-D577-18B022048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45DAF-79CF-342D-0FB9-6A1962526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39A02-816D-D76B-E004-A5C56D50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15F5F-49BA-CC96-54F8-15187D59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697EE-2815-B1AE-0A54-2FB26D3D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3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07D3-3DD0-5A06-619F-ED426A70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C21B3-CD0B-A1E9-23AC-5EA13017C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3E9B8-F4A5-44F7-FB34-6B70A8202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949D2-BCE1-2D39-7C0E-9BF032D11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62BBF-488E-0E32-09D5-06ABC7395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68B8A-3710-0963-E6A8-F62C3E0C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4B48C-31C2-C097-BA92-F9445985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9213A-BF1B-9824-20AA-CFB82433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9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A4E5-052F-1587-5E21-076777D9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5CFA7-C225-E4EF-5D1B-21A15898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4E4D-AFAF-0588-0799-5AFEA4DF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E28C4-02C7-A946-31E9-EF38F868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5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F6D42-0BF8-B7F5-1BDD-DA358B6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6B9CA-B44C-BC29-E1A2-B1DA655D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E80D3-0EE1-50DF-B05B-EF89550C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BDAA-6862-AAC3-CA1E-DFA4CA77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07D20-59A2-E467-0C07-B246E1EE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E8F22-764E-6995-6065-247F21A28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CDA63-BBAD-32A7-3D2D-22D44E6B7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A7916-B7DA-09D8-2158-72CE6B9D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F50A1-63E3-CB91-4F16-0EB01FCF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6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8061-38A5-1770-C3B8-6CE6535F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2420F-B59E-918D-D767-7BF06400A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D7BA4-88B2-42C6-FEF7-C99A2944E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6C96B-02CF-B987-43D1-BC1F0C50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2D75F-1B7F-DFD5-C50A-39B3A4A9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DAD31-B112-4FC3-0F3C-C8C7DFD2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760A-08C4-27DB-00C7-E1971A64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0D638-25C9-E9A8-CF42-1468BB7BF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98D15-4D00-CD4F-4486-F6BF80FC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2A8CB-496F-B668-1D50-04A3C435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D6ECE-0E1B-7A4C-6BA6-F38BB159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27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193A8-4E0D-6D2C-6C88-206288AFA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F81EE-23AB-A0F4-C6B8-58B5E2AF8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4AC8F-4FCB-A142-1D49-B1BC4AD1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4525E-E24E-1782-5F39-7219BFCE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B5F8F-3A5E-9D39-5BF5-3CCC2EFD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1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773B6-5215-4C6C-5330-B2516457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4E210-89CD-0196-C92B-60627B4F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700ED-19E3-C112-AC1A-D500D6264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D7E1E-C73C-EB42-B474-4F7A91129983}" type="datetimeFigureOut">
              <a:rPr lang="en-US" smtClean="0"/>
              <a:t>10/6/22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D1C2F-8F09-1D95-B0B6-DCCF49984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76462-B84E-832D-F77B-DFE2F1AEA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2CBC-9E8C-814D-87D0-58070D41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1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6A233-C5F8-87FF-742A-45FFA907CD05}"/>
              </a:ext>
            </a:extLst>
          </p:cNvPr>
          <p:cNvSpPr txBox="1"/>
          <p:nvPr/>
        </p:nvSpPr>
        <p:spPr>
          <a:xfrm>
            <a:off x="955964" y="968432"/>
            <a:ext cx="5597236" cy="4921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140112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118DA-DEDE-E0CD-1DC0-F5123540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4" descr="Chart, funnel chart&#10;&#10;Description automatically generated">
            <a:extLst>
              <a:ext uri="{FF2B5EF4-FFF2-40B4-BE49-F238E27FC236}">
                <a16:creationId xmlns:a16="http://schemas.microsoft.com/office/drawing/2014/main" id="{C1429C1A-E15E-BDD7-8ADF-A6264FB8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672043"/>
            <a:ext cx="4777381" cy="334416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263B26-B9BA-76DA-1FCB-17B023931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dirty="0"/>
              <a:t>Machine Learning explores the study and construction of algorithms that can learn from and make predictions on data.</a:t>
            </a:r>
          </a:p>
          <a:p>
            <a:r>
              <a:rPr lang="en-US" dirty="0"/>
              <a:t>Such algorithms operate by building a model from example inputs in order to make data driven predictions rather than following strictly static program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8420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Arc 1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5ADC4D4-CFFB-3A47-C2FA-227B60A79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7" y="3175201"/>
            <a:ext cx="10872172" cy="2777314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F185F-5790-12A0-91BC-4EDF319223A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3555" y="651685"/>
            <a:ext cx="7179191" cy="32011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0" i="0" dirty="0">
                <a:effectLst/>
              </a:rPr>
              <a:t>A machine is said to be learning from </a:t>
            </a:r>
            <a:r>
              <a:rPr lang="en-US" sz="1800" b="1" i="0" dirty="0">
                <a:effectLst/>
              </a:rPr>
              <a:t>past Experiences</a:t>
            </a:r>
            <a:r>
              <a:rPr lang="en-US" sz="1800" b="0" i="0" dirty="0">
                <a:effectLst/>
              </a:rPr>
              <a:t>(data feed-in) with respect to some class of</a:t>
            </a:r>
            <a:r>
              <a:rPr lang="en-US" sz="1800" b="1" i="0" dirty="0">
                <a:effectLst/>
              </a:rPr>
              <a:t> tasks</a:t>
            </a:r>
            <a:r>
              <a:rPr lang="en-US" sz="1800" b="0" i="0" dirty="0">
                <a:effectLst/>
              </a:rPr>
              <a:t> if its </a:t>
            </a:r>
            <a:r>
              <a:rPr lang="en-US" sz="1800" b="1" i="0" dirty="0">
                <a:effectLst/>
              </a:rPr>
              <a:t>Performance</a:t>
            </a:r>
            <a:r>
              <a:rPr lang="en-US" sz="1800" b="0" i="0" dirty="0">
                <a:effectLst/>
              </a:rPr>
              <a:t> in a given Task improves with the Experience</a:t>
            </a:r>
            <a:r>
              <a:rPr lang="en-US" sz="1800" dirty="0"/>
              <a:t>.</a:t>
            </a:r>
          </a:p>
          <a:p>
            <a:r>
              <a:rPr lang="en-US" sz="1800" b="0" i="0" dirty="0">
                <a:effectLst/>
              </a:rPr>
              <a:t>While training the model, data is usually split in the ratio of 80:20 i.e. 80% as training data and the rest as testing data.</a:t>
            </a:r>
          </a:p>
          <a:p>
            <a:r>
              <a:rPr lang="en-US" sz="1800" b="0" i="0" dirty="0">
                <a:effectLst/>
              </a:rPr>
              <a:t>Once the model is ready then it is good to be tested. At the time of testing, the input is fed from the remaining 20% of data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1919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5A441-134E-DD44-A636-2DB601ACB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Eg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1 -  Will customer buy an Antivirus this year?</a:t>
            </a:r>
          </a:p>
        </p:txBody>
      </p:sp>
    </p:spTree>
    <p:extLst>
      <p:ext uri="{BB962C8B-B14F-4D97-AF65-F5344CB8AC3E}">
        <p14:creationId xmlns:p14="http://schemas.microsoft.com/office/powerpoint/2010/main" val="97015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8945-C460-727C-2957-40FD98EA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Eg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: 2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30A7A45-2540-8DBC-3C2B-B387E8AC9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004" y="1863801"/>
            <a:ext cx="9549990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9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590EA7-F285-8A9A-A729-28BE341936BA}"/>
              </a:ext>
            </a:extLst>
          </p:cNvPr>
          <p:cNvSpPr/>
          <p:nvPr/>
        </p:nvSpPr>
        <p:spPr>
          <a:xfrm>
            <a:off x="3834575" y="1154963"/>
            <a:ext cx="4164366" cy="93744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TYPES OF MACHINE LEARNING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CF1096-6ADB-1F8C-5B78-A8F6102B80FA}"/>
              </a:ext>
            </a:extLst>
          </p:cNvPr>
          <p:cNvCxnSpPr>
            <a:stCxn id="3" idx="2"/>
          </p:cNvCxnSpPr>
          <p:nvPr/>
        </p:nvCxnSpPr>
        <p:spPr>
          <a:xfrm flipH="1">
            <a:off x="3921211" y="2092410"/>
            <a:ext cx="1995547" cy="105444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81E967-2283-6875-52E8-A14D3D8BCBF4}"/>
              </a:ext>
            </a:extLst>
          </p:cNvPr>
          <p:cNvCxnSpPr>
            <a:cxnSpLocks/>
          </p:cNvCxnSpPr>
          <p:nvPr/>
        </p:nvCxnSpPr>
        <p:spPr>
          <a:xfrm>
            <a:off x="5916758" y="2092410"/>
            <a:ext cx="1950377" cy="107587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C31E493-26F3-8D46-B8D0-C93027F1D9EE}"/>
              </a:ext>
            </a:extLst>
          </p:cNvPr>
          <p:cNvSpPr/>
          <p:nvPr/>
        </p:nvSpPr>
        <p:spPr>
          <a:xfrm>
            <a:off x="2617503" y="3164993"/>
            <a:ext cx="2607415" cy="9160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SUPERVISED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 </a:t>
            </a:r>
            <a:endParaRPr lang="en-US" b="1" dirty="0">
              <a:ln/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7FB1EA-A99A-6FD6-1D2F-CB40C4CCF47A}"/>
              </a:ext>
            </a:extLst>
          </p:cNvPr>
          <p:cNvSpPr/>
          <p:nvPr/>
        </p:nvSpPr>
        <p:spPr>
          <a:xfrm>
            <a:off x="6563427" y="3164994"/>
            <a:ext cx="2607415" cy="9160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SUPERVISED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 </a:t>
            </a:r>
          </a:p>
        </p:txBody>
      </p:sp>
    </p:spTree>
    <p:extLst>
      <p:ext uri="{BB962C8B-B14F-4D97-AF65-F5344CB8AC3E}">
        <p14:creationId xmlns:p14="http://schemas.microsoft.com/office/powerpoint/2010/main" val="1395104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C6FAF-65B9-D356-FD75-3BBFD970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Supervised Learning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4A85DD9-2CCD-6BE9-749B-C194D493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57" y="1805056"/>
            <a:ext cx="5954043" cy="297702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72226-87FA-1D2A-1381-0056A6CAF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703" y="2394613"/>
            <a:ext cx="5458838" cy="4192520"/>
          </a:xfrm>
        </p:spPr>
        <p:txBody>
          <a:bodyPr>
            <a:normAutofit/>
          </a:bodyPr>
          <a:lstStyle/>
          <a:p>
            <a:r>
              <a:rPr lang="en-IN" sz="2400" b="1" i="0" dirty="0">
                <a:effectLst/>
                <a:latin typeface="urw-din"/>
              </a:rPr>
              <a:t>Supervised learning </a:t>
            </a:r>
            <a:r>
              <a:rPr lang="en-IN" sz="2400" b="0" i="0" dirty="0">
                <a:effectLst/>
                <a:latin typeface="urw-din"/>
              </a:rPr>
              <a:t>is when the model is getting trained on a labelled dataset.</a:t>
            </a:r>
          </a:p>
          <a:p>
            <a:r>
              <a:rPr lang="en-IN" sz="2400" b="0" i="0" dirty="0">
                <a:effectLst/>
                <a:latin typeface="urw-din"/>
              </a:rPr>
              <a:t>A </a:t>
            </a:r>
            <a:r>
              <a:rPr lang="en-IN" sz="2400" b="1" i="0" dirty="0">
                <a:effectLst/>
                <a:latin typeface="urw-din"/>
              </a:rPr>
              <a:t>labelled</a:t>
            </a:r>
            <a:r>
              <a:rPr lang="en-IN" sz="2400" b="0" i="0" dirty="0">
                <a:effectLst/>
                <a:latin typeface="urw-din"/>
              </a:rPr>
              <a:t> dataset is one that has both input and output parameters.</a:t>
            </a:r>
          </a:p>
        </p:txBody>
      </p:sp>
    </p:spTree>
    <p:extLst>
      <p:ext uri="{BB962C8B-B14F-4D97-AF65-F5344CB8AC3E}">
        <p14:creationId xmlns:p14="http://schemas.microsoft.com/office/powerpoint/2010/main" val="436204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D0208-072D-7036-7E6C-F8AA03CE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latin typeface="+mj-lt"/>
                <a:ea typeface="+mj-ea"/>
                <a:cs typeface="+mj-cs"/>
              </a:rPr>
              <a:t>Regression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772BB8-0CF1-3C3B-4FDA-C5DDEA03B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5" y="1083485"/>
            <a:ext cx="4653320" cy="52602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1900" b="0" i="0" dirty="0">
                <a:effectLst/>
                <a:latin typeface="urw-din"/>
              </a:rPr>
              <a:t>It is a Supervised Learning task where output is having continuous value.</a:t>
            </a:r>
          </a:p>
          <a:p>
            <a:r>
              <a:rPr lang="en-IN" sz="1900" b="1" i="0" dirty="0">
                <a:effectLst/>
                <a:latin typeface="urw-din"/>
              </a:rPr>
              <a:t>Figure B: </a:t>
            </a:r>
            <a:r>
              <a:rPr lang="en-IN" sz="1900" b="0" i="0" dirty="0">
                <a:effectLst/>
                <a:latin typeface="urw-din"/>
              </a:rPr>
              <a:t>It is a Meteorological dataset that serves the purpose of predicting wind speed based on different parameters. </a:t>
            </a:r>
          </a:p>
          <a:p>
            <a:r>
              <a:rPr lang="en-IN" sz="1900" b="1" i="0" dirty="0">
                <a:effectLst/>
                <a:latin typeface="urw-din"/>
              </a:rPr>
              <a:t>Input:</a:t>
            </a:r>
            <a:r>
              <a:rPr lang="en-IN" sz="1900" b="0" i="0" dirty="0">
                <a:effectLst/>
                <a:latin typeface="urw-din"/>
              </a:rPr>
              <a:t> Dew Point, Temperature, Pressure, Relative Humidity, Wind Direction.</a:t>
            </a:r>
          </a:p>
          <a:p>
            <a:r>
              <a:rPr lang="en-IN" sz="1900" b="1" i="0" dirty="0">
                <a:effectLst/>
                <a:latin typeface="urw-din"/>
              </a:rPr>
              <a:t>Output:</a:t>
            </a:r>
            <a:r>
              <a:rPr lang="en-IN" sz="1900" b="0" i="0" dirty="0">
                <a:effectLst/>
                <a:latin typeface="urw-din"/>
              </a:rPr>
              <a:t> Wind Speed</a:t>
            </a:r>
            <a:endParaRPr lang="en-US" sz="19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pplication, table, Excel&#10;&#10;Description automatically generated">
            <a:extLst>
              <a:ext uri="{FF2B5EF4-FFF2-40B4-BE49-F238E27FC236}">
                <a16:creationId xmlns:a16="http://schemas.microsoft.com/office/drawing/2014/main" id="{0F4F5A51-0037-A87C-F602-141BE747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721" y="1180354"/>
            <a:ext cx="5637112" cy="44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3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FD0208-072D-7036-7E6C-F8AA03CE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latin typeface="+mj-lt"/>
                <a:ea typeface="+mj-ea"/>
                <a:cs typeface="+mj-cs"/>
              </a:rPr>
              <a:t>Classification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772BB8-0CF1-3C3B-4FDA-C5DDEA03B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0" i="0" kern="1200">
                <a:effectLst/>
                <a:latin typeface="+mn-lt"/>
                <a:ea typeface="+mn-ea"/>
                <a:cs typeface="+mn-cs"/>
              </a:rPr>
              <a:t>It is a Supervised Learning task where output is having defined labels(discrete value).</a:t>
            </a:r>
          </a:p>
          <a:p>
            <a:r>
              <a:rPr lang="en-IN" sz="1900" b="1" i="0">
                <a:effectLst/>
                <a:latin typeface="urw-din"/>
              </a:rPr>
              <a:t>Figure A: </a:t>
            </a:r>
            <a:r>
              <a:rPr lang="en-IN" sz="1900" b="0" i="0">
                <a:effectLst/>
                <a:latin typeface="urw-din"/>
              </a:rPr>
              <a:t>It is a dataset of a shopping store that is useful in predicting whether a customer will purchase a particular product under consideration or not based on his/ her gender, age, and salary. </a:t>
            </a:r>
          </a:p>
          <a:p>
            <a:r>
              <a:rPr lang="en-IN" sz="1900" b="1" i="0">
                <a:effectLst/>
                <a:latin typeface="urw-din"/>
              </a:rPr>
              <a:t>Input:</a:t>
            </a:r>
            <a:r>
              <a:rPr lang="en-IN" sz="1900" b="0" i="0">
                <a:effectLst/>
                <a:latin typeface="urw-din"/>
              </a:rPr>
              <a:t> Gender, Age, Salary</a:t>
            </a:r>
          </a:p>
          <a:p>
            <a:r>
              <a:rPr lang="en-IN" sz="1900" b="1" i="0">
                <a:effectLst/>
                <a:latin typeface="urw-din"/>
              </a:rPr>
              <a:t>Output:</a:t>
            </a:r>
            <a:r>
              <a:rPr lang="en-IN" sz="1900" b="0" i="0">
                <a:effectLst/>
                <a:latin typeface="urw-din"/>
              </a:rPr>
              <a:t> Purchased i.e. 0 or 1; 1 means yes the customer will purchase and 0 means that the customer won’t purchase it. </a:t>
            </a:r>
          </a:p>
          <a:p>
            <a:endParaRPr lang="en-US" sz="1900" kern="1200">
              <a:latin typeface="+mn-lt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AC8D6C94-DCB4-D728-C28D-0BEDF955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29" y="799782"/>
            <a:ext cx="5740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6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DC6FAF-65B9-D356-FD75-3BBFD970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Unsupervised Learning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72226-87FA-1D2A-1381-0056A6CAF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703" y="2394613"/>
            <a:ext cx="5458838" cy="4192520"/>
          </a:xfrm>
        </p:spPr>
        <p:txBody>
          <a:bodyPr>
            <a:normAutofit/>
          </a:bodyPr>
          <a:lstStyle/>
          <a:p>
            <a:r>
              <a:rPr lang="en-IN" sz="2000" b="0" i="0" dirty="0">
                <a:effectLst/>
                <a:latin typeface="urw-din"/>
              </a:rPr>
              <a:t>Unsupervised learning is the training of a machine using information that is neither classified nor labelled and allowing the algorithm to act on that information without guidance</a:t>
            </a:r>
          </a:p>
          <a:p>
            <a:r>
              <a:rPr lang="en-IN" sz="2000" dirty="0">
                <a:latin typeface="urw-din"/>
              </a:rPr>
              <a:t>T</a:t>
            </a:r>
            <a:r>
              <a:rPr lang="en-IN" sz="2000" b="0" i="0" dirty="0">
                <a:effectLst/>
                <a:latin typeface="urw-din"/>
              </a:rPr>
              <a:t>he task of the machine is to group unsorted information according to similarities, patterns, and differences without any prior training of data. 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26407DA-DCD1-F7DB-BAC8-1F513812C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7" y="917985"/>
            <a:ext cx="5255588" cy="39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42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34F4C-CD14-197E-80FC-2EB74436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Clustering </a:t>
            </a:r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D968F3A7-7FD1-EDDC-A19D-35998557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701903"/>
            <a:ext cx="4777381" cy="328444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A41E-F264-29DE-54F6-90F9CEB49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IN" sz="1800" b="0" i="0" dirty="0">
                <a:effectLst/>
                <a:latin typeface="urw-din"/>
              </a:rPr>
              <a:t>A clustering problem is where you want to discover the inherent groupings in the data, such as grouping customers by purchasing </a:t>
            </a:r>
            <a:r>
              <a:rPr lang="en-IN" sz="1800" b="0" i="0" dirty="0" err="1">
                <a:effectLst/>
                <a:latin typeface="urw-din"/>
              </a:rPr>
              <a:t>behavior</a:t>
            </a:r>
            <a:r>
              <a:rPr lang="en-IN" sz="1800" b="0" i="0" dirty="0">
                <a:effectLst/>
                <a:latin typeface="urw-din"/>
              </a:rPr>
              <a:t>.</a:t>
            </a:r>
          </a:p>
          <a:p>
            <a:pPr marL="0" indent="0" fontAlgn="base">
              <a:buNone/>
            </a:pPr>
            <a:endParaRPr lang="en-IN" sz="1800" b="1" i="0" dirty="0">
              <a:effectLst/>
              <a:latin typeface="urw-din"/>
            </a:endParaRPr>
          </a:p>
          <a:p>
            <a:pPr marL="0" indent="0" fontAlgn="base">
              <a:buNone/>
            </a:pPr>
            <a:r>
              <a:rPr lang="en-IN" sz="1800" b="1" i="0" dirty="0">
                <a:effectLst/>
                <a:latin typeface="urw-din"/>
              </a:rPr>
              <a:t>Applications of Clustering in different fields</a:t>
            </a:r>
            <a:r>
              <a:rPr lang="en-IN" sz="1800" b="0" i="0" dirty="0">
                <a:effectLst/>
                <a:latin typeface="urw-din"/>
              </a:rPr>
              <a:t> 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urw-din"/>
              </a:rPr>
              <a:t>Marketing:</a:t>
            </a:r>
            <a:r>
              <a:rPr lang="en-IN" sz="1800" b="0" i="0" dirty="0">
                <a:effectLst/>
                <a:latin typeface="urw-din"/>
              </a:rPr>
              <a:t> It can be used to characterize &amp; discover customer segments for marketing purposes.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urw-din"/>
              </a:rPr>
              <a:t>Biology:</a:t>
            </a:r>
            <a:r>
              <a:rPr lang="en-IN" sz="1800" b="0" i="0" dirty="0">
                <a:effectLst/>
                <a:latin typeface="urw-din"/>
              </a:rPr>
              <a:t> It can be used for classification among different species of plants and animals.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urw-din"/>
              </a:rPr>
              <a:t>Libraries:</a:t>
            </a:r>
            <a:r>
              <a:rPr lang="en-IN" sz="1800" b="0" i="0" dirty="0">
                <a:effectLst/>
                <a:latin typeface="urw-din"/>
              </a:rPr>
              <a:t> It is used in clustering different books on the basis of topics and information.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sz="1800" b="1" i="0" dirty="0">
                <a:effectLst/>
                <a:latin typeface="urw-din"/>
              </a:rPr>
              <a:t>Insurance:</a:t>
            </a:r>
            <a:r>
              <a:rPr lang="en-IN" sz="1800" b="0" i="0" dirty="0">
                <a:effectLst/>
                <a:latin typeface="urw-din"/>
              </a:rPr>
              <a:t> It is used to acknowledge the customers, their policies and identifying the frauds.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7040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34F4C-CD14-197E-80FC-2EB74436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Association </a:t>
            </a:r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2A41E-F264-29DE-54F6-90F9CEB49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urw-din"/>
              </a:rPr>
              <a:t>An association rule learning problem is where you want to discover rules that describe large portions of your data, such as people that buy X also tend to buy 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urw-din"/>
              </a:rPr>
              <a:t>A typical example is a Market Based Analysis.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urw-din"/>
              </a:rPr>
              <a:t>It allows retailers to identify relationships between the items that people buy together frequently.</a:t>
            </a:r>
            <a:endParaRPr lang="en-IN" sz="2400" b="1" i="0" dirty="0">
              <a:effectLst/>
              <a:latin typeface="urw-din"/>
            </a:endParaRPr>
          </a:p>
          <a:p>
            <a:endParaRPr lang="en-US" sz="2400" dirty="0"/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619B6C3-3E85-6D6F-A4BE-FAD625722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3" y="1984442"/>
            <a:ext cx="5316855" cy="31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6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550</Words>
  <Application>Microsoft Macintosh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urw-din</vt:lpstr>
      <vt:lpstr>Office Theme</vt:lpstr>
      <vt:lpstr>PowerPoint Presentation</vt:lpstr>
      <vt:lpstr>What is Machine Learning?</vt:lpstr>
      <vt:lpstr>PowerPoint Presentation</vt:lpstr>
      <vt:lpstr>Eg 1 -  Will customer buy an Antivirus this year?</vt:lpstr>
      <vt:lpstr>Eg : 2</vt:lpstr>
      <vt:lpstr>PowerPoint Presentation</vt:lpstr>
      <vt:lpstr>Supervised Learning </vt:lpstr>
      <vt:lpstr>Regression</vt:lpstr>
      <vt:lpstr>Classification</vt:lpstr>
      <vt:lpstr>Unsupervised Learning </vt:lpstr>
      <vt:lpstr>Clustering </vt:lpstr>
      <vt:lpstr>Association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Sweety Devassy</dc:creator>
  <cp:lastModifiedBy>Sweety Devassy</cp:lastModifiedBy>
  <cp:revision>1</cp:revision>
  <dcterms:created xsi:type="dcterms:W3CDTF">2022-10-06T06:49:30Z</dcterms:created>
  <dcterms:modified xsi:type="dcterms:W3CDTF">2022-10-06T11:13:32Z</dcterms:modified>
</cp:coreProperties>
</file>
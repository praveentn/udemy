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6"/>
  </p:notesMasterIdLst>
  <p:sldIdLst>
    <p:sldId id="256" r:id="rId2"/>
    <p:sldId id="257" r:id="rId3"/>
    <p:sldId id="258" r:id="rId4"/>
    <p:sldId id="260" r:id="rId5"/>
    <p:sldId id="261" r:id="rId6"/>
    <p:sldId id="262" r:id="rId7"/>
    <p:sldId id="263" r:id="rId8"/>
    <p:sldId id="264" r:id="rId9"/>
    <p:sldId id="265" r:id="rId10"/>
    <p:sldId id="266" r:id="rId11"/>
    <p:sldId id="267" r:id="rId12"/>
    <p:sldId id="259" r:id="rId13"/>
    <p:sldId id="269"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81905"/>
  </p:normalViewPr>
  <p:slideViewPr>
    <p:cSldViewPr snapToGrid="0">
      <p:cViewPr varScale="1">
        <p:scale>
          <a:sx n="103" d="100"/>
          <a:sy n="103" d="100"/>
        </p:scale>
        <p:origin x="144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hilnath K V" userId="c2e45088-1cc2-4b43-ab03-9287f1ab4966" providerId="ADAL" clId="{0F7745FA-1429-104B-84CD-D86F031CD09E}"/>
    <pc:docChg chg="addSld modSld">
      <pc:chgData name="Nikhilnath K V" userId="c2e45088-1cc2-4b43-ab03-9287f1ab4966" providerId="ADAL" clId="{0F7745FA-1429-104B-84CD-D86F031CD09E}" dt="2022-10-14T14:27:48.274" v="2"/>
      <pc:docMkLst>
        <pc:docMk/>
      </pc:docMkLst>
      <pc:sldChg chg="modSp new mod">
        <pc:chgData name="Nikhilnath K V" userId="c2e45088-1cc2-4b43-ab03-9287f1ab4966" providerId="ADAL" clId="{0F7745FA-1429-104B-84CD-D86F031CD09E}" dt="2022-10-14T14:27:48.274" v="2"/>
        <pc:sldMkLst>
          <pc:docMk/>
          <pc:sldMk cId="2293096787" sldId="269"/>
        </pc:sldMkLst>
        <pc:spChg chg="mod">
          <ac:chgData name="Nikhilnath K V" userId="c2e45088-1cc2-4b43-ab03-9287f1ab4966" providerId="ADAL" clId="{0F7745FA-1429-104B-84CD-D86F031CD09E}" dt="2022-10-14T14:27:48.274" v="2"/>
          <ac:spMkLst>
            <pc:docMk/>
            <pc:sldMk cId="2293096787" sldId="269"/>
            <ac:spMk id="2" creationId="{955CD116-F053-33A3-CAE7-D19212C137B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281203-40FF-C847-8A7E-84AE39CC96A4}" type="datetimeFigureOut">
              <a:rPr lang="en-US" smtClean="0"/>
              <a:t>10/14/22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7F1B07-9931-4D40-AE88-58EDC66CF06C}" type="slidenum">
              <a:rPr lang="en-US" smtClean="0"/>
              <a:t>‹#›</a:t>
            </a:fld>
            <a:endParaRPr lang="en-US"/>
          </a:p>
        </p:txBody>
      </p:sp>
    </p:spTree>
    <p:extLst>
      <p:ext uri="{BB962C8B-B14F-4D97-AF65-F5344CB8AC3E}">
        <p14:creationId xmlns:p14="http://schemas.microsoft.com/office/powerpoint/2010/main" val="3711481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machinelearningmastery.com/how-to-use-correlation-to-understand-the-relationship-between-variables/"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dirty="0" err="1">
                <a:solidFill>
                  <a:srgbClr val="000000"/>
                </a:solidFill>
                <a:effectLst/>
                <a:latin typeface="proxima_novaregular"/>
              </a:rPr>
              <a:t>Eg</a:t>
            </a:r>
            <a:r>
              <a:rPr lang="en-IN" sz="1200" b="0" i="0" dirty="0">
                <a:solidFill>
                  <a:srgbClr val="000000"/>
                </a:solidFill>
                <a:effectLst/>
                <a:latin typeface="proxima_novaregular"/>
              </a:rPr>
              <a:t>:  linear machine learning models that expect each numeric input variable to have a Gaussian probability distribution.</a:t>
            </a:r>
          </a:p>
          <a:p>
            <a:r>
              <a:rPr lang="en-IN" b="0" i="0" dirty="0">
                <a:solidFill>
                  <a:srgbClr val="555555"/>
                </a:solidFill>
                <a:effectLst/>
                <a:latin typeface="Helvetica Neue" panose="02000503000000020004" pitchFamily="2" charset="0"/>
              </a:rPr>
              <a:t>Some algorithms are known to perform worse if there are input variables that are irrelevant or redundant to the target variable. There are also algorithms that are negatively impacted if two or more input variables are </a:t>
            </a:r>
            <a:r>
              <a:rPr lang="en-IN" b="0" i="0" u="none" strike="noStrike" dirty="0">
                <a:solidFill>
                  <a:srgbClr val="428BCA"/>
                </a:solidFill>
                <a:effectLst/>
                <a:latin typeface="Helvetica Neue" panose="02000503000000020004" pitchFamily="2" charset="0"/>
                <a:hlinkClick r:id="rId3"/>
              </a:rPr>
              <a:t>highly correlated</a:t>
            </a:r>
            <a:endParaRPr lang="en-IN" b="0" i="0" u="none" strike="noStrike" dirty="0">
              <a:solidFill>
                <a:srgbClr val="428BCA"/>
              </a:solidFill>
              <a:effectLst/>
              <a:latin typeface="Helvetica Neue" panose="02000503000000020004" pitchFamily="2" charset="0"/>
            </a:endParaRPr>
          </a:p>
          <a:p>
            <a:endParaRPr lang="en-IN" sz="1200" b="0" i="0" u="none" strike="noStrike" dirty="0">
              <a:solidFill>
                <a:srgbClr val="428BCA"/>
              </a:solidFill>
              <a:effectLst/>
              <a:latin typeface="Helvetica Neue" panose="02000503000000020004" pitchFamily="2" charset="0"/>
            </a:endParaRPr>
          </a:p>
          <a:p>
            <a:endParaRPr lang="en-IN" sz="1200" b="0" i="0" dirty="0">
              <a:solidFill>
                <a:srgbClr val="000000"/>
              </a:solidFill>
              <a:effectLst/>
              <a:latin typeface="proxima_novaregular"/>
            </a:endParaRPr>
          </a:p>
          <a:p>
            <a:r>
              <a:rPr lang="en-US" dirty="0"/>
              <a:t>Incomplete : missing values </a:t>
            </a:r>
            <a:r>
              <a:rPr lang="en-US" dirty="0" err="1"/>
              <a:t>eg</a:t>
            </a:r>
            <a:r>
              <a:rPr lang="en-US" dirty="0"/>
              <a:t>: occupation= ‘’</a:t>
            </a:r>
          </a:p>
          <a:p>
            <a:r>
              <a:rPr lang="en-US" dirty="0"/>
              <a:t>Noisy : outliers </a:t>
            </a:r>
            <a:r>
              <a:rPr lang="en-US" dirty="0" err="1"/>
              <a:t>eg</a:t>
            </a:r>
            <a:r>
              <a:rPr lang="en-US" dirty="0"/>
              <a:t>: </a:t>
            </a:r>
            <a:r>
              <a:rPr lang="en-US" dirty="0" err="1"/>
              <a:t>s;ary</a:t>
            </a:r>
            <a:r>
              <a:rPr lang="en-US" dirty="0"/>
              <a:t> = -10</a:t>
            </a:r>
          </a:p>
          <a:p>
            <a:r>
              <a:rPr lang="en-US" dirty="0"/>
              <a:t>Inconsistent : age  42, </a:t>
            </a:r>
            <a:r>
              <a:rPr lang="en-US" dirty="0" err="1"/>
              <a:t>bday</a:t>
            </a:r>
            <a:r>
              <a:rPr lang="en-US" dirty="0"/>
              <a:t> : 03/07/2000</a:t>
            </a:r>
          </a:p>
        </p:txBody>
      </p:sp>
      <p:sp>
        <p:nvSpPr>
          <p:cNvPr id="4" name="Slide Number Placeholder 3"/>
          <p:cNvSpPr>
            <a:spLocks noGrp="1"/>
          </p:cNvSpPr>
          <p:nvPr>
            <p:ph type="sldNum" sz="quarter" idx="5"/>
          </p:nvPr>
        </p:nvSpPr>
        <p:spPr/>
        <p:txBody>
          <a:bodyPr/>
          <a:lstStyle/>
          <a:p>
            <a:fld id="{357F1B07-9931-4D40-AE88-58EDC66CF06C}" type="slidenum">
              <a:rPr lang="en-US" smtClean="0"/>
              <a:t>3</a:t>
            </a:fld>
            <a:endParaRPr lang="en-US"/>
          </a:p>
        </p:txBody>
      </p:sp>
    </p:spTree>
    <p:extLst>
      <p:ext uri="{BB962C8B-B14F-4D97-AF65-F5344CB8AC3E}">
        <p14:creationId xmlns:p14="http://schemas.microsoft.com/office/powerpoint/2010/main" val="2528976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 : https://</a:t>
            </a:r>
            <a:r>
              <a:rPr lang="en-US" dirty="0" err="1"/>
              <a:t>www.mygreatlearning.com</a:t>
            </a:r>
            <a:r>
              <a:rPr lang="en-US" dirty="0"/>
              <a:t>/blog/types-of-data/</a:t>
            </a:r>
          </a:p>
        </p:txBody>
      </p:sp>
      <p:sp>
        <p:nvSpPr>
          <p:cNvPr id="4" name="Slide Number Placeholder 3"/>
          <p:cNvSpPr>
            <a:spLocks noGrp="1"/>
          </p:cNvSpPr>
          <p:nvPr>
            <p:ph type="sldNum" sz="quarter" idx="5"/>
          </p:nvPr>
        </p:nvSpPr>
        <p:spPr/>
        <p:txBody>
          <a:bodyPr/>
          <a:lstStyle/>
          <a:p>
            <a:fld id="{357F1B07-9931-4D40-AE88-58EDC66CF06C}" type="slidenum">
              <a:rPr lang="en-US" smtClean="0"/>
              <a:t>4</a:t>
            </a:fld>
            <a:endParaRPr lang="en-US"/>
          </a:p>
        </p:txBody>
      </p:sp>
    </p:spTree>
    <p:extLst>
      <p:ext uri="{BB962C8B-B14F-4D97-AF65-F5344CB8AC3E}">
        <p14:creationId xmlns:p14="http://schemas.microsoft.com/office/powerpoint/2010/main" val="1700854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 https://</a:t>
            </a:r>
            <a:r>
              <a:rPr lang="en-US" dirty="0" err="1"/>
              <a:t>towardsdatascience.com</a:t>
            </a:r>
            <a:r>
              <a:rPr lang="en-US" dirty="0"/>
              <a:t>/data-preprocessing-e2b0bed4c7fb</a:t>
            </a:r>
          </a:p>
        </p:txBody>
      </p:sp>
      <p:sp>
        <p:nvSpPr>
          <p:cNvPr id="4" name="Slide Number Placeholder 3"/>
          <p:cNvSpPr>
            <a:spLocks noGrp="1"/>
          </p:cNvSpPr>
          <p:nvPr>
            <p:ph type="sldNum" sz="quarter" idx="5"/>
          </p:nvPr>
        </p:nvSpPr>
        <p:spPr/>
        <p:txBody>
          <a:bodyPr/>
          <a:lstStyle/>
          <a:p>
            <a:fld id="{357F1B07-9931-4D40-AE88-58EDC66CF06C}" type="slidenum">
              <a:rPr lang="en-US" smtClean="0"/>
              <a:t>6</a:t>
            </a:fld>
            <a:endParaRPr lang="en-US"/>
          </a:p>
        </p:txBody>
      </p:sp>
    </p:spTree>
    <p:extLst>
      <p:ext uri="{BB962C8B-B14F-4D97-AF65-F5344CB8AC3E}">
        <p14:creationId xmlns:p14="http://schemas.microsoft.com/office/powerpoint/2010/main" val="1712558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7F1B07-9931-4D40-AE88-58EDC66CF06C}" type="slidenum">
              <a:rPr lang="en-US" smtClean="0"/>
              <a:t>10</a:t>
            </a:fld>
            <a:endParaRPr lang="en-US"/>
          </a:p>
        </p:txBody>
      </p:sp>
    </p:spTree>
    <p:extLst>
      <p:ext uri="{BB962C8B-B14F-4D97-AF65-F5344CB8AC3E}">
        <p14:creationId xmlns:p14="http://schemas.microsoft.com/office/powerpoint/2010/main" val="335469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analyticsindiamag.com</a:t>
            </a:r>
            <a:r>
              <a:rPr lang="en-US" dirty="0"/>
              <a:t>/understanding-the-importance-of-data-cleaning-and-normalization/#:~:text=Data%20normalization%20is%20the%20method,to%20ensure%20logical%20data%20storage.</a:t>
            </a:r>
          </a:p>
        </p:txBody>
      </p:sp>
      <p:sp>
        <p:nvSpPr>
          <p:cNvPr id="4" name="Slide Number Placeholder 3"/>
          <p:cNvSpPr>
            <a:spLocks noGrp="1"/>
          </p:cNvSpPr>
          <p:nvPr>
            <p:ph type="sldNum" sz="quarter" idx="5"/>
          </p:nvPr>
        </p:nvSpPr>
        <p:spPr/>
        <p:txBody>
          <a:bodyPr/>
          <a:lstStyle/>
          <a:p>
            <a:fld id="{357F1B07-9931-4D40-AE88-58EDC66CF06C}" type="slidenum">
              <a:rPr lang="en-US" smtClean="0"/>
              <a:t>11</a:t>
            </a:fld>
            <a:endParaRPr lang="en-US"/>
          </a:p>
        </p:txBody>
      </p:sp>
    </p:spTree>
    <p:extLst>
      <p:ext uri="{BB962C8B-B14F-4D97-AF65-F5344CB8AC3E}">
        <p14:creationId xmlns:p14="http://schemas.microsoft.com/office/powerpoint/2010/main" val="29837881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notebook</a:t>
            </a:r>
          </a:p>
        </p:txBody>
      </p:sp>
      <p:sp>
        <p:nvSpPr>
          <p:cNvPr id="4" name="Slide Number Placeholder 3"/>
          <p:cNvSpPr>
            <a:spLocks noGrp="1"/>
          </p:cNvSpPr>
          <p:nvPr>
            <p:ph type="sldNum" sz="quarter" idx="5"/>
          </p:nvPr>
        </p:nvSpPr>
        <p:spPr/>
        <p:txBody>
          <a:bodyPr/>
          <a:lstStyle/>
          <a:p>
            <a:fld id="{357F1B07-9931-4D40-AE88-58EDC66CF06C}" type="slidenum">
              <a:rPr lang="en-US" smtClean="0"/>
              <a:t>12</a:t>
            </a:fld>
            <a:endParaRPr lang="en-US"/>
          </a:p>
        </p:txBody>
      </p:sp>
    </p:spTree>
    <p:extLst>
      <p:ext uri="{BB962C8B-B14F-4D97-AF65-F5344CB8AC3E}">
        <p14:creationId xmlns:p14="http://schemas.microsoft.com/office/powerpoint/2010/main" val="3203640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GB"/>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FA43BF6D-6740-DA45-8BFB-012F881B3940}" type="datetime1">
              <a:rPr lang="en-IN" smtClean="0"/>
              <a:t>14/10/22</a:t>
            </a:fld>
            <a:endParaRPr lang="en-US"/>
          </a:p>
        </p:txBody>
      </p:sp>
      <p:sp>
        <p:nvSpPr>
          <p:cNvPr id="5" name="Footer Placeholder 4"/>
          <p:cNvSpPr>
            <a:spLocks noGrp="1"/>
          </p:cNvSpPr>
          <p:nvPr>
            <p:ph type="ftr" sz="quarter" idx="11"/>
          </p:nvPr>
        </p:nvSpPr>
        <p:spPr>
          <a:xfrm>
            <a:off x="2416500" y="329307"/>
            <a:ext cx="4973915" cy="309201"/>
          </a:xfrm>
        </p:spPr>
        <p:txBody>
          <a:bodyPr/>
          <a:lstStyle/>
          <a:p>
            <a:r>
              <a:rPr lang="en-US"/>
              <a:t>EY</a:t>
            </a:r>
          </a:p>
        </p:txBody>
      </p:sp>
      <p:sp>
        <p:nvSpPr>
          <p:cNvPr id="6" name="Slide Number Placeholder 5"/>
          <p:cNvSpPr>
            <a:spLocks noGrp="1"/>
          </p:cNvSpPr>
          <p:nvPr>
            <p:ph type="sldNum" sz="quarter" idx="12"/>
          </p:nvPr>
        </p:nvSpPr>
        <p:spPr>
          <a:xfrm>
            <a:off x="1437664" y="798973"/>
            <a:ext cx="811019" cy="503578"/>
          </a:xfrm>
        </p:spPr>
        <p:txBody>
          <a:bodyPr/>
          <a:lstStyle/>
          <a:p>
            <a:fld id="{B430EA86-E90C-A74B-B100-16B4655A4331}"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31140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BACC65E-C5F5-4147-9EB2-3FD2A99AC806}" type="datetime1">
              <a:rPr lang="en-IN" smtClean="0"/>
              <a:t>14/10/22</a:t>
            </a:fld>
            <a:endParaRPr lang="en-US"/>
          </a:p>
        </p:txBody>
      </p:sp>
      <p:sp>
        <p:nvSpPr>
          <p:cNvPr id="5" name="Footer Placeholder 4"/>
          <p:cNvSpPr>
            <a:spLocks noGrp="1"/>
          </p:cNvSpPr>
          <p:nvPr>
            <p:ph type="ftr" sz="quarter" idx="11"/>
          </p:nvPr>
        </p:nvSpPr>
        <p:spPr/>
        <p:txBody>
          <a:bodyPr/>
          <a:lstStyle/>
          <a:p>
            <a:r>
              <a:rPr lang="en-US"/>
              <a:t>EY</a:t>
            </a:r>
          </a:p>
        </p:txBody>
      </p:sp>
      <p:sp>
        <p:nvSpPr>
          <p:cNvPr id="6" name="Slide Number Placeholder 5"/>
          <p:cNvSpPr>
            <a:spLocks noGrp="1"/>
          </p:cNvSpPr>
          <p:nvPr>
            <p:ph type="sldNum" sz="quarter" idx="12"/>
          </p:nvPr>
        </p:nvSpPr>
        <p:spPr/>
        <p:txBody>
          <a:bodyPr/>
          <a:lstStyle/>
          <a:p>
            <a:fld id="{B430EA86-E90C-A74B-B100-16B4655A4331}"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49173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GB"/>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952CFF3-16C3-154D-8E70-332D0DA6440B}" type="datetime1">
              <a:rPr lang="en-IN" smtClean="0"/>
              <a:t>14/10/22</a:t>
            </a:fld>
            <a:endParaRPr lang="en-US"/>
          </a:p>
        </p:txBody>
      </p:sp>
      <p:sp>
        <p:nvSpPr>
          <p:cNvPr id="5" name="Footer Placeholder 4"/>
          <p:cNvSpPr>
            <a:spLocks noGrp="1"/>
          </p:cNvSpPr>
          <p:nvPr>
            <p:ph type="ftr" sz="quarter" idx="11"/>
          </p:nvPr>
        </p:nvSpPr>
        <p:spPr/>
        <p:txBody>
          <a:bodyPr/>
          <a:lstStyle/>
          <a:p>
            <a:r>
              <a:rPr lang="en-US"/>
              <a:t>EY</a:t>
            </a:r>
          </a:p>
        </p:txBody>
      </p:sp>
      <p:sp>
        <p:nvSpPr>
          <p:cNvPr id="6" name="Slide Number Placeholder 5"/>
          <p:cNvSpPr>
            <a:spLocks noGrp="1"/>
          </p:cNvSpPr>
          <p:nvPr>
            <p:ph type="sldNum" sz="quarter" idx="12"/>
          </p:nvPr>
        </p:nvSpPr>
        <p:spPr/>
        <p:txBody>
          <a:bodyPr/>
          <a:lstStyle/>
          <a:p>
            <a:fld id="{B430EA86-E90C-A74B-B100-16B4655A4331}"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80448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6FF751C-0765-1A44-8591-9FE3FB4209E6}" type="datetime1">
              <a:rPr lang="en-IN" smtClean="0"/>
              <a:t>14/10/22</a:t>
            </a:fld>
            <a:endParaRPr lang="en-US"/>
          </a:p>
        </p:txBody>
      </p:sp>
      <p:sp>
        <p:nvSpPr>
          <p:cNvPr id="6" name="Footer Placeholder 5"/>
          <p:cNvSpPr>
            <a:spLocks noGrp="1"/>
          </p:cNvSpPr>
          <p:nvPr>
            <p:ph type="ftr" sz="quarter" idx="11"/>
          </p:nvPr>
        </p:nvSpPr>
        <p:spPr/>
        <p:txBody>
          <a:bodyPr/>
          <a:lstStyle/>
          <a:p>
            <a:r>
              <a:rPr lang="en-US"/>
              <a:t>EY</a:t>
            </a:r>
          </a:p>
        </p:txBody>
      </p:sp>
      <p:sp>
        <p:nvSpPr>
          <p:cNvPr id="7" name="Slide Number Placeholder 6"/>
          <p:cNvSpPr>
            <a:spLocks noGrp="1"/>
          </p:cNvSpPr>
          <p:nvPr>
            <p:ph type="sldNum" sz="quarter" idx="12"/>
          </p:nvPr>
        </p:nvSpPr>
        <p:spPr/>
        <p:txBody>
          <a:bodyPr/>
          <a:lstStyle/>
          <a:p>
            <a:fld id="{B430EA86-E90C-A74B-B100-16B4655A4331}"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59695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2769EB6D-F274-794E-9596-819D4FBDD694}" type="datetime1">
              <a:rPr lang="en-IN" smtClean="0"/>
              <a:t>14/10/22</a:t>
            </a:fld>
            <a:endParaRPr lang="en-US"/>
          </a:p>
        </p:txBody>
      </p:sp>
      <p:sp>
        <p:nvSpPr>
          <p:cNvPr id="8" name="Footer Placeholder 7"/>
          <p:cNvSpPr>
            <a:spLocks noGrp="1"/>
          </p:cNvSpPr>
          <p:nvPr>
            <p:ph type="ftr" sz="quarter" idx="11"/>
          </p:nvPr>
        </p:nvSpPr>
        <p:spPr/>
        <p:txBody>
          <a:bodyPr/>
          <a:lstStyle/>
          <a:p>
            <a:r>
              <a:rPr lang="en-US"/>
              <a:t>EY</a:t>
            </a:r>
          </a:p>
        </p:txBody>
      </p:sp>
      <p:sp>
        <p:nvSpPr>
          <p:cNvPr id="9" name="Slide Number Placeholder 8"/>
          <p:cNvSpPr>
            <a:spLocks noGrp="1"/>
          </p:cNvSpPr>
          <p:nvPr>
            <p:ph type="sldNum" sz="quarter" idx="12"/>
          </p:nvPr>
        </p:nvSpPr>
        <p:spPr/>
        <p:txBody>
          <a:bodyPr/>
          <a:lstStyle/>
          <a:p>
            <a:fld id="{B430EA86-E90C-A74B-B100-16B4655A4331}"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73995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A4E68A8E-DC31-6D48-9CED-7E7910DB8D6E}" type="datetime1">
              <a:rPr lang="en-IN" smtClean="0"/>
              <a:t>14/10/22</a:t>
            </a:fld>
            <a:endParaRPr lang="en-US"/>
          </a:p>
        </p:txBody>
      </p:sp>
      <p:sp>
        <p:nvSpPr>
          <p:cNvPr id="4" name="Footer Placeholder 3"/>
          <p:cNvSpPr>
            <a:spLocks noGrp="1"/>
          </p:cNvSpPr>
          <p:nvPr>
            <p:ph type="ftr" sz="quarter" idx="11"/>
          </p:nvPr>
        </p:nvSpPr>
        <p:spPr/>
        <p:txBody>
          <a:bodyPr/>
          <a:lstStyle/>
          <a:p>
            <a:r>
              <a:rPr lang="en-US"/>
              <a:t>EY</a:t>
            </a:r>
          </a:p>
        </p:txBody>
      </p:sp>
      <p:sp>
        <p:nvSpPr>
          <p:cNvPr id="5" name="Slide Number Placeholder 4"/>
          <p:cNvSpPr>
            <a:spLocks noGrp="1"/>
          </p:cNvSpPr>
          <p:nvPr>
            <p:ph type="sldNum" sz="quarter" idx="12"/>
          </p:nvPr>
        </p:nvSpPr>
        <p:spPr/>
        <p:txBody>
          <a:bodyPr/>
          <a:lstStyle/>
          <a:p>
            <a:fld id="{B430EA86-E90C-A74B-B100-16B4655A4331}"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52123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172DDA-1C1F-E747-BDEA-F1E9B5E64EA4}" type="datetime1">
              <a:rPr lang="en-IN" smtClean="0"/>
              <a:t>14/10/22</a:t>
            </a:fld>
            <a:endParaRPr lang="en-US"/>
          </a:p>
        </p:txBody>
      </p:sp>
      <p:sp>
        <p:nvSpPr>
          <p:cNvPr id="3" name="Footer Placeholder 2"/>
          <p:cNvSpPr>
            <a:spLocks noGrp="1"/>
          </p:cNvSpPr>
          <p:nvPr>
            <p:ph type="ftr" sz="quarter" idx="11"/>
          </p:nvPr>
        </p:nvSpPr>
        <p:spPr/>
        <p:txBody>
          <a:bodyPr/>
          <a:lstStyle/>
          <a:p>
            <a:r>
              <a:rPr lang="en-US"/>
              <a:t>EY</a:t>
            </a:r>
          </a:p>
        </p:txBody>
      </p:sp>
      <p:sp>
        <p:nvSpPr>
          <p:cNvPr id="4" name="Slide Number Placeholder 3"/>
          <p:cNvSpPr>
            <a:spLocks noGrp="1"/>
          </p:cNvSpPr>
          <p:nvPr>
            <p:ph type="sldNum" sz="quarter" idx="12"/>
          </p:nvPr>
        </p:nvSpPr>
        <p:spPr/>
        <p:txBody>
          <a:bodyPr/>
          <a:lstStyle/>
          <a:p>
            <a:fld id="{B430EA86-E90C-A74B-B100-16B4655A4331}" type="slidenum">
              <a:rPr lang="en-US" smtClean="0"/>
              <a:t>‹#›</a:t>
            </a:fld>
            <a:endParaRPr lang="en-US"/>
          </a:p>
        </p:txBody>
      </p:sp>
    </p:spTree>
    <p:extLst>
      <p:ext uri="{BB962C8B-B14F-4D97-AF65-F5344CB8AC3E}">
        <p14:creationId xmlns:p14="http://schemas.microsoft.com/office/powerpoint/2010/main" val="2670589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D5022FA-0C6A-F44D-BA70-88E12DC2D784}" type="datetime1">
              <a:rPr lang="en-IN" smtClean="0"/>
              <a:t>14/10/22</a:t>
            </a:fld>
            <a:endParaRPr lang="en-US"/>
          </a:p>
        </p:txBody>
      </p:sp>
      <p:sp>
        <p:nvSpPr>
          <p:cNvPr id="6" name="Footer Placeholder 5"/>
          <p:cNvSpPr>
            <a:spLocks noGrp="1"/>
          </p:cNvSpPr>
          <p:nvPr>
            <p:ph type="ftr" sz="quarter" idx="11"/>
          </p:nvPr>
        </p:nvSpPr>
        <p:spPr/>
        <p:txBody>
          <a:bodyPr/>
          <a:lstStyle/>
          <a:p>
            <a:r>
              <a:rPr lang="en-US"/>
              <a:t>EY</a:t>
            </a:r>
          </a:p>
        </p:txBody>
      </p:sp>
      <p:sp>
        <p:nvSpPr>
          <p:cNvPr id="7" name="Slide Number Placeholder 6"/>
          <p:cNvSpPr>
            <a:spLocks noGrp="1"/>
          </p:cNvSpPr>
          <p:nvPr>
            <p:ph type="sldNum" sz="quarter" idx="12"/>
          </p:nvPr>
        </p:nvSpPr>
        <p:spPr/>
        <p:txBody>
          <a:bodyPr/>
          <a:lstStyle/>
          <a:p>
            <a:fld id="{B430EA86-E90C-A74B-B100-16B4655A4331}"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23611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25D9A06-52EB-8142-940C-F114B1AEFEF4}" type="datetime1">
              <a:rPr lang="en-IN" smtClean="0"/>
              <a:t>14/10/22</a:t>
            </a:fld>
            <a:endParaRPr lang="en-US"/>
          </a:p>
        </p:txBody>
      </p:sp>
      <p:sp>
        <p:nvSpPr>
          <p:cNvPr id="6" name="Footer Placeholder 5"/>
          <p:cNvSpPr>
            <a:spLocks noGrp="1"/>
          </p:cNvSpPr>
          <p:nvPr>
            <p:ph type="ftr" sz="quarter" idx="11"/>
          </p:nvPr>
        </p:nvSpPr>
        <p:spPr>
          <a:xfrm>
            <a:off x="1447382" y="318640"/>
            <a:ext cx="5541004" cy="320931"/>
          </a:xfrm>
        </p:spPr>
        <p:txBody>
          <a:bodyPr/>
          <a:lstStyle/>
          <a:p>
            <a:r>
              <a:rPr lang="en-US"/>
              <a:t>EY</a:t>
            </a:r>
          </a:p>
        </p:txBody>
      </p:sp>
      <p:sp>
        <p:nvSpPr>
          <p:cNvPr id="7" name="Slide Number Placeholder 6"/>
          <p:cNvSpPr>
            <a:spLocks noGrp="1"/>
          </p:cNvSpPr>
          <p:nvPr>
            <p:ph type="sldNum" sz="quarter" idx="12"/>
          </p:nvPr>
        </p:nvSpPr>
        <p:spPr/>
        <p:txBody>
          <a:bodyPr/>
          <a:lstStyle/>
          <a:p>
            <a:fld id="{B430EA86-E90C-A74B-B100-16B4655A4331}"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98979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078EBEC-78FA-B344-8C7C-082204ADF939}" type="datetime1">
              <a:rPr lang="en-IN" smtClean="0"/>
              <a:t>14/10/22</a:t>
            </a:fld>
            <a:endParaRPr lang="en-US"/>
          </a:p>
        </p:txBody>
      </p:sp>
      <p:sp>
        <p:nvSpPr>
          <p:cNvPr id="5" name="Footer Placeholder 4"/>
          <p:cNvSpPr>
            <a:spLocks noGrp="1"/>
          </p:cNvSpPr>
          <p:nvPr>
            <p:ph type="ftr" sz="quarter" idx="11"/>
          </p:nvPr>
        </p:nvSpPr>
        <p:spPr/>
        <p:txBody>
          <a:bodyPr/>
          <a:lstStyle/>
          <a:p>
            <a:r>
              <a:rPr lang="en-US"/>
              <a:t>EY</a:t>
            </a:r>
          </a:p>
        </p:txBody>
      </p:sp>
      <p:sp>
        <p:nvSpPr>
          <p:cNvPr id="6" name="Slide Number Placeholder 5"/>
          <p:cNvSpPr>
            <a:spLocks noGrp="1"/>
          </p:cNvSpPr>
          <p:nvPr>
            <p:ph type="sldNum" sz="quarter" idx="12"/>
          </p:nvPr>
        </p:nvSpPr>
        <p:spPr/>
        <p:txBody>
          <a:bodyPr/>
          <a:lstStyle/>
          <a:p>
            <a:fld id="{B430EA86-E90C-A74B-B100-16B4655A4331}"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21598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2440AD0-36A0-F14C-BFE3-E4F1158A088D}" type="datetime1">
              <a:rPr lang="en-IN" smtClean="0"/>
              <a:t>14/10/22</a:t>
            </a:fld>
            <a:endParaRPr lang="en-US"/>
          </a:p>
        </p:txBody>
      </p:sp>
      <p:sp>
        <p:nvSpPr>
          <p:cNvPr id="5" name="Footer Placeholder 4"/>
          <p:cNvSpPr>
            <a:spLocks noGrp="1"/>
          </p:cNvSpPr>
          <p:nvPr>
            <p:ph type="ftr" sz="quarter" idx="11"/>
          </p:nvPr>
        </p:nvSpPr>
        <p:spPr/>
        <p:txBody>
          <a:bodyPr/>
          <a:lstStyle/>
          <a:p>
            <a:r>
              <a:rPr lang="en-US"/>
              <a:t>EY</a:t>
            </a:r>
          </a:p>
        </p:txBody>
      </p:sp>
      <p:sp>
        <p:nvSpPr>
          <p:cNvPr id="6" name="Slide Number Placeholder 5"/>
          <p:cNvSpPr>
            <a:spLocks noGrp="1"/>
          </p:cNvSpPr>
          <p:nvPr>
            <p:ph type="sldNum" sz="quarter" idx="12"/>
          </p:nvPr>
        </p:nvSpPr>
        <p:spPr/>
        <p:txBody>
          <a:bodyPr/>
          <a:lstStyle/>
          <a:p>
            <a:fld id="{B430EA86-E90C-A74B-B100-16B4655A4331}"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11290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7BE1169-57D6-0C42-A335-C46E68D0737C}" type="datetime1">
              <a:rPr lang="en-IN" smtClean="0"/>
              <a:t>14/10/22</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EY</a:t>
            </a:r>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430EA86-E90C-A74B-B100-16B4655A4331}"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39271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871AE-A626-4B93-C677-58BFFE50300C}"/>
              </a:ext>
            </a:extLst>
          </p:cNvPr>
          <p:cNvSpPr>
            <a:spLocks noGrp="1"/>
          </p:cNvSpPr>
          <p:nvPr>
            <p:ph type="ctrTitle"/>
          </p:nvPr>
        </p:nvSpPr>
        <p:spPr/>
        <p:txBody>
          <a:bodyPr/>
          <a:lstStyle/>
          <a:p>
            <a:r>
              <a:rPr lang="en-US" dirty="0"/>
              <a:t>Data Preprocessing</a:t>
            </a:r>
          </a:p>
        </p:txBody>
      </p:sp>
      <p:sp>
        <p:nvSpPr>
          <p:cNvPr id="4" name="Date Placeholder 3">
            <a:extLst>
              <a:ext uri="{FF2B5EF4-FFF2-40B4-BE49-F238E27FC236}">
                <a16:creationId xmlns:a16="http://schemas.microsoft.com/office/drawing/2014/main" id="{C8F45432-F398-3B84-7EB5-FD79F0729802}"/>
              </a:ext>
            </a:extLst>
          </p:cNvPr>
          <p:cNvSpPr>
            <a:spLocks noGrp="1"/>
          </p:cNvSpPr>
          <p:nvPr>
            <p:ph type="dt" sz="half" idx="10"/>
          </p:nvPr>
        </p:nvSpPr>
        <p:spPr/>
        <p:txBody>
          <a:bodyPr/>
          <a:lstStyle/>
          <a:p>
            <a:fld id="{BD4DB1D9-E27C-D445-A81B-B1CE31014AE9}" type="datetime1">
              <a:rPr lang="en-IN" smtClean="0"/>
              <a:t>14/10/22</a:t>
            </a:fld>
            <a:endParaRPr lang="en-US"/>
          </a:p>
        </p:txBody>
      </p:sp>
      <p:sp>
        <p:nvSpPr>
          <p:cNvPr id="5" name="Footer Placeholder 4">
            <a:extLst>
              <a:ext uri="{FF2B5EF4-FFF2-40B4-BE49-F238E27FC236}">
                <a16:creationId xmlns:a16="http://schemas.microsoft.com/office/drawing/2014/main" id="{B978B198-82AF-84D6-DA91-CD8B82BD1857}"/>
              </a:ext>
            </a:extLst>
          </p:cNvPr>
          <p:cNvSpPr>
            <a:spLocks noGrp="1"/>
          </p:cNvSpPr>
          <p:nvPr>
            <p:ph type="ftr" sz="quarter" idx="11"/>
          </p:nvPr>
        </p:nvSpPr>
        <p:spPr/>
        <p:txBody>
          <a:bodyPr/>
          <a:lstStyle/>
          <a:p>
            <a:r>
              <a:rPr lang="en-US"/>
              <a:t>EY</a:t>
            </a:r>
          </a:p>
        </p:txBody>
      </p:sp>
      <p:sp>
        <p:nvSpPr>
          <p:cNvPr id="6" name="Slide Number Placeholder 5">
            <a:extLst>
              <a:ext uri="{FF2B5EF4-FFF2-40B4-BE49-F238E27FC236}">
                <a16:creationId xmlns:a16="http://schemas.microsoft.com/office/drawing/2014/main" id="{2EAC05BA-6D82-0107-E6CE-AAC7A72AB927}"/>
              </a:ext>
            </a:extLst>
          </p:cNvPr>
          <p:cNvSpPr>
            <a:spLocks noGrp="1"/>
          </p:cNvSpPr>
          <p:nvPr>
            <p:ph type="sldNum" sz="quarter" idx="12"/>
          </p:nvPr>
        </p:nvSpPr>
        <p:spPr/>
        <p:txBody>
          <a:bodyPr/>
          <a:lstStyle/>
          <a:p>
            <a:fld id="{B430EA86-E90C-A74B-B100-16B4655A4331}" type="slidenum">
              <a:rPr lang="en-US" smtClean="0"/>
              <a:t>1</a:t>
            </a:fld>
            <a:endParaRPr lang="en-US"/>
          </a:p>
        </p:txBody>
      </p:sp>
    </p:spTree>
    <p:extLst>
      <p:ext uri="{BB962C8B-B14F-4D97-AF65-F5344CB8AC3E}">
        <p14:creationId xmlns:p14="http://schemas.microsoft.com/office/powerpoint/2010/main" val="4120039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FD3A5-EC2E-325B-8611-68E9A7A05B26}"/>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BB127E8D-5BA1-2207-EDB0-CEC7EB687A98}"/>
              </a:ext>
            </a:extLst>
          </p:cNvPr>
          <p:cNvSpPr>
            <a:spLocks noGrp="1"/>
          </p:cNvSpPr>
          <p:nvPr>
            <p:ph idx="1"/>
          </p:nvPr>
        </p:nvSpPr>
        <p:spPr/>
        <p:txBody>
          <a:bodyPr/>
          <a:lstStyle/>
          <a:p>
            <a:r>
              <a:rPr lang="en-US" dirty="0"/>
              <a:t>What &amp; why preprocessing?</a:t>
            </a:r>
          </a:p>
          <a:p>
            <a:r>
              <a:rPr lang="en-US" dirty="0"/>
              <a:t>Types of data</a:t>
            </a:r>
          </a:p>
          <a:p>
            <a:r>
              <a:rPr lang="en-US" dirty="0"/>
              <a:t>Identifying and handling missing values and outliers</a:t>
            </a:r>
          </a:p>
          <a:p>
            <a:r>
              <a:rPr lang="en-US" dirty="0"/>
              <a:t>Encoding for Categorical Data</a:t>
            </a:r>
          </a:p>
          <a:p>
            <a:r>
              <a:rPr lang="en-US" dirty="0"/>
              <a:t>Data normalization</a:t>
            </a:r>
          </a:p>
          <a:p>
            <a:r>
              <a:rPr lang="en-US" dirty="0"/>
              <a:t>Train and Test Data</a:t>
            </a:r>
          </a:p>
          <a:p>
            <a:endParaRPr lang="en-US" dirty="0"/>
          </a:p>
        </p:txBody>
      </p:sp>
      <p:sp>
        <p:nvSpPr>
          <p:cNvPr id="4" name="Date Placeholder 3">
            <a:extLst>
              <a:ext uri="{FF2B5EF4-FFF2-40B4-BE49-F238E27FC236}">
                <a16:creationId xmlns:a16="http://schemas.microsoft.com/office/drawing/2014/main" id="{759D33C5-2DEE-FDEF-3D65-5DD83BBEB718}"/>
              </a:ext>
            </a:extLst>
          </p:cNvPr>
          <p:cNvSpPr>
            <a:spLocks noGrp="1"/>
          </p:cNvSpPr>
          <p:nvPr>
            <p:ph type="dt" sz="half" idx="10"/>
          </p:nvPr>
        </p:nvSpPr>
        <p:spPr/>
        <p:txBody>
          <a:bodyPr/>
          <a:lstStyle/>
          <a:p>
            <a:fld id="{CBACC65E-C5F5-4147-9EB2-3FD2A99AC806}" type="datetime1">
              <a:rPr lang="en-IN" smtClean="0"/>
              <a:t>14/10/22</a:t>
            </a:fld>
            <a:endParaRPr lang="en-US"/>
          </a:p>
        </p:txBody>
      </p:sp>
      <p:sp>
        <p:nvSpPr>
          <p:cNvPr id="5" name="Footer Placeholder 4">
            <a:extLst>
              <a:ext uri="{FF2B5EF4-FFF2-40B4-BE49-F238E27FC236}">
                <a16:creationId xmlns:a16="http://schemas.microsoft.com/office/drawing/2014/main" id="{B87361A1-7886-3010-3915-C0C64ECC09B1}"/>
              </a:ext>
            </a:extLst>
          </p:cNvPr>
          <p:cNvSpPr>
            <a:spLocks noGrp="1"/>
          </p:cNvSpPr>
          <p:nvPr>
            <p:ph type="ftr" sz="quarter" idx="11"/>
          </p:nvPr>
        </p:nvSpPr>
        <p:spPr/>
        <p:txBody>
          <a:bodyPr/>
          <a:lstStyle/>
          <a:p>
            <a:r>
              <a:rPr lang="en-US"/>
              <a:t>EY</a:t>
            </a:r>
          </a:p>
        </p:txBody>
      </p:sp>
      <p:sp>
        <p:nvSpPr>
          <p:cNvPr id="6" name="Slide Number Placeholder 5">
            <a:extLst>
              <a:ext uri="{FF2B5EF4-FFF2-40B4-BE49-F238E27FC236}">
                <a16:creationId xmlns:a16="http://schemas.microsoft.com/office/drawing/2014/main" id="{2894B242-89AA-E580-765A-4CEADCC7BF7F}"/>
              </a:ext>
            </a:extLst>
          </p:cNvPr>
          <p:cNvSpPr>
            <a:spLocks noGrp="1"/>
          </p:cNvSpPr>
          <p:nvPr>
            <p:ph type="sldNum" sz="quarter" idx="12"/>
          </p:nvPr>
        </p:nvSpPr>
        <p:spPr/>
        <p:txBody>
          <a:bodyPr/>
          <a:lstStyle/>
          <a:p>
            <a:fld id="{B430EA86-E90C-A74B-B100-16B4655A4331}" type="slidenum">
              <a:rPr lang="en-US" smtClean="0"/>
              <a:t>2</a:t>
            </a:fld>
            <a:endParaRPr lang="en-US"/>
          </a:p>
        </p:txBody>
      </p:sp>
    </p:spTree>
    <p:extLst>
      <p:ext uri="{BB962C8B-B14F-4D97-AF65-F5344CB8AC3E}">
        <p14:creationId xmlns:p14="http://schemas.microsoft.com/office/powerpoint/2010/main" val="963923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6E93A-B36F-29CF-21EF-19308D7D8D98}"/>
              </a:ext>
            </a:extLst>
          </p:cNvPr>
          <p:cNvSpPr>
            <a:spLocks noGrp="1"/>
          </p:cNvSpPr>
          <p:nvPr>
            <p:ph type="title"/>
          </p:nvPr>
        </p:nvSpPr>
        <p:spPr>
          <a:xfrm>
            <a:off x="1451579" y="804519"/>
            <a:ext cx="9603275" cy="1049235"/>
          </a:xfrm>
        </p:spPr>
        <p:txBody>
          <a:bodyPr>
            <a:normAutofit/>
          </a:bodyPr>
          <a:lstStyle/>
          <a:p>
            <a:r>
              <a:rPr lang="en-US"/>
              <a:t>What &amp; why preprocessing?</a:t>
            </a:r>
            <a:br>
              <a:rPr lang="en-US"/>
            </a:br>
            <a:endParaRPr lang="en-US"/>
          </a:p>
        </p:txBody>
      </p:sp>
      <p:sp>
        <p:nvSpPr>
          <p:cNvPr id="5" name="Footer Placeholder 4">
            <a:extLst>
              <a:ext uri="{FF2B5EF4-FFF2-40B4-BE49-F238E27FC236}">
                <a16:creationId xmlns:a16="http://schemas.microsoft.com/office/drawing/2014/main" id="{39E356DB-DFE8-9D08-9336-44DCF8CB2D84}"/>
              </a:ext>
            </a:extLst>
          </p:cNvPr>
          <p:cNvSpPr>
            <a:spLocks noGrp="1"/>
          </p:cNvSpPr>
          <p:nvPr>
            <p:ph type="ftr" sz="quarter" idx="11"/>
          </p:nvPr>
        </p:nvSpPr>
        <p:spPr>
          <a:xfrm>
            <a:off x="1451579" y="329307"/>
            <a:ext cx="5938836" cy="309201"/>
          </a:xfrm>
        </p:spPr>
        <p:txBody>
          <a:bodyPr>
            <a:normAutofit/>
          </a:bodyPr>
          <a:lstStyle/>
          <a:p>
            <a:pPr>
              <a:spcAft>
                <a:spcPts val="600"/>
              </a:spcAft>
            </a:pPr>
            <a:r>
              <a:rPr lang="en-US"/>
              <a:t>EY</a:t>
            </a:r>
          </a:p>
        </p:txBody>
      </p:sp>
      <p:sp>
        <p:nvSpPr>
          <p:cNvPr id="4" name="Date Placeholder 3">
            <a:extLst>
              <a:ext uri="{FF2B5EF4-FFF2-40B4-BE49-F238E27FC236}">
                <a16:creationId xmlns:a16="http://schemas.microsoft.com/office/drawing/2014/main" id="{78FAB96F-6C22-EE9E-37E3-D9DD71BD5416}"/>
              </a:ext>
            </a:extLst>
          </p:cNvPr>
          <p:cNvSpPr>
            <a:spLocks noGrp="1"/>
          </p:cNvSpPr>
          <p:nvPr>
            <p:ph type="dt" sz="half" idx="10"/>
          </p:nvPr>
        </p:nvSpPr>
        <p:spPr>
          <a:xfrm>
            <a:off x="7554138" y="330370"/>
            <a:ext cx="3500715" cy="309201"/>
          </a:xfrm>
        </p:spPr>
        <p:txBody>
          <a:bodyPr>
            <a:normAutofit/>
          </a:bodyPr>
          <a:lstStyle/>
          <a:p>
            <a:pPr>
              <a:spcAft>
                <a:spcPts val="600"/>
              </a:spcAft>
            </a:pPr>
            <a:fld id="{CBACC65E-C5F5-4147-9EB2-3FD2A99AC806}" type="datetime1">
              <a:rPr lang="en-IN" smtClean="0"/>
              <a:pPr>
                <a:spcAft>
                  <a:spcPts val="600"/>
                </a:spcAft>
              </a:pPr>
              <a:t>14/10/22</a:t>
            </a:fld>
            <a:endParaRPr lang="en-US"/>
          </a:p>
        </p:txBody>
      </p:sp>
      <p:sp>
        <p:nvSpPr>
          <p:cNvPr id="6" name="Slide Number Placeholder 5">
            <a:extLst>
              <a:ext uri="{FF2B5EF4-FFF2-40B4-BE49-F238E27FC236}">
                <a16:creationId xmlns:a16="http://schemas.microsoft.com/office/drawing/2014/main" id="{E7D35942-08DD-DC23-AEB8-732E461C3B08}"/>
              </a:ext>
            </a:extLst>
          </p:cNvPr>
          <p:cNvSpPr>
            <a:spLocks noGrp="1"/>
          </p:cNvSpPr>
          <p:nvPr>
            <p:ph type="sldNum" sz="quarter" idx="12"/>
          </p:nvPr>
        </p:nvSpPr>
        <p:spPr>
          <a:xfrm>
            <a:off x="480060" y="798973"/>
            <a:ext cx="811019" cy="503578"/>
          </a:xfrm>
        </p:spPr>
        <p:txBody>
          <a:bodyPr>
            <a:normAutofit/>
          </a:bodyPr>
          <a:lstStyle/>
          <a:p>
            <a:pPr>
              <a:lnSpc>
                <a:spcPct val="90000"/>
              </a:lnSpc>
              <a:spcAft>
                <a:spcPts val="600"/>
              </a:spcAft>
            </a:pPr>
            <a:fld id="{B430EA86-E90C-A74B-B100-16B4655A4331}" type="slidenum">
              <a:rPr lang="en-US" smtClean="0"/>
              <a:pPr>
                <a:lnSpc>
                  <a:spcPct val="90000"/>
                </a:lnSpc>
                <a:spcAft>
                  <a:spcPts val="600"/>
                </a:spcAft>
              </a:pPr>
              <a:t>3</a:t>
            </a:fld>
            <a:endParaRPr lang="en-US"/>
          </a:p>
        </p:txBody>
      </p:sp>
      <p:sp>
        <p:nvSpPr>
          <p:cNvPr id="11" name="Content Placeholder 10">
            <a:extLst>
              <a:ext uri="{FF2B5EF4-FFF2-40B4-BE49-F238E27FC236}">
                <a16:creationId xmlns:a16="http://schemas.microsoft.com/office/drawing/2014/main" id="{3767B214-4402-B6F4-7E12-C10058CBE707}"/>
              </a:ext>
            </a:extLst>
          </p:cNvPr>
          <p:cNvSpPr>
            <a:spLocks noGrp="1"/>
          </p:cNvSpPr>
          <p:nvPr>
            <p:ph idx="1"/>
          </p:nvPr>
        </p:nvSpPr>
        <p:spPr>
          <a:xfrm>
            <a:off x="1451579" y="2015734"/>
            <a:ext cx="4162555" cy="3450613"/>
          </a:xfrm>
        </p:spPr>
        <p:txBody>
          <a:bodyPr>
            <a:normAutofit/>
          </a:bodyPr>
          <a:lstStyle/>
          <a:p>
            <a:r>
              <a:rPr lang="en-IN" sz="1400" b="0" i="0" dirty="0">
                <a:solidFill>
                  <a:srgbClr val="000000"/>
                </a:solidFill>
                <a:effectLst/>
                <a:latin typeface="proxima_novaregular"/>
              </a:rPr>
              <a:t>real-world data is incomplete, inconsistent, inaccurate (contains errors or outliers), and often lacks specific attribute values/trends.</a:t>
            </a:r>
          </a:p>
          <a:p>
            <a:r>
              <a:rPr lang="en-IN" sz="1400" b="0" i="0" dirty="0">
                <a:solidFill>
                  <a:srgbClr val="000000"/>
                </a:solidFill>
                <a:effectLst/>
                <a:latin typeface="proxima_novaregular"/>
              </a:rPr>
              <a:t>some algorithms assume each input variable, and perhaps the target variable, to have a specific probability distribution. </a:t>
            </a:r>
          </a:p>
          <a:p>
            <a:r>
              <a:rPr lang="en-US" sz="1400" dirty="0">
                <a:solidFill>
                  <a:srgbClr val="000000"/>
                </a:solidFill>
                <a:latin typeface="proxima_novaregular"/>
              </a:rPr>
              <a:t>Transforms data into understandable format</a:t>
            </a:r>
            <a:endParaRPr lang="en-IN" sz="1400" dirty="0">
              <a:solidFill>
                <a:srgbClr val="000000"/>
              </a:solidFill>
              <a:latin typeface="proxima_novaregular"/>
            </a:endParaRPr>
          </a:p>
        </p:txBody>
      </p:sp>
      <p:pic>
        <p:nvPicPr>
          <p:cNvPr id="7" name="Content Placeholder 6" descr="Graphical user interface, text&#10;&#10;Description automatically generated">
            <a:extLst>
              <a:ext uri="{FF2B5EF4-FFF2-40B4-BE49-F238E27FC236}">
                <a16:creationId xmlns:a16="http://schemas.microsoft.com/office/drawing/2014/main" id="{7A7631C3-0BEB-D254-352D-29173F508372}"/>
              </a:ext>
            </a:extLst>
          </p:cNvPr>
          <p:cNvPicPr>
            <a:picLocks noChangeAspect="1"/>
          </p:cNvPicPr>
          <p:nvPr/>
        </p:nvPicPr>
        <p:blipFill>
          <a:blip r:embed="rId3"/>
          <a:stretch>
            <a:fillRect/>
          </a:stretch>
        </p:blipFill>
        <p:spPr>
          <a:xfrm>
            <a:off x="6094410" y="2015734"/>
            <a:ext cx="4960443" cy="1872566"/>
          </a:xfrm>
          <a:prstGeom prst="rect">
            <a:avLst/>
          </a:prstGeom>
        </p:spPr>
      </p:pic>
    </p:spTree>
    <p:extLst>
      <p:ext uri="{BB962C8B-B14F-4D97-AF65-F5344CB8AC3E}">
        <p14:creationId xmlns:p14="http://schemas.microsoft.com/office/powerpoint/2010/main" val="716271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75C0-9C03-0374-B552-DC59F9BE0517}"/>
              </a:ext>
            </a:extLst>
          </p:cNvPr>
          <p:cNvSpPr>
            <a:spLocks noGrp="1"/>
          </p:cNvSpPr>
          <p:nvPr>
            <p:ph type="title"/>
          </p:nvPr>
        </p:nvSpPr>
        <p:spPr>
          <a:xfrm>
            <a:off x="1451579" y="804519"/>
            <a:ext cx="9603275" cy="1049235"/>
          </a:xfrm>
        </p:spPr>
        <p:txBody>
          <a:bodyPr>
            <a:normAutofit/>
          </a:bodyPr>
          <a:lstStyle/>
          <a:p>
            <a:r>
              <a:rPr lang="en-US" dirty="0"/>
              <a:t>Types of data</a:t>
            </a:r>
          </a:p>
        </p:txBody>
      </p:sp>
      <p:sp>
        <p:nvSpPr>
          <p:cNvPr id="5" name="Footer Placeholder 4">
            <a:extLst>
              <a:ext uri="{FF2B5EF4-FFF2-40B4-BE49-F238E27FC236}">
                <a16:creationId xmlns:a16="http://schemas.microsoft.com/office/drawing/2014/main" id="{8AD39488-511F-34B6-67FD-C277F6AE4BEE}"/>
              </a:ext>
            </a:extLst>
          </p:cNvPr>
          <p:cNvSpPr>
            <a:spLocks noGrp="1"/>
          </p:cNvSpPr>
          <p:nvPr>
            <p:ph type="ftr" sz="quarter" idx="11"/>
          </p:nvPr>
        </p:nvSpPr>
        <p:spPr>
          <a:xfrm>
            <a:off x="1451579" y="329307"/>
            <a:ext cx="5938836" cy="309201"/>
          </a:xfrm>
        </p:spPr>
        <p:txBody>
          <a:bodyPr>
            <a:normAutofit/>
          </a:bodyPr>
          <a:lstStyle/>
          <a:p>
            <a:pPr>
              <a:spcAft>
                <a:spcPts val="600"/>
              </a:spcAft>
            </a:pPr>
            <a:r>
              <a:rPr lang="en-US"/>
              <a:t>EY</a:t>
            </a:r>
          </a:p>
        </p:txBody>
      </p:sp>
      <p:sp>
        <p:nvSpPr>
          <p:cNvPr id="4" name="Date Placeholder 3">
            <a:extLst>
              <a:ext uri="{FF2B5EF4-FFF2-40B4-BE49-F238E27FC236}">
                <a16:creationId xmlns:a16="http://schemas.microsoft.com/office/drawing/2014/main" id="{C52D841B-3A43-8AE8-7512-464F9C1399EB}"/>
              </a:ext>
            </a:extLst>
          </p:cNvPr>
          <p:cNvSpPr>
            <a:spLocks noGrp="1"/>
          </p:cNvSpPr>
          <p:nvPr>
            <p:ph type="dt" sz="half" idx="10"/>
          </p:nvPr>
        </p:nvSpPr>
        <p:spPr>
          <a:xfrm>
            <a:off x="7554138" y="330370"/>
            <a:ext cx="3500715" cy="309201"/>
          </a:xfrm>
        </p:spPr>
        <p:txBody>
          <a:bodyPr>
            <a:normAutofit/>
          </a:bodyPr>
          <a:lstStyle/>
          <a:p>
            <a:pPr>
              <a:spcAft>
                <a:spcPts val="600"/>
              </a:spcAft>
            </a:pPr>
            <a:fld id="{CBACC65E-C5F5-4147-9EB2-3FD2A99AC806}" type="datetime1">
              <a:rPr lang="en-IN" smtClean="0"/>
              <a:pPr>
                <a:spcAft>
                  <a:spcPts val="600"/>
                </a:spcAft>
              </a:pPr>
              <a:t>14/10/22</a:t>
            </a:fld>
            <a:endParaRPr lang="en-US"/>
          </a:p>
        </p:txBody>
      </p:sp>
      <p:sp>
        <p:nvSpPr>
          <p:cNvPr id="6" name="Slide Number Placeholder 5">
            <a:extLst>
              <a:ext uri="{FF2B5EF4-FFF2-40B4-BE49-F238E27FC236}">
                <a16:creationId xmlns:a16="http://schemas.microsoft.com/office/drawing/2014/main" id="{3FAEDB7D-F4F6-0F9B-3A57-095CA46F7871}"/>
              </a:ext>
            </a:extLst>
          </p:cNvPr>
          <p:cNvSpPr>
            <a:spLocks noGrp="1"/>
          </p:cNvSpPr>
          <p:nvPr>
            <p:ph type="sldNum" sz="quarter" idx="12"/>
          </p:nvPr>
        </p:nvSpPr>
        <p:spPr>
          <a:xfrm>
            <a:off x="480060" y="798973"/>
            <a:ext cx="811019" cy="503578"/>
          </a:xfrm>
        </p:spPr>
        <p:txBody>
          <a:bodyPr>
            <a:normAutofit/>
          </a:bodyPr>
          <a:lstStyle/>
          <a:p>
            <a:pPr>
              <a:lnSpc>
                <a:spcPct val="90000"/>
              </a:lnSpc>
              <a:spcAft>
                <a:spcPts val="600"/>
              </a:spcAft>
            </a:pPr>
            <a:fld id="{B430EA86-E90C-A74B-B100-16B4655A4331}" type="slidenum">
              <a:rPr lang="en-US" smtClean="0"/>
              <a:pPr>
                <a:lnSpc>
                  <a:spcPct val="90000"/>
                </a:lnSpc>
                <a:spcAft>
                  <a:spcPts val="600"/>
                </a:spcAft>
              </a:pPr>
              <a:t>4</a:t>
            </a:fld>
            <a:endParaRPr lang="en-US"/>
          </a:p>
        </p:txBody>
      </p:sp>
      <p:sp>
        <p:nvSpPr>
          <p:cNvPr id="2054" name="Content Placeholder 2053">
            <a:extLst>
              <a:ext uri="{FF2B5EF4-FFF2-40B4-BE49-F238E27FC236}">
                <a16:creationId xmlns:a16="http://schemas.microsoft.com/office/drawing/2014/main" id="{204E15E1-ACB3-0B65-E034-4152F6383768}"/>
              </a:ext>
            </a:extLst>
          </p:cNvPr>
          <p:cNvSpPr>
            <a:spLocks noGrp="1"/>
          </p:cNvSpPr>
          <p:nvPr>
            <p:ph idx="1"/>
          </p:nvPr>
        </p:nvSpPr>
        <p:spPr>
          <a:xfrm>
            <a:off x="1451579" y="2015734"/>
            <a:ext cx="4162555" cy="3450613"/>
          </a:xfrm>
        </p:spPr>
        <p:txBody>
          <a:bodyPr>
            <a:normAutofit/>
          </a:bodyPr>
          <a:lstStyle/>
          <a:p>
            <a:r>
              <a:rPr lang="en-US" dirty="0"/>
              <a:t>Categorical Data</a:t>
            </a:r>
          </a:p>
          <a:p>
            <a:pPr lvl="1"/>
            <a:r>
              <a:rPr lang="en-US" dirty="0"/>
              <a:t>Nominal Data :  Hair color</a:t>
            </a:r>
          </a:p>
          <a:p>
            <a:pPr lvl="1"/>
            <a:r>
              <a:rPr lang="en-US" dirty="0"/>
              <a:t>Ordinal Data: Ranking system</a:t>
            </a:r>
          </a:p>
          <a:p>
            <a:r>
              <a:rPr lang="en-US" dirty="0"/>
              <a:t>Numerical Data</a:t>
            </a:r>
          </a:p>
          <a:p>
            <a:pPr lvl="1"/>
            <a:r>
              <a:rPr lang="en-US" dirty="0"/>
              <a:t>Discrete Data: Total numbers of students present in a class</a:t>
            </a:r>
          </a:p>
          <a:p>
            <a:pPr lvl="1"/>
            <a:r>
              <a:rPr lang="en-US" dirty="0"/>
              <a:t>Continuous Data:  Wi-Fi Frequency</a:t>
            </a:r>
          </a:p>
          <a:p>
            <a:endParaRPr lang="en-US" dirty="0"/>
          </a:p>
        </p:txBody>
      </p:sp>
      <p:pic>
        <p:nvPicPr>
          <p:cNvPr id="2050" name="Picture 2" descr="Types of Data in Statistics (4 Types - Nominal, Ordinal, Discrete,  Continuous)">
            <a:extLst>
              <a:ext uri="{FF2B5EF4-FFF2-40B4-BE49-F238E27FC236}">
                <a16:creationId xmlns:a16="http://schemas.microsoft.com/office/drawing/2014/main" id="{5D301BE1-E3D5-9A67-8861-496C79DCF3D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94411" y="2619980"/>
            <a:ext cx="4960443" cy="2242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2874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C41FA-C469-8957-89F3-9F02D08AA5D1}"/>
              </a:ext>
            </a:extLst>
          </p:cNvPr>
          <p:cNvSpPr>
            <a:spLocks noGrp="1"/>
          </p:cNvSpPr>
          <p:nvPr>
            <p:ph type="title"/>
          </p:nvPr>
        </p:nvSpPr>
        <p:spPr>
          <a:xfrm>
            <a:off x="1451579" y="804519"/>
            <a:ext cx="9603275" cy="1049235"/>
          </a:xfrm>
        </p:spPr>
        <p:txBody>
          <a:bodyPr>
            <a:normAutofit/>
          </a:bodyPr>
          <a:lstStyle/>
          <a:p>
            <a:r>
              <a:rPr lang="en-US" sz="2500" dirty="0"/>
              <a:t>Data Preprocessing</a:t>
            </a:r>
          </a:p>
        </p:txBody>
      </p:sp>
      <p:sp>
        <p:nvSpPr>
          <p:cNvPr id="5" name="Footer Placeholder 4">
            <a:extLst>
              <a:ext uri="{FF2B5EF4-FFF2-40B4-BE49-F238E27FC236}">
                <a16:creationId xmlns:a16="http://schemas.microsoft.com/office/drawing/2014/main" id="{42FE9694-A31D-8118-2BF8-04E9E06127B2}"/>
              </a:ext>
            </a:extLst>
          </p:cNvPr>
          <p:cNvSpPr>
            <a:spLocks noGrp="1"/>
          </p:cNvSpPr>
          <p:nvPr>
            <p:ph type="ftr" sz="quarter" idx="11"/>
          </p:nvPr>
        </p:nvSpPr>
        <p:spPr>
          <a:xfrm>
            <a:off x="1451579" y="329307"/>
            <a:ext cx="5938836" cy="309201"/>
          </a:xfrm>
        </p:spPr>
        <p:txBody>
          <a:bodyPr>
            <a:normAutofit/>
          </a:bodyPr>
          <a:lstStyle/>
          <a:p>
            <a:pPr>
              <a:spcAft>
                <a:spcPts val="600"/>
              </a:spcAft>
            </a:pPr>
            <a:r>
              <a:rPr lang="en-US"/>
              <a:t>EY</a:t>
            </a:r>
          </a:p>
        </p:txBody>
      </p:sp>
      <p:sp>
        <p:nvSpPr>
          <p:cNvPr id="4" name="Date Placeholder 3">
            <a:extLst>
              <a:ext uri="{FF2B5EF4-FFF2-40B4-BE49-F238E27FC236}">
                <a16:creationId xmlns:a16="http://schemas.microsoft.com/office/drawing/2014/main" id="{B5C3E5F8-F60B-A42B-3D94-225BEE86A464}"/>
              </a:ext>
            </a:extLst>
          </p:cNvPr>
          <p:cNvSpPr>
            <a:spLocks noGrp="1"/>
          </p:cNvSpPr>
          <p:nvPr>
            <p:ph type="dt" sz="half" idx="10"/>
          </p:nvPr>
        </p:nvSpPr>
        <p:spPr>
          <a:xfrm>
            <a:off x="7554138" y="330370"/>
            <a:ext cx="3500715" cy="309201"/>
          </a:xfrm>
        </p:spPr>
        <p:txBody>
          <a:bodyPr>
            <a:normAutofit/>
          </a:bodyPr>
          <a:lstStyle/>
          <a:p>
            <a:pPr>
              <a:spcAft>
                <a:spcPts val="600"/>
              </a:spcAft>
            </a:pPr>
            <a:fld id="{CBACC65E-C5F5-4147-9EB2-3FD2A99AC806}" type="datetime1">
              <a:rPr lang="en-IN" smtClean="0"/>
              <a:pPr>
                <a:spcAft>
                  <a:spcPts val="600"/>
                </a:spcAft>
              </a:pPr>
              <a:t>14/10/22</a:t>
            </a:fld>
            <a:endParaRPr lang="en-US"/>
          </a:p>
        </p:txBody>
      </p:sp>
      <p:sp>
        <p:nvSpPr>
          <p:cNvPr id="6" name="Slide Number Placeholder 5">
            <a:extLst>
              <a:ext uri="{FF2B5EF4-FFF2-40B4-BE49-F238E27FC236}">
                <a16:creationId xmlns:a16="http://schemas.microsoft.com/office/drawing/2014/main" id="{EC886BCD-ECD2-2F83-650C-0EEF2FEA85F4}"/>
              </a:ext>
            </a:extLst>
          </p:cNvPr>
          <p:cNvSpPr>
            <a:spLocks noGrp="1"/>
          </p:cNvSpPr>
          <p:nvPr>
            <p:ph type="sldNum" sz="quarter" idx="12"/>
          </p:nvPr>
        </p:nvSpPr>
        <p:spPr>
          <a:xfrm>
            <a:off x="480060" y="798973"/>
            <a:ext cx="811019" cy="503578"/>
          </a:xfrm>
        </p:spPr>
        <p:txBody>
          <a:bodyPr>
            <a:normAutofit/>
          </a:bodyPr>
          <a:lstStyle/>
          <a:p>
            <a:pPr>
              <a:lnSpc>
                <a:spcPct val="90000"/>
              </a:lnSpc>
              <a:spcAft>
                <a:spcPts val="600"/>
              </a:spcAft>
            </a:pPr>
            <a:fld id="{B430EA86-E90C-A74B-B100-16B4655A4331}" type="slidenum">
              <a:rPr lang="en-US" smtClean="0"/>
              <a:pPr>
                <a:lnSpc>
                  <a:spcPct val="90000"/>
                </a:lnSpc>
                <a:spcAft>
                  <a:spcPts val="600"/>
                </a:spcAft>
              </a:pPr>
              <a:t>5</a:t>
            </a:fld>
            <a:endParaRPr lang="en-US"/>
          </a:p>
        </p:txBody>
      </p:sp>
      <p:sp>
        <p:nvSpPr>
          <p:cNvPr id="11" name="Content Placeholder 10">
            <a:extLst>
              <a:ext uri="{FF2B5EF4-FFF2-40B4-BE49-F238E27FC236}">
                <a16:creationId xmlns:a16="http://schemas.microsoft.com/office/drawing/2014/main" id="{42F87B93-4D92-48FC-7399-C474AEC4C812}"/>
              </a:ext>
            </a:extLst>
          </p:cNvPr>
          <p:cNvSpPr>
            <a:spLocks noGrp="1"/>
          </p:cNvSpPr>
          <p:nvPr>
            <p:ph idx="1"/>
          </p:nvPr>
        </p:nvSpPr>
        <p:spPr>
          <a:xfrm>
            <a:off x="1451579" y="2015734"/>
            <a:ext cx="4162555" cy="3450613"/>
          </a:xfrm>
        </p:spPr>
        <p:txBody>
          <a:bodyPr>
            <a:normAutofit/>
          </a:bodyPr>
          <a:lstStyle/>
          <a:p>
            <a:r>
              <a:rPr lang="en-US" dirty="0"/>
              <a:t>Steps:</a:t>
            </a:r>
          </a:p>
          <a:p>
            <a:pPr lvl="1"/>
            <a:r>
              <a:rPr lang="en-US" dirty="0"/>
              <a:t>Data Cleaning</a:t>
            </a:r>
          </a:p>
          <a:p>
            <a:pPr lvl="1"/>
            <a:r>
              <a:rPr lang="en-US" dirty="0"/>
              <a:t>Data Integration</a:t>
            </a:r>
          </a:p>
          <a:p>
            <a:pPr lvl="1"/>
            <a:r>
              <a:rPr lang="en-US" dirty="0"/>
              <a:t>Data Transformation</a:t>
            </a:r>
          </a:p>
          <a:p>
            <a:pPr lvl="1"/>
            <a:r>
              <a:rPr lang="en-US" dirty="0"/>
              <a:t>Data Reduction</a:t>
            </a:r>
          </a:p>
        </p:txBody>
      </p:sp>
      <p:pic>
        <p:nvPicPr>
          <p:cNvPr id="7" name="Content Placeholder 6">
            <a:extLst>
              <a:ext uri="{FF2B5EF4-FFF2-40B4-BE49-F238E27FC236}">
                <a16:creationId xmlns:a16="http://schemas.microsoft.com/office/drawing/2014/main" id="{0C2D89DB-1C03-1851-4D44-779B64850B9D}"/>
              </a:ext>
            </a:extLst>
          </p:cNvPr>
          <p:cNvPicPr>
            <a:picLocks noChangeAspect="1"/>
          </p:cNvPicPr>
          <p:nvPr/>
        </p:nvPicPr>
        <p:blipFill>
          <a:blip r:embed="rId2"/>
          <a:stretch>
            <a:fillRect/>
          </a:stretch>
        </p:blipFill>
        <p:spPr>
          <a:xfrm>
            <a:off x="5746861" y="2015735"/>
            <a:ext cx="5398146" cy="3450612"/>
          </a:xfrm>
          <a:prstGeom prst="rect">
            <a:avLst/>
          </a:prstGeom>
        </p:spPr>
      </p:pic>
    </p:spTree>
    <p:extLst>
      <p:ext uri="{BB962C8B-B14F-4D97-AF65-F5344CB8AC3E}">
        <p14:creationId xmlns:p14="http://schemas.microsoft.com/office/powerpoint/2010/main" val="3889408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556FD-AF4A-D296-614A-57A07B8176BC}"/>
              </a:ext>
            </a:extLst>
          </p:cNvPr>
          <p:cNvSpPr>
            <a:spLocks noGrp="1"/>
          </p:cNvSpPr>
          <p:nvPr>
            <p:ph type="title"/>
          </p:nvPr>
        </p:nvSpPr>
        <p:spPr/>
        <p:txBody>
          <a:bodyPr/>
          <a:lstStyle/>
          <a:p>
            <a:r>
              <a:rPr lang="en-US" sz="3200" dirty="0"/>
              <a:t>Data Preprocessing :  Data cleaning</a:t>
            </a:r>
            <a:endParaRPr lang="en-US" dirty="0"/>
          </a:p>
        </p:txBody>
      </p:sp>
      <p:sp>
        <p:nvSpPr>
          <p:cNvPr id="3" name="Content Placeholder 2">
            <a:extLst>
              <a:ext uri="{FF2B5EF4-FFF2-40B4-BE49-F238E27FC236}">
                <a16:creationId xmlns:a16="http://schemas.microsoft.com/office/drawing/2014/main" id="{8BAD5D37-B4B2-1050-3495-864D493FC4FF}"/>
              </a:ext>
            </a:extLst>
          </p:cNvPr>
          <p:cNvSpPr>
            <a:spLocks noGrp="1"/>
          </p:cNvSpPr>
          <p:nvPr>
            <p:ph idx="1"/>
          </p:nvPr>
        </p:nvSpPr>
        <p:spPr/>
        <p:txBody>
          <a:bodyPr/>
          <a:lstStyle/>
          <a:p>
            <a:r>
              <a:rPr lang="en-US" dirty="0"/>
              <a:t>Task involves filling of missing values, smoothing or removing noisy data and outliers along with resolving inconsistencies.</a:t>
            </a:r>
          </a:p>
          <a:p>
            <a:r>
              <a:rPr lang="en-US" dirty="0"/>
              <a:t>Some reasons: dummy values, absence of data.</a:t>
            </a:r>
          </a:p>
          <a:p>
            <a:r>
              <a:rPr lang="en-US" dirty="0"/>
              <a:t>Methods for missing values: ignore data row, fill manually, mean or median, data mining algo to predict probable value</a:t>
            </a:r>
          </a:p>
          <a:p>
            <a:r>
              <a:rPr lang="en-US" dirty="0"/>
              <a:t>Handle noise and outliers by binning</a:t>
            </a:r>
          </a:p>
          <a:p>
            <a:r>
              <a:rPr lang="en-US" dirty="0"/>
              <a:t>Remove duplicate or irrelevant data </a:t>
            </a:r>
          </a:p>
        </p:txBody>
      </p:sp>
      <p:sp>
        <p:nvSpPr>
          <p:cNvPr id="4" name="Date Placeholder 3">
            <a:extLst>
              <a:ext uri="{FF2B5EF4-FFF2-40B4-BE49-F238E27FC236}">
                <a16:creationId xmlns:a16="http://schemas.microsoft.com/office/drawing/2014/main" id="{079A30DA-19F5-A6E8-3EF7-B3B8B3393FCD}"/>
              </a:ext>
            </a:extLst>
          </p:cNvPr>
          <p:cNvSpPr>
            <a:spLocks noGrp="1"/>
          </p:cNvSpPr>
          <p:nvPr>
            <p:ph type="dt" sz="half" idx="10"/>
          </p:nvPr>
        </p:nvSpPr>
        <p:spPr/>
        <p:txBody>
          <a:bodyPr/>
          <a:lstStyle/>
          <a:p>
            <a:fld id="{CBACC65E-C5F5-4147-9EB2-3FD2A99AC806}" type="datetime1">
              <a:rPr lang="en-IN" smtClean="0"/>
              <a:t>14/10/22</a:t>
            </a:fld>
            <a:endParaRPr lang="en-US"/>
          </a:p>
        </p:txBody>
      </p:sp>
      <p:sp>
        <p:nvSpPr>
          <p:cNvPr id="5" name="Footer Placeholder 4">
            <a:extLst>
              <a:ext uri="{FF2B5EF4-FFF2-40B4-BE49-F238E27FC236}">
                <a16:creationId xmlns:a16="http://schemas.microsoft.com/office/drawing/2014/main" id="{AB859C8C-C89D-7DD0-D98F-F2CEFDCA43DE}"/>
              </a:ext>
            </a:extLst>
          </p:cNvPr>
          <p:cNvSpPr>
            <a:spLocks noGrp="1"/>
          </p:cNvSpPr>
          <p:nvPr>
            <p:ph type="ftr" sz="quarter" idx="11"/>
          </p:nvPr>
        </p:nvSpPr>
        <p:spPr/>
        <p:txBody>
          <a:bodyPr/>
          <a:lstStyle/>
          <a:p>
            <a:r>
              <a:rPr lang="en-US"/>
              <a:t>EY</a:t>
            </a:r>
          </a:p>
        </p:txBody>
      </p:sp>
      <p:sp>
        <p:nvSpPr>
          <p:cNvPr id="6" name="Slide Number Placeholder 5">
            <a:extLst>
              <a:ext uri="{FF2B5EF4-FFF2-40B4-BE49-F238E27FC236}">
                <a16:creationId xmlns:a16="http://schemas.microsoft.com/office/drawing/2014/main" id="{4B5F3CC1-0F48-9256-CB11-EE4A9A6D54E8}"/>
              </a:ext>
            </a:extLst>
          </p:cNvPr>
          <p:cNvSpPr>
            <a:spLocks noGrp="1"/>
          </p:cNvSpPr>
          <p:nvPr>
            <p:ph type="sldNum" sz="quarter" idx="12"/>
          </p:nvPr>
        </p:nvSpPr>
        <p:spPr/>
        <p:txBody>
          <a:bodyPr/>
          <a:lstStyle/>
          <a:p>
            <a:fld id="{B430EA86-E90C-A74B-B100-16B4655A4331}" type="slidenum">
              <a:rPr lang="en-US" smtClean="0"/>
              <a:t>6</a:t>
            </a:fld>
            <a:endParaRPr lang="en-US"/>
          </a:p>
        </p:txBody>
      </p:sp>
    </p:spTree>
    <p:extLst>
      <p:ext uri="{BB962C8B-B14F-4D97-AF65-F5344CB8AC3E}">
        <p14:creationId xmlns:p14="http://schemas.microsoft.com/office/powerpoint/2010/main" val="795877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0A244-5AAA-A2F2-C4EE-0557AB7BAA68}"/>
              </a:ext>
            </a:extLst>
          </p:cNvPr>
          <p:cNvSpPr>
            <a:spLocks noGrp="1"/>
          </p:cNvSpPr>
          <p:nvPr>
            <p:ph type="title"/>
          </p:nvPr>
        </p:nvSpPr>
        <p:spPr/>
        <p:txBody>
          <a:bodyPr/>
          <a:lstStyle/>
          <a:p>
            <a:r>
              <a:rPr lang="en-US" sz="3200" dirty="0"/>
              <a:t>Data Preprocessing :  Data integration</a:t>
            </a:r>
            <a:endParaRPr lang="en-US" dirty="0"/>
          </a:p>
        </p:txBody>
      </p:sp>
      <p:sp>
        <p:nvSpPr>
          <p:cNvPr id="3" name="Content Placeholder 2">
            <a:extLst>
              <a:ext uri="{FF2B5EF4-FFF2-40B4-BE49-F238E27FC236}">
                <a16:creationId xmlns:a16="http://schemas.microsoft.com/office/drawing/2014/main" id="{C49B1E2B-D91E-F556-9578-EC9CFFEC340B}"/>
              </a:ext>
            </a:extLst>
          </p:cNvPr>
          <p:cNvSpPr>
            <a:spLocks noGrp="1"/>
          </p:cNvSpPr>
          <p:nvPr>
            <p:ph idx="1"/>
          </p:nvPr>
        </p:nvSpPr>
        <p:spPr/>
        <p:txBody>
          <a:bodyPr/>
          <a:lstStyle/>
          <a:p>
            <a:r>
              <a:rPr lang="en-US" dirty="0"/>
              <a:t>Task involves integrating data from multiple sources such as databases (relational and non-relational), data cubes, files, etc. </a:t>
            </a:r>
          </a:p>
          <a:p>
            <a:pPr lvl="1"/>
            <a:r>
              <a:rPr lang="en-US" dirty="0"/>
              <a:t>Removing duplicates and redundant data</a:t>
            </a:r>
          </a:p>
          <a:p>
            <a:pPr lvl="1"/>
            <a:r>
              <a:rPr lang="en-US" dirty="0"/>
              <a:t>Schema integration</a:t>
            </a:r>
          </a:p>
          <a:p>
            <a:pPr lvl="2"/>
            <a:r>
              <a:rPr lang="en-US" dirty="0" err="1"/>
              <a:t>Eg</a:t>
            </a:r>
            <a:r>
              <a:rPr lang="en-US" dirty="0"/>
              <a:t>: </a:t>
            </a:r>
            <a:r>
              <a:rPr lang="en-US" dirty="0" err="1"/>
              <a:t>A.custID</a:t>
            </a:r>
            <a:r>
              <a:rPr lang="en-US" dirty="0"/>
              <a:t>. = </a:t>
            </a:r>
            <a:r>
              <a:rPr lang="en-US" dirty="0" err="1"/>
              <a:t>B.customerId</a:t>
            </a:r>
            <a:endParaRPr lang="en-US" dirty="0"/>
          </a:p>
          <a:p>
            <a:pPr lvl="1"/>
            <a:r>
              <a:rPr lang="en-US" dirty="0"/>
              <a:t>Data value conflict</a:t>
            </a:r>
          </a:p>
          <a:p>
            <a:pPr lvl="2"/>
            <a:r>
              <a:rPr lang="en-US" dirty="0"/>
              <a:t>Weight in one system in Kg and other in grams</a:t>
            </a:r>
          </a:p>
        </p:txBody>
      </p:sp>
      <p:sp>
        <p:nvSpPr>
          <p:cNvPr id="4" name="Date Placeholder 3">
            <a:extLst>
              <a:ext uri="{FF2B5EF4-FFF2-40B4-BE49-F238E27FC236}">
                <a16:creationId xmlns:a16="http://schemas.microsoft.com/office/drawing/2014/main" id="{2537B781-A91F-B8E1-8914-6C670AA0917F}"/>
              </a:ext>
            </a:extLst>
          </p:cNvPr>
          <p:cNvSpPr>
            <a:spLocks noGrp="1"/>
          </p:cNvSpPr>
          <p:nvPr>
            <p:ph type="dt" sz="half" idx="10"/>
          </p:nvPr>
        </p:nvSpPr>
        <p:spPr/>
        <p:txBody>
          <a:bodyPr/>
          <a:lstStyle/>
          <a:p>
            <a:fld id="{CBACC65E-C5F5-4147-9EB2-3FD2A99AC806}" type="datetime1">
              <a:rPr lang="en-IN" smtClean="0"/>
              <a:t>14/10/22</a:t>
            </a:fld>
            <a:endParaRPr lang="en-US"/>
          </a:p>
        </p:txBody>
      </p:sp>
      <p:sp>
        <p:nvSpPr>
          <p:cNvPr id="5" name="Footer Placeholder 4">
            <a:extLst>
              <a:ext uri="{FF2B5EF4-FFF2-40B4-BE49-F238E27FC236}">
                <a16:creationId xmlns:a16="http://schemas.microsoft.com/office/drawing/2014/main" id="{D8A23BCF-8FF7-2411-C149-AB9F2D000323}"/>
              </a:ext>
            </a:extLst>
          </p:cNvPr>
          <p:cNvSpPr>
            <a:spLocks noGrp="1"/>
          </p:cNvSpPr>
          <p:nvPr>
            <p:ph type="ftr" sz="quarter" idx="11"/>
          </p:nvPr>
        </p:nvSpPr>
        <p:spPr/>
        <p:txBody>
          <a:bodyPr/>
          <a:lstStyle/>
          <a:p>
            <a:r>
              <a:rPr lang="en-US"/>
              <a:t>EY</a:t>
            </a:r>
          </a:p>
        </p:txBody>
      </p:sp>
      <p:sp>
        <p:nvSpPr>
          <p:cNvPr id="6" name="Slide Number Placeholder 5">
            <a:extLst>
              <a:ext uri="{FF2B5EF4-FFF2-40B4-BE49-F238E27FC236}">
                <a16:creationId xmlns:a16="http://schemas.microsoft.com/office/drawing/2014/main" id="{55B21239-468D-B6EB-F37C-26E30C390B89}"/>
              </a:ext>
            </a:extLst>
          </p:cNvPr>
          <p:cNvSpPr>
            <a:spLocks noGrp="1"/>
          </p:cNvSpPr>
          <p:nvPr>
            <p:ph type="sldNum" sz="quarter" idx="12"/>
          </p:nvPr>
        </p:nvSpPr>
        <p:spPr/>
        <p:txBody>
          <a:bodyPr/>
          <a:lstStyle/>
          <a:p>
            <a:fld id="{B430EA86-E90C-A74B-B100-16B4655A4331}" type="slidenum">
              <a:rPr lang="en-US" smtClean="0"/>
              <a:t>7</a:t>
            </a:fld>
            <a:endParaRPr lang="en-US"/>
          </a:p>
        </p:txBody>
      </p:sp>
    </p:spTree>
    <p:extLst>
      <p:ext uri="{BB962C8B-B14F-4D97-AF65-F5344CB8AC3E}">
        <p14:creationId xmlns:p14="http://schemas.microsoft.com/office/powerpoint/2010/main" val="121238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A4B50-4CE0-408B-B641-9990211A2B87}"/>
              </a:ext>
            </a:extLst>
          </p:cNvPr>
          <p:cNvSpPr>
            <a:spLocks noGrp="1"/>
          </p:cNvSpPr>
          <p:nvPr>
            <p:ph type="title"/>
          </p:nvPr>
        </p:nvSpPr>
        <p:spPr/>
        <p:txBody>
          <a:bodyPr/>
          <a:lstStyle/>
          <a:p>
            <a:r>
              <a:rPr lang="en-US" sz="3200" dirty="0"/>
              <a:t>Data Preprocessing :  Data Transformation</a:t>
            </a:r>
            <a:endParaRPr lang="en-US" dirty="0"/>
          </a:p>
        </p:txBody>
      </p:sp>
      <p:sp>
        <p:nvSpPr>
          <p:cNvPr id="3" name="Content Placeholder 2">
            <a:extLst>
              <a:ext uri="{FF2B5EF4-FFF2-40B4-BE49-F238E27FC236}">
                <a16:creationId xmlns:a16="http://schemas.microsoft.com/office/drawing/2014/main" id="{F8C352C0-D8EF-6B37-F492-2477193B44B2}"/>
              </a:ext>
            </a:extLst>
          </p:cNvPr>
          <p:cNvSpPr>
            <a:spLocks noGrp="1"/>
          </p:cNvSpPr>
          <p:nvPr>
            <p:ph idx="1"/>
          </p:nvPr>
        </p:nvSpPr>
        <p:spPr/>
        <p:txBody>
          <a:bodyPr/>
          <a:lstStyle/>
          <a:p>
            <a:r>
              <a:rPr lang="en-US" dirty="0"/>
              <a:t>Tasks involves normalization and aggregation of data according to the needs of the data set</a:t>
            </a:r>
          </a:p>
          <a:p>
            <a:r>
              <a:rPr lang="en-US" b="1" dirty="0"/>
              <a:t>Normalization</a:t>
            </a:r>
            <a:r>
              <a:rPr lang="en-US" dirty="0"/>
              <a:t>: scaled to fall within a small or specified range</a:t>
            </a:r>
          </a:p>
          <a:p>
            <a:pPr lvl="1"/>
            <a:r>
              <a:rPr lang="en-US" dirty="0"/>
              <a:t>New attributes constructed from given ones</a:t>
            </a:r>
            <a:endParaRPr lang="en-US" b="1" dirty="0"/>
          </a:p>
          <a:p>
            <a:r>
              <a:rPr lang="en-US" b="1" dirty="0"/>
              <a:t>Aggregation</a:t>
            </a:r>
          </a:p>
          <a:p>
            <a:pPr lvl="1"/>
            <a:r>
              <a:rPr lang="en-US" dirty="0"/>
              <a:t>Integrate data from different sources (tables)</a:t>
            </a:r>
          </a:p>
        </p:txBody>
      </p:sp>
      <p:sp>
        <p:nvSpPr>
          <p:cNvPr id="4" name="Date Placeholder 3">
            <a:extLst>
              <a:ext uri="{FF2B5EF4-FFF2-40B4-BE49-F238E27FC236}">
                <a16:creationId xmlns:a16="http://schemas.microsoft.com/office/drawing/2014/main" id="{0D5389BB-AB6F-1DBC-DC41-53661374588D}"/>
              </a:ext>
            </a:extLst>
          </p:cNvPr>
          <p:cNvSpPr>
            <a:spLocks noGrp="1"/>
          </p:cNvSpPr>
          <p:nvPr>
            <p:ph type="dt" sz="half" idx="10"/>
          </p:nvPr>
        </p:nvSpPr>
        <p:spPr/>
        <p:txBody>
          <a:bodyPr/>
          <a:lstStyle/>
          <a:p>
            <a:fld id="{CBACC65E-C5F5-4147-9EB2-3FD2A99AC806}" type="datetime1">
              <a:rPr lang="en-IN" smtClean="0"/>
              <a:t>14/10/22</a:t>
            </a:fld>
            <a:endParaRPr lang="en-US"/>
          </a:p>
        </p:txBody>
      </p:sp>
      <p:sp>
        <p:nvSpPr>
          <p:cNvPr id="5" name="Footer Placeholder 4">
            <a:extLst>
              <a:ext uri="{FF2B5EF4-FFF2-40B4-BE49-F238E27FC236}">
                <a16:creationId xmlns:a16="http://schemas.microsoft.com/office/drawing/2014/main" id="{6D669106-62FE-4099-C287-C17C95D00486}"/>
              </a:ext>
            </a:extLst>
          </p:cNvPr>
          <p:cNvSpPr>
            <a:spLocks noGrp="1"/>
          </p:cNvSpPr>
          <p:nvPr>
            <p:ph type="ftr" sz="quarter" idx="11"/>
          </p:nvPr>
        </p:nvSpPr>
        <p:spPr/>
        <p:txBody>
          <a:bodyPr/>
          <a:lstStyle/>
          <a:p>
            <a:r>
              <a:rPr lang="en-US"/>
              <a:t>EY</a:t>
            </a:r>
          </a:p>
        </p:txBody>
      </p:sp>
      <p:sp>
        <p:nvSpPr>
          <p:cNvPr id="6" name="Slide Number Placeholder 5">
            <a:extLst>
              <a:ext uri="{FF2B5EF4-FFF2-40B4-BE49-F238E27FC236}">
                <a16:creationId xmlns:a16="http://schemas.microsoft.com/office/drawing/2014/main" id="{C0EE00CD-1DC6-2D00-1E95-C0D160F7F7A1}"/>
              </a:ext>
            </a:extLst>
          </p:cNvPr>
          <p:cNvSpPr>
            <a:spLocks noGrp="1"/>
          </p:cNvSpPr>
          <p:nvPr>
            <p:ph type="sldNum" sz="quarter" idx="12"/>
          </p:nvPr>
        </p:nvSpPr>
        <p:spPr/>
        <p:txBody>
          <a:bodyPr/>
          <a:lstStyle/>
          <a:p>
            <a:fld id="{B430EA86-E90C-A74B-B100-16B4655A4331}" type="slidenum">
              <a:rPr lang="en-US" smtClean="0"/>
              <a:t>8</a:t>
            </a:fld>
            <a:endParaRPr lang="en-US"/>
          </a:p>
        </p:txBody>
      </p:sp>
    </p:spTree>
    <p:extLst>
      <p:ext uri="{BB962C8B-B14F-4D97-AF65-F5344CB8AC3E}">
        <p14:creationId xmlns:p14="http://schemas.microsoft.com/office/powerpoint/2010/main" val="1846852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58C49-5198-FE11-2621-8B4BE902BE16}"/>
              </a:ext>
            </a:extLst>
          </p:cNvPr>
          <p:cNvSpPr>
            <a:spLocks noGrp="1"/>
          </p:cNvSpPr>
          <p:nvPr>
            <p:ph type="title"/>
          </p:nvPr>
        </p:nvSpPr>
        <p:spPr/>
        <p:txBody>
          <a:bodyPr/>
          <a:lstStyle/>
          <a:p>
            <a:r>
              <a:rPr lang="en-US" sz="3200" dirty="0"/>
              <a:t>Data Preprocessing :  Data Reduction</a:t>
            </a:r>
            <a:endParaRPr lang="en-US" dirty="0"/>
          </a:p>
        </p:txBody>
      </p:sp>
      <p:sp>
        <p:nvSpPr>
          <p:cNvPr id="3" name="Content Placeholder 2">
            <a:extLst>
              <a:ext uri="{FF2B5EF4-FFF2-40B4-BE49-F238E27FC236}">
                <a16:creationId xmlns:a16="http://schemas.microsoft.com/office/drawing/2014/main" id="{23D259A6-01D7-71F4-D58B-D34F544A5DD0}"/>
              </a:ext>
            </a:extLst>
          </p:cNvPr>
          <p:cNvSpPr>
            <a:spLocks noGrp="1"/>
          </p:cNvSpPr>
          <p:nvPr>
            <p:ph idx="1"/>
          </p:nvPr>
        </p:nvSpPr>
        <p:spPr/>
        <p:txBody>
          <a:bodyPr/>
          <a:lstStyle/>
          <a:p>
            <a:r>
              <a:rPr lang="en-US" dirty="0"/>
              <a:t> The number of records or the number of attributes or dimensions can be reduced. Reduction is performed by keeping in mind that reduced data should produce the same results as original data.</a:t>
            </a:r>
          </a:p>
          <a:p>
            <a:r>
              <a:rPr lang="en-US" dirty="0"/>
              <a:t>Strategies</a:t>
            </a:r>
          </a:p>
          <a:p>
            <a:pPr lvl="1"/>
            <a:r>
              <a:rPr lang="en-US" dirty="0"/>
              <a:t>Dimensionality reduction</a:t>
            </a:r>
          </a:p>
          <a:p>
            <a:pPr lvl="1"/>
            <a:r>
              <a:rPr lang="en-US" dirty="0"/>
              <a:t>Sampling</a:t>
            </a:r>
          </a:p>
          <a:p>
            <a:pPr lvl="1"/>
            <a:r>
              <a:rPr lang="en-US" dirty="0"/>
              <a:t>Remove redundant or closely associated ones</a:t>
            </a:r>
          </a:p>
        </p:txBody>
      </p:sp>
      <p:sp>
        <p:nvSpPr>
          <p:cNvPr id="4" name="Date Placeholder 3">
            <a:extLst>
              <a:ext uri="{FF2B5EF4-FFF2-40B4-BE49-F238E27FC236}">
                <a16:creationId xmlns:a16="http://schemas.microsoft.com/office/drawing/2014/main" id="{7BEC7ECB-7E52-5138-3260-3E10E2C109A0}"/>
              </a:ext>
            </a:extLst>
          </p:cNvPr>
          <p:cNvSpPr>
            <a:spLocks noGrp="1"/>
          </p:cNvSpPr>
          <p:nvPr>
            <p:ph type="dt" sz="half" idx="10"/>
          </p:nvPr>
        </p:nvSpPr>
        <p:spPr/>
        <p:txBody>
          <a:bodyPr/>
          <a:lstStyle/>
          <a:p>
            <a:fld id="{CBACC65E-C5F5-4147-9EB2-3FD2A99AC806}" type="datetime1">
              <a:rPr lang="en-IN" smtClean="0"/>
              <a:t>14/10/22</a:t>
            </a:fld>
            <a:endParaRPr lang="en-US"/>
          </a:p>
        </p:txBody>
      </p:sp>
      <p:sp>
        <p:nvSpPr>
          <p:cNvPr id="5" name="Footer Placeholder 4">
            <a:extLst>
              <a:ext uri="{FF2B5EF4-FFF2-40B4-BE49-F238E27FC236}">
                <a16:creationId xmlns:a16="http://schemas.microsoft.com/office/drawing/2014/main" id="{460945E0-B43F-FF35-4D53-C304DF7FC858}"/>
              </a:ext>
            </a:extLst>
          </p:cNvPr>
          <p:cNvSpPr>
            <a:spLocks noGrp="1"/>
          </p:cNvSpPr>
          <p:nvPr>
            <p:ph type="ftr" sz="quarter" idx="11"/>
          </p:nvPr>
        </p:nvSpPr>
        <p:spPr/>
        <p:txBody>
          <a:bodyPr/>
          <a:lstStyle/>
          <a:p>
            <a:r>
              <a:rPr lang="en-US"/>
              <a:t>EY</a:t>
            </a:r>
          </a:p>
        </p:txBody>
      </p:sp>
      <p:sp>
        <p:nvSpPr>
          <p:cNvPr id="6" name="Slide Number Placeholder 5">
            <a:extLst>
              <a:ext uri="{FF2B5EF4-FFF2-40B4-BE49-F238E27FC236}">
                <a16:creationId xmlns:a16="http://schemas.microsoft.com/office/drawing/2014/main" id="{082F2D21-20DA-F302-ECBA-F23E40C4C17E}"/>
              </a:ext>
            </a:extLst>
          </p:cNvPr>
          <p:cNvSpPr>
            <a:spLocks noGrp="1"/>
          </p:cNvSpPr>
          <p:nvPr>
            <p:ph type="sldNum" sz="quarter" idx="12"/>
          </p:nvPr>
        </p:nvSpPr>
        <p:spPr/>
        <p:txBody>
          <a:bodyPr/>
          <a:lstStyle/>
          <a:p>
            <a:fld id="{B430EA86-E90C-A74B-B100-16B4655A4331}" type="slidenum">
              <a:rPr lang="en-US" smtClean="0"/>
              <a:t>9</a:t>
            </a:fld>
            <a:endParaRPr lang="en-US"/>
          </a:p>
        </p:txBody>
      </p:sp>
    </p:spTree>
    <p:extLst>
      <p:ext uri="{BB962C8B-B14F-4D97-AF65-F5344CB8AC3E}">
        <p14:creationId xmlns:p14="http://schemas.microsoft.com/office/powerpoint/2010/main" val="1575932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08938-3084-5ADF-BDA9-4C3AEC619423}"/>
              </a:ext>
            </a:extLst>
          </p:cNvPr>
          <p:cNvSpPr>
            <a:spLocks noGrp="1"/>
          </p:cNvSpPr>
          <p:nvPr>
            <p:ph type="title"/>
          </p:nvPr>
        </p:nvSpPr>
        <p:spPr>
          <a:xfrm>
            <a:off x="1451579" y="804519"/>
            <a:ext cx="9603275" cy="1049235"/>
          </a:xfrm>
        </p:spPr>
        <p:txBody>
          <a:bodyPr>
            <a:normAutofit/>
          </a:bodyPr>
          <a:lstStyle/>
          <a:p>
            <a:r>
              <a:rPr lang="en-US" dirty="0"/>
              <a:t>Encoding for Categorical Data</a:t>
            </a:r>
            <a:br>
              <a:rPr lang="en-US" dirty="0"/>
            </a:br>
            <a:endParaRPr lang="en-US" dirty="0"/>
          </a:p>
        </p:txBody>
      </p:sp>
      <p:sp>
        <p:nvSpPr>
          <p:cNvPr id="5" name="Footer Placeholder 4">
            <a:extLst>
              <a:ext uri="{FF2B5EF4-FFF2-40B4-BE49-F238E27FC236}">
                <a16:creationId xmlns:a16="http://schemas.microsoft.com/office/drawing/2014/main" id="{F9D4F0E3-678D-815E-8068-AC496394124A}"/>
              </a:ext>
            </a:extLst>
          </p:cNvPr>
          <p:cNvSpPr>
            <a:spLocks noGrp="1"/>
          </p:cNvSpPr>
          <p:nvPr>
            <p:ph type="ftr" sz="quarter" idx="11"/>
          </p:nvPr>
        </p:nvSpPr>
        <p:spPr>
          <a:xfrm>
            <a:off x="1451579" y="329307"/>
            <a:ext cx="5938836" cy="309201"/>
          </a:xfrm>
        </p:spPr>
        <p:txBody>
          <a:bodyPr>
            <a:normAutofit/>
          </a:bodyPr>
          <a:lstStyle/>
          <a:p>
            <a:pPr>
              <a:spcAft>
                <a:spcPts val="600"/>
              </a:spcAft>
            </a:pPr>
            <a:r>
              <a:rPr lang="en-US"/>
              <a:t>EY</a:t>
            </a:r>
          </a:p>
        </p:txBody>
      </p:sp>
      <p:sp>
        <p:nvSpPr>
          <p:cNvPr id="4" name="Date Placeholder 3">
            <a:extLst>
              <a:ext uri="{FF2B5EF4-FFF2-40B4-BE49-F238E27FC236}">
                <a16:creationId xmlns:a16="http://schemas.microsoft.com/office/drawing/2014/main" id="{9B7A7C48-E04F-E56A-F885-74C79AD2F2BC}"/>
              </a:ext>
            </a:extLst>
          </p:cNvPr>
          <p:cNvSpPr>
            <a:spLocks noGrp="1"/>
          </p:cNvSpPr>
          <p:nvPr>
            <p:ph type="dt" sz="half" idx="10"/>
          </p:nvPr>
        </p:nvSpPr>
        <p:spPr>
          <a:xfrm>
            <a:off x="7554138" y="330370"/>
            <a:ext cx="3500715" cy="309201"/>
          </a:xfrm>
        </p:spPr>
        <p:txBody>
          <a:bodyPr>
            <a:normAutofit/>
          </a:bodyPr>
          <a:lstStyle/>
          <a:p>
            <a:pPr>
              <a:spcAft>
                <a:spcPts val="600"/>
              </a:spcAft>
            </a:pPr>
            <a:fld id="{CBACC65E-C5F5-4147-9EB2-3FD2A99AC806}" type="datetime1">
              <a:rPr lang="en-IN" smtClean="0"/>
              <a:pPr>
                <a:spcAft>
                  <a:spcPts val="600"/>
                </a:spcAft>
              </a:pPr>
              <a:t>14/10/22</a:t>
            </a:fld>
            <a:endParaRPr lang="en-US"/>
          </a:p>
        </p:txBody>
      </p:sp>
      <p:sp>
        <p:nvSpPr>
          <p:cNvPr id="6" name="Slide Number Placeholder 5">
            <a:extLst>
              <a:ext uri="{FF2B5EF4-FFF2-40B4-BE49-F238E27FC236}">
                <a16:creationId xmlns:a16="http://schemas.microsoft.com/office/drawing/2014/main" id="{5E60FCF5-B45D-FF95-7E45-B59382DE5FBC}"/>
              </a:ext>
            </a:extLst>
          </p:cNvPr>
          <p:cNvSpPr>
            <a:spLocks noGrp="1"/>
          </p:cNvSpPr>
          <p:nvPr>
            <p:ph type="sldNum" sz="quarter" idx="12"/>
          </p:nvPr>
        </p:nvSpPr>
        <p:spPr>
          <a:xfrm>
            <a:off x="480060" y="798973"/>
            <a:ext cx="811019" cy="503578"/>
          </a:xfrm>
        </p:spPr>
        <p:txBody>
          <a:bodyPr>
            <a:normAutofit/>
          </a:bodyPr>
          <a:lstStyle/>
          <a:p>
            <a:pPr>
              <a:lnSpc>
                <a:spcPct val="90000"/>
              </a:lnSpc>
              <a:spcAft>
                <a:spcPts val="600"/>
              </a:spcAft>
            </a:pPr>
            <a:fld id="{B430EA86-E90C-A74B-B100-16B4655A4331}" type="slidenum">
              <a:rPr lang="en-US" smtClean="0"/>
              <a:pPr>
                <a:lnSpc>
                  <a:spcPct val="90000"/>
                </a:lnSpc>
                <a:spcAft>
                  <a:spcPts val="600"/>
                </a:spcAft>
              </a:pPr>
              <a:t>10</a:t>
            </a:fld>
            <a:endParaRPr lang="en-US"/>
          </a:p>
        </p:txBody>
      </p:sp>
      <p:sp>
        <p:nvSpPr>
          <p:cNvPr id="3" name="Content Placeholder 2">
            <a:extLst>
              <a:ext uri="{FF2B5EF4-FFF2-40B4-BE49-F238E27FC236}">
                <a16:creationId xmlns:a16="http://schemas.microsoft.com/office/drawing/2014/main" id="{2ABEE5FB-5B8E-4D2C-5D3F-7FBCF01DD560}"/>
              </a:ext>
            </a:extLst>
          </p:cNvPr>
          <p:cNvSpPr>
            <a:spLocks noGrp="1"/>
          </p:cNvSpPr>
          <p:nvPr>
            <p:ph idx="1"/>
          </p:nvPr>
        </p:nvSpPr>
        <p:spPr>
          <a:xfrm>
            <a:off x="1451579" y="2015732"/>
            <a:ext cx="5989855" cy="3450613"/>
          </a:xfrm>
        </p:spPr>
        <p:txBody>
          <a:bodyPr>
            <a:normAutofit/>
          </a:bodyPr>
          <a:lstStyle/>
          <a:p>
            <a:r>
              <a:rPr lang="en-US" dirty="0"/>
              <a:t>Types</a:t>
            </a:r>
          </a:p>
          <a:p>
            <a:pPr lvl="1"/>
            <a:r>
              <a:rPr lang="en-US" dirty="0"/>
              <a:t>1.Label Encoding</a:t>
            </a:r>
          </a:p>
          <a:p>
            <a:pPr lvl="2"/>
            <a:r>
              <a:rPr lang="en-US" dirty="0"/>
              <a:t>Assign each categorical value an integer value based on alphabetical order.</a:t>
            </a:r>
          </a:p>
          <a:p>
            <a:pPr lvl="1"/>
            <a:r>
              <a:rPr lang="en-US" dirty="0"/>
              <a:t>2. One Hot Encoding:</a:t>
            </a:r>
          </a:p>
          <a:p>
            <a:pPr lvl="2"/>
            <a:r>
              <a:rPr lang="en-US" dirty="0"/>
              <a:t>Create new variables that take on values 0 and 1 to represent the original categorical values.</a:t>
            </a:r>
          </a:p>
          <a:p>
            <a:r>
              <a:rPr lang="en-US" dirty="0"/>
              <a:t>Example ?</a:t>
            </a:r>
          </a:p>
        </p:txBody>
      </p:sp>
      <p:pic>
        <p:nvPicPr>
          <p:cNvPr id="7" name="Picture 6">
            <a:extLst>
              <a:ext uri="{FF2B5EF4-FFF2-40B4-BE49-F238E27FC236}">
                <a16:creationId xmlns:a16="http://schemas.microsoft.com/office/drawing/2014/main" id="{901E8520-D327-41FA-7374-C711ACA50AE3}"/>
              </a:ext>
            </a:extLst>
          </p:cNvPr>
          <p:cNvPicPr>
            <a:picLocks noChangeAspect="1"/>
          </p:cNvPicPr>
          <p:nvPr/>
        </p:nvPicPr>
        <p:blipFill>
          <a:blip r:embed="rId3"/>
          <a:stretch>
            <a:fillRect/>
          </a:stretch>
        </p:blipFill>
        <p:spPr>
          <a:xfrm>
            <a:off x="8329031" y="2015733"/>
            <a:ext cx="2274063" cy="1643010"/>
          </a:xfrm>
          <a:prstGeom prst="rect">
            <a:avLst/>
          </a:prstGeom>
        </p:spPr>
      </p:pic>
      <p:pic>
        <p:nvPicPr>
          <p:cNvPr id="8" name="Picture 7">
            <a:extLst>
              <a:ext uri="{FF2B5EF4-FFF2-40B4-BE49-F238E27FC236}">
                <a16:creationId xmlns:a16="http://schemas.microsoft.com/office/drawing/2014/main" id="{BEC2CD7C-DDF1-D6D5-7C64-59C56CCECF84}"/>
              </a:ext>
            </a:extLst>
          </p:cNvPr>
          <p:cNvPicPr>
            <a:picLocks noChangeAspect="1"/>
          </p:cNvPicPr>
          <p:nvPr/>
        </p:nvPicPr>
        <p:blipFill>
          <a:blip r:embed="rId4"/>
          <a:stretch>
            <a:fillRect/>
          </a:stretch>
        </p:blipFill>
        <p:spPr>
          <a:xfrm>
            <a:off x="7877272" y="3886192"/>
            <a:ext cx="3177581" cy="1517294"/>
          </a:xfrm>
          <a:prstGeom prst="rect">
            <a:avLst/>
          </a:prstGeom>
        </p:spPr>
      </p:pic>
    </p:spTree>
    <p:extLst>
      <p:ext uri="{BB962C8B-B14F-4D97-AF65-F5344CB8AC3E}">
        <p14:creationId xmlns:p14="http://schemas.microsoft.com/office/powerpoint/2010/main" val="3506831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20322-646D-817F-9FE9-412BBA042C00}"/>
              </a:ext>
            </a:extLst>
          </p:cNvPr>
          <p:cNvSpPr>
            <a:spLocks noGrp="1"/>
          </p:cNvSpPr>
          <p:nvPr>
            <p:ph type="title"/>
          </p:nvPr>
        </p:nvSpPr>
        <p:spPr/>
        <p:txBody>
          <a:bodyPr/>
          <a:lstStyle/>
          <a:p>
            <a:r>
              <a:rPr lang="en-US" dirty="0"/>
              <a:t>Data normalization</a:t>
            </a:r>
          </a:p>
        </p:txBody>
      </p:sp>
      <p:sp>
        <p:nvSpPr>
          <p:cNvPr id="3" name="Content Placeholder 2">
            <a:extLst>
              <a:ext uri="{FF2B5EF4-FFF2-40B4-BE49-F238E27FC236}">
                <a16:creationId xmlns:a16="http://schemas.microsoft.com/office/drawing/2014/main" id="{B853B1C6-C379-BC2C-6373-3E72C1C53FDD}"/>
              </a:ext>
            </a:extLst>
          </p:cNvPr>
          <p:cNvSpPr>
            <a:spLocks noGrp="1"/>
          </p:cNvSpPr>
          <p:nvPr>
            <p:ph idx="1"/>
          </p:nvPr>
        </p:nvSpPr>
        <p:spPr/>
        <p:txBody>
          <a:bodyPr/>
          <a:lstStyle/>
          <a:p>
            <a:r>
              <a:rPr lang="en-US" dirty="0"/>
              <a:t>Data normalization transforms the multiscale data all to the same scale</a:t>
            </a:r>
          </a:p>
          <a:p>
            <a:r>
              <a:rPr lang="en-US" dirty="0"/>
              <a:t>Methods for Data Normalization</a:t>
            </a:r>
          </a:p>
          <a:p>
            <a:pPr lvl="1"/>
            <a:r>
              <a:rPr lang="en-US" dirty="0"/>
              <a:t>Min-max normalization</a:t>
            </a:r>
          </a:p>
          <a:p>
            <a:pPr lvl="1"/>
            <a:r>
              <a:rPr lang="en-US" dirty="0"/>
              <a:t>Decimal place normalization </a:t>
            </a:r>
          </a:p>
          <a:p>
            <a:pPr lvl="1"/>
            <a:r>
              <a:rPr lang="en-US" dirty="0"/>
              <a:t>Z-Score Normalization</a:t>
            </a:r>
          </a:p>
        </p:txBody>
      </p:sp>
      <p:sp>
        <p:nvSpPr>
          <p:cNvPr id="4" name="Date Placeholder 3">
            <a:extLst>
              <a:ext uri="{FF2B5EF4-FFF2-40B4-BE49-F238E27FC236}">
                <a16:creationId xmlns:a16="http://schemas.microsoft.com/office/drawing/2014/main" id="{31593DED-40D1-139C-3964-2D68809EC8F3}"/>
              </a:ext>
            </a:extLst>
          </p:cNvPr>
          <p:cNvSpPr>
            <a:spLocks noGrp="1"/>
          </p:cNvSpPr>
          <p:nvPr>
            <p:ph type="dt" sz="half" idx="10"/>
          </p:nvPr>
        </p:nvSpPr>
        <p:spPr/>
        <p:txBody>
          <a:bodyPr/>
          <a:lstStyle/>
          <a:p>
            <a:fld id="{CBACC65E-C5F5-4147-9EB2-3FD2A99AC806}" type="datetime1">
              <a:rPr lang="en-IN" smtClean="0"/>
              <a:t>14/10/22</a:t>
            </a:fld>
            <a:endParaRPr lang="en-US"/>
          </a:p>
        </p:txBody>
      </p:sp>
      <p:sp>
        <p:nvSpPr>
          <p:cNvPr id="5" name="Footer Placeholder 4">
            <a:extLst>
              <a:ext uri="{FF2B5EF4-FFF2-40B4-BE49-F238E27FC236}">
                <a16:creationId xmlns:a16="http://schemas.microsoft.com/office/drawing/2014/main" id="{41BCEE6D-A922-CA87-5D17-D11A7C8F8B94}"/>
              </a:ext>
            </a:extLst>
          </p:cNvPr>
          <p:cNvSpPr>
            <a:spLocks noGrp="1"/>
          </p:cNvSpPr>
          <p:nvPr>
            <p:ph type="ftr" sz="quarter" idx="11"/>
          </p:nvPr>
        </p:nvSpPr>
        <p:spPr/>
        <p:txBody>
          <a:bodyPr/>
          <a:lstStyle/>
          <a:p>
            <a:r>
              <a:rPr lang="en-US"/>
              <a:t>EY</a:t>
            </a:r>
          </a:p>
        </p:txBody>
      </p:sp>
      <p:sp>
        <p:nvSpPr>
          <p:cNvPr id="6" name="Slide Number Placeholder 5">
            <a:extLst>
              <a:ext uri="{FF2B5EF4-FFF2-40B4-BE49-F238E27FC236}">
                <a16:creationId xmlns:a16="http://schemas.microsoft.com/office/drawing/2014/main" id="{F7A93F52-534F-0E74-3EA3-9572ED5CC273}"/>
              </a:ext>
            </a:extLst>
          </p:cNvPr>
          <p:cNvSpPr>
            <a:spLocks noGrp="1"/>
          </p:cNvSpPr>
          <p:nvPr>
            <p:ph type="sldNum" sz="quarter" idx="12"/>
          </p:nvPr>
        </p:nvSpPr>
        <p:spPr/>
        <p:txBody>
          <a:bodyPr/>
          <a:lstStyle/>
          <a:p>
            <a:fld id="{B430EA86-E90C-A74B-B100-16B4655A4331}" type="slidenum">
              <a:rPr lang="en-US" smtClean="0"/>
              <a:t>11</a:t>
            </a:fld>
            <a:endParaRPr lang="en-US"/>
          </a:p>
        </p:txBody>
      </p:sp>
    </p:spTree>
    <p:extLst>
      <p:ext uri="{BB962C8B-B14F-4D97-AF65-F5344CB8AC3E}">
        <p14:creationId xmlns:p14="http://schemas.microsoft.com/office/powerpoint/2010/main" val="353567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EC6DA-49E4-D5F5-BC71-5B76048AF0CE}"/>
              </a:ext>
            </a:extLst>
          </p:cNvPr>
          <p:cNvSpPr>
            <a:spLocks noGrp="1"/>
          </p:cNvSpPr>
          <p:nvPr>
            <p:ph type="title"/>
          </p:nvPr>
        </p:nvSpPr>
        <p:spPr>
          <a:xfrm>
            <a:off x="1451579" y="804519"/>
            <a:ext cx="9603275" cy="1049235"/>
          </a:xfrm>
        </p:spPr>
        <p:txBody>
          <a:bodyPr>
            <a:normAutofit/>
          </a:bodyPr>
          <a:lstStyle/>
          <a:p>
            <a:r>
              <a:rPr lang="en-US" dirty="0"/>
              <a:t>Reading Dataset</a:t>
            </a:r>
            <a:br>
              <a:rPr lang="en-US" dirty="0"/>
            </a:br>
            <a:endParaRPr lang="en-US" dirty="0"/>
          </a:p>
        </p:txBody>
      </p:sp>
      <p:sp>
        <p:nvSpPr>
          <p:cNvPr id="5" name="Footer Placeholder 4">
            <a:extLst>
              <a:ext uri="{FF2B5EF4-FFF2-40B4-BE49-F238E27FC236}">
                <a16:creationId xmlns:a16="http://schemas.microsoft.com/office/drawing/2014/main" id="{AAB71095-9BBF-A953-106D-620306AF0F14}"/>
              </a:ext>
            </a:extLst>
          </p:cNvPr>
          <p:cNvSpPr>
            <a:spLocks noGrp="1"/>
          </p:cNvSpPr>
          <p:nvPr>
            <p:ph type="ftr" sz="quarter" idx="11"/>
          </p:nvPr>
        </p:nvSpPr>
        <p:spPr>
          <a:xfrm>
            <a:off x="1451579" y="329307"/>
            <a:ext cx="5938836" cy="309201"/>
          </a:xfrm>
        </p:spPr>
        <p:txBody>
          <a:bodyPr>
            <a:normAutofit/>
          </a:bodyPr>
          <a:lstStyle/>
          <a:p>
            <a:pPr>
              <a:spcAft>
                <a:spcPts val="600"/>
              </a:spcAft>
            </a:pPr>
            <a:r>
              <a:rPr lang="en-US"/>
              <a:t>EY</a:t>
            </a:r>
          </a:p>
        </p:txBody>
      </p:sp>
      <p:sp>
        <p:nvSpPr>
          <p:cNvPr id="4" name="Date Placeholder 3">
            <a:extLst>
              <a:ext uri="{FF2B5EF4-FFF2-40B4-BE49-F238E27FC236}">
                <a16:creationId xmlns:a16="http://schemas.microsoft.com/office/drawing/2014/main" id="{F9116DE2-B178-EE5B-BFB3-7BA0F5E96590}"/>
              </a:ext>
            </a:extLst>
          </p:cNvPr>
          <p:cNvSpPr>
            <a:spLocks noGrp="1"/>
          </p:cNvSpPr>
          <p:nvPr>
            <p:ph type="dt" sz="half" idx="10"/>
          </p:nvPr>
        </p:nvSpPr>
        <p:spPr>
          <a:xfrm>
            <a:off x="7554138" y="330370"/>
            <a:ext cx="3500715" cy="309201"/>
          </a:xfrm>
        </p:spPr>
        <p:txBody>
          <a:bodyPr>
            <a:normAutofit/>
          </a:bodyPr>
          <a:lstStyle/>
          <a:p>
            <a:pPr>
              <a:spcAft>
                <a:spcPts val="600"/>
              </a:spcAft>
            </a:pPr>
            <a:fld id="{CBACC65E-C5F5-4147-9EB2-3FD2A99AC806}" type="datetime1">
              <a:rPr lang="en-IN" smtClean="0"/>
              <a:pPr>
                <a:spcAft>
                  <a:spcPts val="600"/>
                </a:spcAft>
              </a:pPr>
              <a:t>14/10/22</a:t>
            </a:fld>
            <a:endParaRPr lang="en-US"/>
          </a:p>
        </p:txBody>
      </p:sp>
      <p:sp>
        <p:nvSpPr>
          <p:cNvPr id="6" name="Slide Number Placeholder 5">
            <a:extLst>
              <a:ext uri="{FF2B5EF4-FFF2-40B4-BE49-F238E27FC236}">
                <a16:creationId xmlns:a16="http://schemas.microsoft.com/office/drawing/2014/main" id="{87794F71-273F-268F-EE5C-B439592CBA72}"/>
              </a:ext>
            </a:extLst>
          </p:cNvPr>
          <p:cNvSpPr>
            <a:spLocks noGrp="1"/>
          </p:cNvSpPr>
          <p:nvPr>
            <p:ph type="sldNum" sz="quarter" idx="12"/>
          </p:nvPr>
        </p:nvSpPr>
        <p:spPr>
          <a:xfrm>
            <a:off x="480060" y="798973"/>
            <a:ext cx="811019" cy="503578"/>
          </a:xfrm>
        </p:spPr>
        <p:txBody>
          <a:bodyPr>
            <a:normAutofit/>
          </a:bodyPr>
          <a:lstStyle/>
          <a:p>
            <a:pPr>
              <a:lnSpc>
                <a:spcPct val="90000"/>
              </a:lnSpc>
              <a:spcAft>
                <a:spcPts val="600"/>
              </a:spcAft>
            </a:pPr>
            <a:fld id="{B430EA86-E90C-A74B-B100-16B4655A4331}" type="slidenum">
              <a:rPr lang="en-US" smtClean="0"/>
              <a:pPr>
                <a:lnSpc>
                  <a:spcPct val="90000"/>
                </a:lnSpc>
                <a:spcAft>
                  <a:spcPts val="600"/>
                </a:spcAft>
              </a:pPr>
              <a:t>12</a:t>
            </a:fld>
            <a:endParaRPr lang="en-US"/>
          </a:p>
        </p:txBody>
      </p:sp>
      <p:sp>
        <p:nvSpPr>
          <p:cNvPr id="3" name="Content Placeholder 2">
            <a:extLst>
              <a:ext uri="{FF2B5EF4-FFF2-40B4-BE49-F238E27FC236}">
                <a16:creationId xmlns:a16="http://schemas.microsoft.com/office/drawing/2014/main" id="{BA183DCD-7EC8-A8D4-8082-0D6AD47FAEAA}"/>
              </a:ext>
            </a:extLst>
          </p:cNvPr>
          <p:cNvSpPr>
            <a:spLocks noGrp="1"/>
          </p:cNvSpPr>
          <p:nvPr>
            <p:ph idx="1"/>
          </p:nvPr>
        </p:nvSpPr>
        <p:spPr>
          <a:xfrm>
            <a:off x="1451579" y="2015734"/>
            <a:ext cx="5622284" cy="3450613"/>
          </a:xfrm>
        </p:spPr>
        <p:txBody>
          <a:bodyPr>
            <a:normAutofit/>
          </a:bodyPr>
          <a:lstStyle/>
          <a:p>
            <a:r>
              <a:rPr lang="en-US" dirty="0"/>
              <a:t>Pandas, </a:t>
            </a:r>
            <a:r>
              <a:rPr lang="en-US" dirty="0" err="1"/>
              <a:t>Numpy</a:t>
            </a:r>
            <a:r>
              <a:rPr lang="en-US" dirty="0"/>
              <a:t>, Matplotlib</a:t>
            </a:r>
          </a:p>
          <a:p>
            <a:r>
              <a:rPr lang="en-US" dirty="0"/>
              <a:t>Understanding dependent and independent variables </a:t>
            </a:r>
          </a:p>
          <a:p>
            <a:r>
              <a:rPr lang="en-US" dirty="0"/>
              <a:t>Slicing operations</a:t>
            </a:r>
          </a:p>
          <a:p>
            <a:endParaRPr lang="en-US" dirty="0"/>
          </a:p>
          <a:p>
            <a:endParaRPr lang="en-US" dirty="0"/>
          </a:p>
          <a:p>
            <a:endParaRPr lang="en-US" dirty="0"/>
          </a:p>
        </p:txBody>
      </p:sp>
      <p:pic>
        <p:nvPicPr>
          <p:cNvPr id="1026" name="Picture 2" descr="Essential Python Libraries for Machine Learning Projects - BlueOrange">
            <a:extLst>
              <a:ext uri="{FF2B5EF4-FFF2-40B4-BE49-F238E27FC236}">
                <a16:creationId xmlns:a16="http://schemas.microsoft.com/office/drawing/2014/main" id="{9A1DBEBE-E2F0-7A8C-AA91-ED9B4B39BD9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833286" y="2200410"/>
            <a:ext cx="4221567" cy="1969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8202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CD116-F053-33A3-CAE7-D19212C137BA}"/>
              </a:ext>
            </a:extLst>
          </p:cNvPr>
          <p:cNvSpPr>
            <a:spLocks noGrp="1"/>
          </p:cNvSpPr>
          <p:nvPr>
            <p:ph type="title"/>
          </p:nvPr>
        </p:nvSpPr>
        <p:spPr/>
        <p:txBody>
          <a:bodyPr/>
          <a:lstStyle/>
          <a:p>
            <a:r>
              <a:rPr lang="en-US" dirty="0"/>
              <a:t>Train and Test Data Split explained </a:t>
            </a:r>
          </a:p>
        </p:txBody>
      </p:sp>
      <p:sp>
        <p:nvSpPr>
          <p:cNvPr id="3" name="Content Placeholder 2">
            <a:extLst>
              <a:ext uri="{FF2B5EF4-FFF2-40B4-BE49-F238E27FC236}">
                <a16:creationId xmlns:a16="http://schemas.microsoft.com/office/drawing/2014/main" id="{78C75C74-3678-72ED-4DDF-B50BDBF143BF}"/>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F3E2AB81-3D13-EED7-BAC2-6084D6AEFCCC}"/>
              </a:ext>
            </a:extLst>
          </p:cNvPr>
          <p:cNvSpPr>
            <a:spLocks noGrp="1"/>
          </p:cNvSpPr>
          <p:nvPr>
            <p:ph type="dt" sz="half" idx="10"/>
          </p:nvPr>
        </p:nvSpPr>
        <p:spPr/>
        <p:txBody>
          <a:bodyPr/>
          <a:lstStyle/>
          <a:p>
            <a:fld id="{CBACC65E-C5F5-4147-9EB2-3FD2A99AC806}" type="datetime1">
              <a:rPr lang="en-IN" smtClean="0"/>
              <a:t>14/10/22</a:t>
            </a:fld>
            <a:endParaRPr lang="en-US"/>
          </a:p>
        </p:txBody>
      </p:sp>
      <p:sp>
        <p:nvSpPr>
          <p:cNvPr id="5" name="Footer Placeholder 4">
            <a:extLst>
              <a:ext uri="{FF2B5EF4-FFF2-40B4-BE49-F238E27FC236}">
                <a16:creationId xmlns:a16="http://schemas.microsoft.com/office/drawing/2014/main" id="{407BDDB3-87CE-B2B2-A60D-C8B0E212004D}"/>
              </a:ext>
            </a:extLst>
          </p:cNvPr>
          <p:cNvSpPr>
            <a:spLocks noGrp="1"/>
          </p:cNvSpPr>
          <p:nvPr>
            <p:ph type="ftr" sz="quarter" idx="11"/>
          </p:nvPr>
        </p:nvSpPr>
        <p:spPr/>
        <p:txBody>
          <a:bodyPr/>
          <a:lstStyle/>
          <a:p>
            <a:r>
              <a:rPr lang="en-US"/>
              <a:t>EY</a:t>
            </a:r>
          </a:p>
        </p:txBody>
      </p:sp>
      <p:sp>
        <p:nvSpPr>
          <p:cNvPr id="6" name="Slide Number Placeholder 5">
            <a:extLst>
              <a:ext uri="{FF2B5EF4-FFF2-40B4-BE49-F238E27FC236}">
                <a16:creationId xmlns:a16="http://schemas.microsoft.com/office/drawing/2014/main" id="{D0AC0672-BA86-8EFC-3640-ED7781708360}"/>
              </a:ext>
            </a:extLst>
          </p:cNvPr>
          <p:cNvSpPr>
            <a:spLocks noGrp="1"/>
          </p:cNvSpPr>
          <p:nvPr>
            <p:ph type="sldNum" sz="quarter" idx="12"/>
          </p:nvPr>
        </p:nvSpPr>
        <p:spPr/>
        <p:txBody>
          <a:bodyPr/>
          <a:lstStyle/>
          <a:p>
            <a:fld id="{B430EA86-E90C-A74B-B100-16B4655A4331}" type="slidenum">
              <a:rPr lang="en-US" smtClean="0"/>
              <a:t>13</a:t>
            </a:fld>
            <a:endParaRPr lang="en-US"/>
          </a:p>
        </p:txBody>
      </p:sp>
    </p:spTree>
    <p:extLst>
      <p:ext uri="{BB962C8B-B14F-4D97-AF65-F5344CB8AC3E}">
        <p14:creationId xmlns:p14="http://schemas.microsoft.com/office/powerpoint/2010/main" val="2293096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33CC5-C849-5A41-CED9-22D6B6C1FCD2}"/>
              </a:ext>
            </a:extLst>
          </p:cNvPr>
          <p:cNvSpPr>
            <a:spLocks noGrp="1"/>
          </p:cNvSpPr>
          <p:nvPr>
            <p:ph type="title"/>
          </p:nvPr>
        </p:nvSpPr>
        <p:spPr/>
        <p:txBody>
          <a:bodyPr/>
          <a:lstStyle/>
          <a:p>
            <a:r>
              <a:rPr lang="en-US" dirty="0" err="1"/>
              <a:t>Jupyter</a:t>
            </a:r>
            <a:r>
              <a:rPr lang="en-US" dirty="0"/>
              <a:t> notebook execution</a:t>
            </a:r>
          </a:p>
        </p:txBody>
      </p:sp>
      <p:sp>
        <p:nvSpPr>
          <p:cNvPr id="3" name="Content Placeholder 2">
            <a:extLst>
              <a:ext uri="{FF2B5EF4-FFF2-40B4-BE49-F238E27FC236}">
                <a16:creationId xmlns:a16="http://schemas.microsoft.com/office/drawing/2014/main" id="{6FB5DCBC-AF2A-D17F-CC65-29174761DCD3}"/>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F96339C7-A99C-9805-8B73-59A136A8A1E8}"/>
              </a:ext>
            </a:extLst>
          </p:cNvPr>
          <p:cNvSpPr>
            <a:spLocks noGrp="1"/>
          </p:cNvSpPr>
          <p:nvPr>
            <p:ph type="dt" sz="half" idx="10"/>
          </p:nvPr>
        </p:nvSpPr>
        <p:spPr/>
        <p:txBody>
          <a:bodyPr/>
          <a:lstStyle/>
          <a:p>
            <a:fld id="{CBACC65E-C5F5-4147-9EB2-3FD2A99AC806}" type="datetime1">
              <a:rPr lang="en-IN" smtClean="0"/>
              <a:t>14/10/22</a:t>
            </a:fld>
            <a:endParaRPr lang="en-US"/>
          </a:p>
        </p:txBody>
      </p:sp>
      <p:sp>
        <p:nvSpPr>
          <p:cNvPr id="5" name="Footer Placeholder 4">
            <a:extLst>
              <a:ext uri="{FF2B5EF4-FFF2-40B4-BE49-F238E27FC236}">
                <a16:creationId xmlns:a16="http://schemas.microsoft.com/office/drawing/2014/main" id="{9285B7C2-C72C-9647-6597-DCF8FF6B36B6}"/>
              </a:ext>
            </a:extLst>
          </p:cNvPr>
          <p:cNvSpPr>
            <a:spLocks noGrp="1"/>
          </p:cNvSpPr>
          <p:nvPr>
            <p:ph type="ftr" sz="quarter" idx="11"/>
          </p:nvPr>
        </p:nvSpPr>
        <p:spPr/>
        <p:txBody>
          <a:bodyPr/>
          <a:lstStyle/>
          <a:p>
            <a:r>
              <a:rPr lang="en-US"/>
              <a:t>EY</a:t>
            </a:r>
          </a:p>
        </p:txBody>
      </p:sp>
      <p:sp>
        <p:nvSpPr>
          <p:cNvPr id="6" name="Slide Number Placeholder 5">
            <a:extLst>
              <a:ext uri="{FF2B5EF4-FFF2-40B4-BE49-F238E27FC236}">
                <a16:creationId xmlns:a16="http://schemas.microsoft.com/office/drawing/2014/main" id="{AD4C0EC7-0083-91C7-079E-403DE626D0C4}"/>
              </a:ext>
            </a:extLst>
          </p:cNvPr>
          <p:cNvSpPr>
            <a:spLocks noGrp="1"/>
          </p:cNvSpPr>
          <p:nvPr>
            <p:ph type="sldNum" sz="quarter" idx="12"/>
          </p:nvPr>
        </p:nvSpPr>
        <p:spPr/>
        <p:txBody>
          <a:bodyPr/>
          <a:lstStyle/>
          <a:p>
            <a:fld id="{B430EA86-E90C-A74B-B100-16B4655A4331}" type="slidenum">
              <a:rPr lang="en-US" smtClean="0"/>
              <a:t>14</a:t>
            </a:fld>
            <a:endParaRPr lang="en-US"/>
          </a:p>
        </p:txBody>
      </p:sp>
    </p:spTree>
    <p:extLst>
      <p:ext uri="{BB962C8B-B14F-4D97-AF65-F5344CB8AC3E}">
        <p14:creationId xmlns:p14="http://schemas.microsoft.com/office/powerpoint/2010/main" val="1529075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{EAC3E26D-040A-434A-995C-14E4B4996CB6}tf10001119_mac</Template>
  <TotalTime>5025</TotalTime>
  <Words>632</Words>
  <Application>Microsoft Macintosh PowerPoint</Application>
  <PresentationFormat>Widescreen</PresentationFormat>
  <Paragraphs>129</Paragraphs>
  <Slides>14</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Gill Sans MT</vt:lpstr>
      <vt:lpstr>Helvetica Neue</vt:lpstr>
      <vt:lpstr>proxima_novaregular</vt:lpstr>
      <vt:lpstr>Gallery</vt:lpstr>
      <vt:lpstr>Data Preprocessing</vt:lpstr>
      <vt:lpstr>Contents</vt:lpstr>
      <vt:lpstr>What &amp; why preprocessing? </vt:lpstr>
      <vt:lpstr>Types of data</vt:lpstr>
      <vt:lpstr>Data Preprocessing</vt:lpstr>
      <vt:lpstr>Data Preprocessing :  Data cleaning</vt:lpstr>
      <vt:lpstr>Data Preprocessing :  Data integration</vt:lpstr>
      <vt:lpstr>Data Preprocessing :  Data Transformation</vt:lpstr>
      <vt:lpstr>Data Preprocessing :  Data Reduction</vt:lpstr>
      <vt:lpstr>Encoding for Categorical Data </vt:lpstr>
      <vt:lpstr>Data normalization</vt:lpstr>
      <vt:lpstr>Reading Dataset </vt:lpstr>
      <vt:lpstr>Train and Test Data Split explained </vt:lpstr>
      <vt:lpstr>Jupyter notebook execution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Preprocessing</dc:title>
  <dc:creator>Nikhilnath K V</dc:creator>
  <cp:lastModifiedBy>Nikhilnath K V</cp:lastModifiedBy>
  <cp:revision>2</cp:revision>
  <dcterms:created xsi:type="dcterms:W3CDTF">2022-10-10T13:35:37Z</dcterms:created>
  <dcterms:modified xsi:type="dcterms:W3CDTF">2022-10-14T14:44:11Z</dcterms:modified>
</cp:coreProperties>
</file>
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4" r:id="rId1"/>
  </p:sldMasterIdLst>
  <p:notesMasterIdLst>
    <p:notesMasterId r:id="rId14"/>
  </p:notesMasterIdLst>
  <p:sldIdLst>
    <p:sldId id="256" r:id="rId2"/>
    <p:sldId id="260" r:id="rId3"/>
    <p:sldId id="263" r:id="rId4"/>
    <p:sldId id="257" r:id="rId5"/>
    <p:sldId id="258" r:id="rId6"/>
    <p:sldId id="259"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224D11-6E1C-1D40-A9AD-AA304D3FB71B}" v="8" dt="2022-10-20T09:51:20.8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04" d="100"/>
          <a:sy n="104" d="100"/>
        </p:scale>
        <p:origin x="23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nath K V" userId="c2e45088-1cc2-4b43-ab03-9287f1ab4966" providerId="ADAL" clId="{B1224D11-6E1C-1D40-A9AD-AA304D3FB71B}"/>
    <pc:docChg chg="custSel addSld modSld">
      <pc:chgData name="Nikhilnath K V" userId="c2e45088-1cc2-4b43-ab03-9287f1ab4966" providerId="ADAL" clId="{B1224D11-6E1C-1D40-A9AD-AA304D3FB71B}" dt="2022-10-20T09:51:26.450" v="246" actId="26606"/>
      <pc:docMkLst>
        <pc:docMk/>
      </pc:docMkLst>
      <pc:sldChg chg="modSp mod">
        <pc:chgData name="Nikhilnath K V" userId="c2e45088-1cc2-4b43-ab03-9287f1ab4966" providerId="ADAL" clId="{B1224D11-6E1C-1D40-A9AD-AA304D3FB71B}" dt="2022-10-18T14:22:21.083" v="0" actId="1076"/>
        <pc:sldMkLst>
          <pc:docMk/>
          <pc:sldMk cId="168207751" sldId="263"/>
        </pc:sldMkLst>
        <pc:picChg chg="mod">
          <ac:chgData name="Nikhilnath K V" userId="c2e45088-1cc2-4b43-ab03-9287f1ab4966" providerId="ADAL" clId="{B1224D11-6E1C-1D40-A9AD-AA304D3FB71B}" dt="2022-10-18T14:22:21.083" v="0" actId="1076"/>
          <ac:picMkLst>
            <pc:docMk/>
            <pc:sldMk cId="168207751" sldId="263"/>
            <ac:picMk id="44" creationId="{F9064B47-93E1-0CDE-9787-AAB9816A2D6A}"/>
          </ac:picMkLst>
        </pc:picChg>
      </pc:sldChg>
      <pc:sldChg chg="modSp mod">
        <pc:chgData name="Nikhilnath K V" userId="c2e45088-1cc2-4b43-ab03-9287f1ab4966" providerId="ADAL" clId="{B1224D11-6E1C-1D40-A9AD-AA304D3FB71B}" dt="2022-10-19T13:26:25.032" v="49" actId="15"/>
        <pc:sldMkLst>
          <pc:docMk/>
          <pc:sldMk cId="416459162" sldId="266"/>
        </pc:sldMkLst>
        <pc:spChg chg="mod">
          <ac:chgData name="Nikhilnath K V" userId="c2e45088-1cc2-4b43-ab03-9287f1ab4966" providerId="ADAL" clId="{B1224D11-6E1C-1D40-A9AD-AA304D3FB71B}" dt="2022-10-19T13:25:11.230" v="29" actId="20577"/>
          <ac:spMkLst>
            <pc:docMk/>
            <pc:sldMk cId="416459162" sldId="266"/>
            <ac:spMk id="2" creationId="{E74D0E5D-F87E-8A12-EDB4-FE837E1E3D73}"/>
          </ac:spMkLst>
        </pc:spChg>
        <pc:spChg chg="mod">
          <ac:chgData name="Nikhilnath K V" userId="c2e45088-1cc2-4b43-ab03-9287f1ab4966" providerId="ADAL" clId="{B1224D11-6E1C-1D40-A9AD-AA304D3FB71B}" dt="2022-10-19T13:26:25.032" v="49" actId="15"/>
          <ac:spMkLst>
            <pc:docMk/>
            <pc:sldMk cId="416459162" sldId="266"/>
            <ac:spMk id="3" creationId="{C39A8FCE-08E5-B7E2-44D8-DFD7CDF7B699}"/>
          </ac:spMkLst>
        </pc:spChg>
      </pc:sldChg>
      <pc:sldChg chg="addSp modSp new mod setBg">
        <pc:chgData name="Nikhilnath K V" userId="c2e45088-1cc2-4b43-ab03-9287f1ab4966" providerId="ADAL" clId="{B1224D11-6E1C-1D40-A9AD-AA304D3FB71B}" dt="2022-10-20T09:37:00.688" v="63" actId="14100"/>
        <pc:sldMkLst>
          <pc:docMk/>
          <pc:sldMk cId="4202504391" sldId="267"/>
        </pc:sldMkLst>
        <pc:spChg chg="mod">
          <ac:chgData name="Nikhilnath K V" userId="c2e45088-1cc2-4b43-ab03-9287f1ab4966" providerId="ADAL" clId="{B1224D11-6E1C-1D40-A9AD-AA304D3FB71B}" dt="2022-10-20T09:36:51.801" v="61" actId="26606"/>
          <ac:spMkLst>
            <pc:docMk/>
            <pc:sldMk cId="4202504391" sldId="267"/>
            <ac:spMk id="2" creationId="{638DE289-620A-6E4B-43EC-22341D2CC7FC}"/>
          </ac:spMkLst>
        </pc:spChg>
        <pc:spChg chg="mod">
          <ac:chgData name="Nikhilnath K V" userId="c2e45088-1cc2-4b43-ab03-9287f1ab4966" providerId="ADAL" clId="{B1224D11-6E1C-1D40-A9AD-AA304D3FB71B}" dt="2022-10-20T09:36:51.801" v="61" actId="26606"/>
          <ac:spMkLst>
            <pc:docMk/>
            <pc:sldMk cId="4202504391" sldId="267"/>
            <ac:spMk id="3" creationId="{3FDBDFCE-54DA-6159-453F-E565FE960233}"/>
          </ac:spMkLst>
        </pc:spChg>
        <pc:picChg chg="add mod">
          <ac:chgData name="Nikhilnath K V" userId="c2e45088-1cc2-4b43-ab03-9287f1ab4966" providerId="ADAL" clId="{B1224D11-6E1C-1D40-A9AD-AA304D3FB71B}" dt="2022-10-20T09:37:00.688" v="63" actId="14100"/>
          <ac:picMkLst>
            <pc:docMk/>
            <pc:sldMk cId="4202504391" sldId="267"/>
            <ac:picMk id="4" creationId="{2AE18454-0472-DAB5-5A4A-5EACA18A16DD}"/>
          </ac:picMkLst>
        </pc:picChg>
      </pc:sldChg>
      <pc:sldChg chg="addSp delSp modSp new mod">
        <pc:chgData name="Nikhilnath K V" userId="c2e45088-1cc2-4b43-ab03-9287f1ab4966" providerId="ADAL" clId="{B1224D11-6E1C-1D40-A9AD-AA304D3FB71B}" dt="2022-10-20T09:43:56.248" v="147" actId="20577"/>
        <pc:sldMkLst>
          <pc:docMk/>
          <pc:sldMk cId="3059996530" sldId="268"/>
        </pc:sldMkLst>
        <pc:spChg chg="mod">
          <ac:chgData name="Nikhilnath K V" userId="c2e45088-1cc2-4b43-ab03-9287f1ab4966" providerId="ADAL" clId="{B1224D11-6E1C-1D40-A9AD-AA304D3FB71B}" dt="2022-10-20T09:37:47.401" v="66"/>
          <ac:spMkLst>
            <pc:docMk/>
            <pc:sldMk cId="3059996530" sldId="268"/>
            <ac:spMk id="2" creationId="{53DC32EA-E972-EC3E-2463-9E68A01EE76B}"/>
          </ac:spMkLst>
        </pc:spChg>
        <pc:spChg chg="del">
          <ac:chgData name="Nikhilnath K V" userId="c2e45088-1cc2-4b43-ab03-9287f1ab4966" providerId="ADAL" clId="{B1224D11-6E1C-1D40-A9AD-AA304D3FB71B}" dt="2022-10-20T09:37:54.906" v="67" actId="478"/>
          <ac:spMkLst>
            <pc:docMk/>
            <pc:sldMk cId="3059996530" sldId="268"/>
            <ac:spMk id="3" creationId="{19C83457-127C-E32C-F6AA-090B967557A0}"/>
          </ac:spMkLst>
        </pc:spChg>
        <pc:spChg chg="add mod">
          <ac:chgData name="Nikhilnath K V" userId="c2e45088-1cc2-4b43-ab03-9287f1ab4966" providerId="ADAL" clId="{B1224D11-6E1C-1D40-A9AD-AA304D3FB71B}" dt="2022-10-20T09:43:56.248" v="147" actId="20577"/>
          <ac:spMkLst>
            <pc:docMk/>
            <pc:sldMk cId="3059996530" sldId="268"/>
            <ac:spMk id="7" creationId="{D0E51C13-E28B-2FA7-7D93-D85270F1DC59}"/>
          </ac:spMkLst>
        </pc:spChg>
        <pc:picChg chg="add mod">
          <ac:chgData name="Nikhilnath K V" userId="c2e45088-1cc2-4b43-ab03-9287f1ab4966" providerId="ADAL" clId="{B1224D11-6E1C-1D40-A9AD-AA304D3FB71B}" dt="2022-10-20T09:38:17.010" v="69" actId="1076"/>
          <ac:picMkLst>
            <pc:docMk/>
            <pc:sldMk cId="3059996530" sldId="268"/>
            <ac:picMk id="4" creationId="{4FBADB60-9864-6FD5-AE08-5A5751DE5C29}"/>
          </ac:picMkLst>
        </pc:picChg>
        <pc:picChg chg="add mod">
          <ac:chgData name="Nikhilnath K V" userId="c2e45088-1cc2-4b43-ab03-9287f1ab4966" providerId="ADAL" clId="{B1224D11-6E1C-1D40-A9AD-AA304D3FB71B}" dt="2022-10-20T09:42:56.259" v="75" actId="1076"/>
          <ac:picMkLst>
            <pc:docMk/>
            <pc:sldMk cId="3059996530" sldId="268"/>
            <ac:picMk id="5" creationId="{EF8E9FB2-28DC-4C8A-90FD-A51F35567894}"/>
          </ac:picMkLst>
        </pc:picChg>
        <pc:picChg chg="add mod">
          <ac:chgData name="Nikhilnath K V" userId="c2e45088-1cc2-4b43-ab03-9287f1ab4966" providerId="ADAL" clId="{B1224D11-6E1C-1D40-A9AD-AA304D3FB71B}" dt="2022-10-20T09:42:50.071" v="74" actId="1076"/>
          <ac:picMkLst>
            <pc:docMk/>
            <pc:sldMk cId="3059996530" sldId="268"/>
            <ac:picMk id="6" creationId="{0420BF64-C0D4-D57B-4A2C-C08923B020E0}"/>
          </ac:picMkLst>
        </pc:picChg>
      </pc:sldChg>
      <pc:sldChg chg="addSp modSp new mod setBg setClrOvrMap">
        <pc:chgData name="Nikhilnath K V" userId="c2e45088-1cc2-4b43-ab03-9287f1ab4966" providerId="ADAL" clId="{B1224D11-6E1C-1D40-A9AD-AA304D3FB71B}" dt="2022-10-20T09:51:26.450" v="246" actId="26606"/>
        <pc:sldMkLst>
          <pc:docMk/>
          <pc:sldMk cId="2265318691" sldId="269"/>
        </pc:sldMkLst>
        <pc:spChg chg="mod">
          <ac:chgData name="Nikhilnath K V" userId="c2e45088-1cc2-4b43-ab03-9287f1ab4966" providerId="ADAL" clId="{B1224D11-6E1C-1D40-A9AD-AA304D3FB71B}" dt="2022-10-20T09:51:26.450" v="246" actId="26606"/>
          <ac:spMkLst>
            <pc:docMk/>
            <pc:sldMk cId="2265318691" sldId="269"/>
            <ac:spMk id="2" creationId="{87957585-28F0-E715-D860-9E1E0DB17682}"/>
          </ac:spMkLst>
        </pc:spChg>
        <pc:spChg chg="mod ord">
          <ac:chgData name="Nikhilnath K V" userId="c2e45088-1cc2-4b43-ab03-9287f1ab4966" providerId="ADAL" clId="{B1224D11-6E1C-1D40-A9AD-AA304D3FB71B}" dt="2022-10-20T09:51:26.450" v="246" actId="26606"/>
          <ac:spMkLst>
            <pc:docMk/>
            <pc:sldMk cId="2265318691" sldId="269"/>
            <ac:spMk id="3" creationId="{873FC230-33A1-DEE0-4A15-C430615AD81A}"/>
          </ac:spMkLst>
        </pc:spChg>
        <pc:spChg chg="add">
          <ac:chgData name="Nikhilnath K V" userId="c2e45088-1cc2-4b43-ab03-9287f1ab4966" providerId="ADAL" clId="{B1224D11-6E1C-1D40-A9AD-AA304D3FB71B}" dt="2022-10-20T09:51:26.450" v="246" actId="26606"/>
          <ac:spMkLst>
            <pc:docMk/>
            <pc:sldMk cId="2265318691" sldId="269"/>
            <ac:spMk id="11" creationId="{906331F9-7C9F-4BB2-87F8-B8727CC2C026}"/>
          </ac:spMkLst>
        </pc:spChg>
        <pc:spChg chg="add">
          <ac:chgData name="Nikhilnath K V" userId="c2e45088-1cc2-4b43-ab03-9287f1ab4966" providerId="ADAL" clId="{B1224D11-6E1C-1D40-A9AD-AA304D3FB71B}" dt="2022-10-20T09:51:26.450" v="246" actId="26606"/>
          <ac:spMkLst>
            <pc:docMk/>
            <pc:sldMk cId="2265318691" sldId="269"/>
            <ac:spMk id="13" creationId="{760E064B-C2F2-4237-8792-5F01F0F4C430}"/>
          </ac:spMkLst>
        </pc:spChg>
        <pc:spChg chg="add">
          <ac:chgData name="Nikhilnath K V" userId="c2e45088-1cc2-4b43-ab03-9287f1ab4966" providerId="ADAL" clId="{B1224D11-6E1C-1D40-A9AD-AA304D3FB71B}" dt="2022-10-20T09:51:26.450" v="246" actId="26606"/>
          <ac:spMkLst>
            <pc:docMk/>
            <pc:sldMk cId="2265318691" sldId="269"/>
            <ac:spMk id="15" creationId="{C5F377F0-1AD0-4A6F-A698-9724187046D8}"/>
          </ac:spMkLst>
        </pc:spChg>
        <pc:spChg chg="add">
          <ac:chgData name="Nikhilnath K V" userId="c2e45088-1cc2-4b43-ab03-9287f1ab4966" providerId="ADAL" clId="{B1224D11-6E1C-1D40-A9AD-AA304D3FB71B}" dt="2022-10-20T09:51:26.450" v="246" actId="26606"/>
          <ac:spMkLst>
            <pc:docMk/>
            <pc:sldMk cId="2265318691" sldId="269"/>
            <ac:spMk id="17" creationId="{F094C3D3-17E7-4BCC-B786-4B3BDD25E410}"/>
          </ac:spMkLst>
        </pc:spChg>
        <pc:spChg chg="add">
          <ac:chgData name="Nikhilnath K V" userId="c2e45088-1cc2-4b43-ab03-9287f1ab4966" providerId="ADAL" clId="{B1224D11-6E1C-1D40-A9AD-AA304D3FB71B}" dt="2022-10-20T09:51:26.450" v="246" actId="26606"/>
          <ac:spMkLst>
            <pc:docMk/>
            <pc:sldMk cId="2265318691" sldId="269"/>
            <ac:spMk id="19" creationId="{BC650D5C-009B-4021-82BD-1E28BFF450FA}"/>
          </ac:spMkLst>
        </pc:spChg>
        <pc:picChg chg="add mod ord">
          <ac:chgData name="Nikhilnath K V" userId="c2e45088-1cc2-4b43-ab03-9287f1ab4966" providerId="ADAL" clId="{B1224D11-6E1C-1D40-A9AD-AA304D3FB71B}" dt="2022-10-20T09:51:26.450" v="246" actId="26606"/>
          <ac:picMkLst>
            <pc:docMk/>
            <pc:sldMk cId="2265318691" sldId="269"/>
            <ac:picMk id="4" creationId="{46866B59-DB66-4414-905D-213D2D47F116}"/>
          </ac:picMkLst>
        </pc:picChg>
        <pc:picChg chg="add mod ord">
          <ac:chgData name="Nikhilnath K V" userId="c2e45088-1cc2-4b43-ab03-9287f1ab4966" providerId="ADAL" clId="{B1224D11-6E1C-1D40-A9AD-AA304D3FB71B}" dt="2022-10-20T09:51:26.450" v="246" actId="26606"/>
          <ac:picMkLst>
            <pc:docMk/>
            <pc:sldMk cId="2265318691" sldId="269"/>
            <ac:picMk id="5" creationId="{9E252EA5-D9F9-EE81-B45F-BE6296DB63EC}"/>
          </ac:picMkLst>
        </pc:picChg>
        <pc:picChg chg="add mod">
          <ac:chgData name="Nikhilnath K V" userId="c2e45088-1cc2-4b43-ab03-9287f1ab4966" providerId="ADAL" clId="{B1224D11-6E1C-1D40-A9AD-AA304D3FB71B}" dt="2022-10-20T09:51:26.450" v="246" actId="26606"/>
          <ac:picMkLst>
            <pc:docMk/>
            <pc:sldMk cId="2265318691" sldId="269"/>
            <ac:picMk id="6" creationId="{643A2F3D-0302-575A-2C29-1810A81B94A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BE1AEB-AEC2-1341-B2A9-FFC80DE886DC}" type="datetimeFigureOut">
              <a:rPr lang="en-US" smtClean="0"/>
              <a:t>10/17/22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E96F63-2EED-7643-95F4-BCE3915DB679}" type="slidenum">
              <a:rPr lang="en-US" smtClean="0"/>
              <a:t>‹#›</a:t>
            </a:fld>
            <a:endParaRPr lang="en-US"/>
          </a:p>
        </p:txBody>
      </p:sp>
    </p:spTree>
    <p:extLst>
      <p:ext uri="{BB962C8B-B14F-4D97-AF65-F5344CB8AC3E}">
        <p14:creationId xmlns:p14="http://schemas.microsoft.com/office/powerpoint/2010/main" val="365511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www.analyticssteps.com</a:t>
            </a:r>
            <a:r>
              <a:rPr lang="en-US" dirty="0"/>
              <a:t>/blogs/5-clustering-methods-and-applications</a:t>
            </a:r>
          </a:p>
        </p:txBody>
      </p:sp>
      <p:sp>
        <p:nvSpPr>
          <p:cNvPr id="4" name="Slide Number Placeholder 3"/>
          <p:cNvSpPr>
            <a:spLocks noGrp="1"/>
          </p:cNvSpPr>
          <p:nvPr>
            <p:ph type="sldNum" sz="quarter" idx="5"/>
          </p:nvPr>
        </p:nvSpPr>
        <p:spPr/>
        <p:txBody>
          <a:bodyPr/>
          <a:lstStyle/>
          <a:p>
            <a:fld id="{D3E96F63-2EED-7643-95F4-BCE3915DB679}" type="slidenum">
              <a:rPr lang="en-US" smtClean="0"/>
              <a:t>4</a:t>
            </a:fld>
            <a:endParaRPr lang="en-US"/>
          </a:p>
        </p:txBody>
      </p:sp>
    </p:spTree>
    <p:extLst>
      <p:ext uri="{BB962C8B-B14F-4D97-AF65-F5344CB8AC3E}">
        <p14:creationId xmlns:p14="http://schemas.microsoft.com/office/powerpoint/2010/main" val="20719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developers.google.com</a:t>
            </a:r>
            <a:r>
              <a:rPr lang="en-US" dirty="0"/>
              <a:t>/machine-learning/clustering/clustering-algorithms</a:t>
            </a:r>
          </a:p>
        </p:txBody>
      </p:sp>
      <p:sp>
        <p:nvSpPr>
          <p:cNvPr id="4" name="Slide Number Placeholder 3"/>
          <p:cNvSpPr>
            <a:spLocks noGrp="1"/>
          </p:cNvSpPr>
          <p:nvPr>
            <p:ph type="sldNum" sz="quarter" idx="5"/>
          </p:nvPr>
        </p:nvSpPr>
        <p:spPr/>
        <p:txBody>
          <a:bodyPr/>
          <a:lstStyle/>
          <a:p>
            <a:fld id="{D3E96F63-2EED-7643-95F4-BCE3915DB679}" type="slidenum">
              <a:rPr lang="en-US" smtClean="0"/>
              <a:t>6</a:t>
            </a:fld>
            <a:endParaRPr lang="en-US"/>
          </a:p>
        </p:txBody>
      </p:sp>
    </p:spTree>
    <p:extLst>
      <p:ext uri="{BB962C8B-B14F-4D97-AF65-F5344CB8AC3E}">
        <p14:creationId xmlns:p14="http://schemas.microsoft.com/office/powerpoint/2010/main" val="4072462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3351339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3368340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1043080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1BFD5F5-B276-A047-BCD7-5AC1559903E9}" type="datetimeFigureOut">
              <a:rPr lang="en-US" smtClean="0"/>
              <a:t>10/16/22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1922803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1BFD5F5-B276-A047-BCD7-5AC1559903E9}" type="datetimeFigureOut">
              <a:rPr lang="en-US" smtClean="0"/>
              <a:t>10/16/22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41054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1BFD5F5-B276-A047-BCD7-5AC1559903E9}" type="datetimeFigureOut">
              <a:rPr lang="en-US" smtClean="0"/>
              <a:t>10/16/22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1709819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BFD5F5-B276-A047-BCD7-5AC1559903E9}" type="datetimeFigureOut">
              <a:rPr lang="en-US" smtClean="0"/>
              <a:t>10/16/22</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2259158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1BFD5F5-B276-A047-BCD7-5AC1559903E9}" type="datetimeFigureOut">
              <a:rPr lang="en-US" smtClean="0"/>
              <a:t>10/16/22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2120351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1BFD5F5-B276-A047-BCD7-5AC1559903E9}" type="datetimeFigureOut">
              <a:rPr lang="en-US" smtClean="0"/>
              <a:t>10/16/22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198292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1BFD5F5-B276-A047-BCD7-5AC1559903E9}" type="datetimeFigureOut">
              <a:rPr lang="en-US" smtClean="0"/>
              <a:t>10/16/22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327541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4082781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3938098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2847697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1BFD5F5-B276-A047-BCD7-5AC1559903E9}" type="datetimeFigureOut">
              <a:rPr lang="en-US" smtClean="0"/>
              <a:t>10/16/22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1293045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1BFD5F5-B276-A047-BCD7-5AC1559903E9}" type="datetimeFigureOut">
              <a:rPr lang="en-US" smtClean="0"/>
              <a:t>10/16/22</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3753647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34390457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1BFD5F5-B276-A047-BCD7-5AC1559903E9}" type="datetimeFigureOut">
              <a:rPr lang="en-US" smtClean="0"/>
              <a:t>10/16/22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25AA5F-2DB5-004C-ABE8-830EFA9FC4EF}" type="slidenum">
              <a:rPr lang="en-US" smtClean="0"/>
              <a:t>‹#›</a:t>
            </a:fld>
            <a:endParaRPr lang="en-US"/>
          </a:p>
        </p:txBody>
      </p:sp>
    </p:spTree>
    <p:extLst>
      <p:ext uri="{BB962C8B-B14F-4D97-AF65-F5344CB8AC3E}">
        <p14:creationId xmlns:p14="http://schemas.microsoft.com/office/powerpoint/2010/main" val="1168907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1BFD5F5-B276-A047-BCD7-5AC1559903E9}" type="datetimeFigureOut">
              <a:rPr lang="en-US" smtClean="0"/>
              <a:t>10/16/22</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625AA5F-2DB5-004C-ABE8-830EFA9FC4EF}" type="slidenum">
              <a:rPr lang="en-US" smtClean="0"/>
              <a:t>‹#›</a:t>
            </a:fld>
            <a:endParaRPr lang="en-US"/>
          </a:p>
        </p:txBody>
      </p:sp>
    </p:spTree>
    <p:extLst>
      <p:ext uri="{BB962C8B-B14F-4D97-AF65-F5344CB8AC3E}">
        <p14:creationId xmlns:p14="http://schemas.microsoft.com/office/powerpoint/2010/main" val="4131165594"/>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79CD0-CA6D-3E94-BE8C-F6D824D8019A}"/>
              </a:ext>
            </a:extLst>
          </p:cNvPr>
          <p:cNvSpPr>
            <a:spLocks noGrp="1"/>
          </p:cNvSpPr>
          <p:nvPr>
            <p:ph type="ctrTitle"/>
          </p:nvPr>
        </p:nvSpPr>
        <p:spPr>
          <a:xfrm>
            <a:off x="1600200" y="2363323"/>
            <a:ext cx="8991600" cy="1692771"/>
          </a:xfrm>
        </p:spPr>
        <p:txBody>
          <a:bodyPr>
            <a:normAutofit/>
          </a:bodyPr>
          <a:lstStyle/>
          <a:p>
            <a:r>
              <a:rPr lang="en-US" b="1"/>
              <a:t>Clustering</a:t>
            </a:r>
          </a:p>
        </p:txBody>
      </p:sp>
      <p:sp>
        <p:nvSpPr>
          <p:cNvPr id="3" name="Subtitle 2">
            <a:extLst>
              <a:ext uri="{FF2B5EF4-FFF2-40B4-BE49-F238E27FC236}">
                <a16:creationId xmlns:a16="http://schemas.microsoft.com/office/drawing/2014/main" id="{02000374-10C2-5CB7-AE07-E55C87861B2A}"/>
              </a:ext>
            </a:extLst>
          </p:cNvPr>
          <p:cNvSpPr>
            <a:spLocks noGrp="1"/>
          </p:cNvSpPr>
          <p:nvPr>
            <p:ph type="subTitle" idx="1"/>
          </p:nvPr>
        </p:nvSpPr>
        <p:spPr>
          <a:xfrm>
            <a:off x="6579220" y="5374888"/>
            <a:ext cx="3995955" cy="758282"/>
          </a:xfrm>
        </p:spPr>
        <p:txBody>
          <a:bodyPr>
            <a:normAutofit/>
          </a:bodyPr>
          <a:lstStyle/>
          <a:p>
            <a:pPr algn="r"/>
            <a:endParaRPr lang="en-US">
              <a:solidFill>
                <a:schemeClr val="bg1"/>
              </a:solidFill>
            </a:endParaRPr>
          </a:p>
        </p:txBody>
      </p:sp>
    </p:spTree>
    <p:extLst>
      <p:ext uri="{BB962C8B-B14F-4D97-AF65-F5344CB8AC3E}">
        <p14:creationId xmlns:p14="http://schemas.microsoft.com/office/powerpoint/2010/main" val="3605026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B7049-77DF-6BF9-4125-3F52116E679B}"/>
              </a:ext>
            </a:extLst>
          </p:cNvPr>
          <p:cNvSpPr>
            <a:spLocks noGrp="1"/>
          </p:cNvSpPr>
          <p:nvPr>
            <p:ph type="title"/>
          </p:nvPr>
        </p:nvSpPr>
        <p:spPr>
          <a:xfrm>
            <a:off x="1154954" y="973668"/>
            <a:ext cx="8761413" cy="706964"/>
          </a:xfrm>
        </p:spPr>
        <p:txBody>
          <a:bodyPr>
            <a:normAutofit/>
          </a:bodyPr>
          <a:lstStyle/>
          <a:p>
            <a:r>
              <a:rPr lang="en-US">
                <a:solidFill>
                  <a:srgbClr val="EBEBEB"/>
                </a:solidFill>
              </a:rPr>
              <a:t>Goal of Custering</a:t>
            </a:r>
          </a:p>
        </p:txBody>
      </p:sp>
      <p:sp>
        <p:nvSpPr>
          <p:cNvPr id="3" name="Content Placeholder 2">
            <a:extLst>
              <a:ext uri="{FF2B5EF4-FFF2-40B4-BE49-F238E27FC236}">
                <a16:creationId xmlns:a16="http://schemas.microsoft.com/office/drawing/2014/main" id="{DD588153-BB33-AD7A-237D-DBA6283E2735}"/>
              </a:ext>
            </a:extLst>
          </p:cNvPr>
          <p:cNvSpPr>
            <a:spLocks noGrp="1"/>
          </p:cNvSpPr>
          <p:nvPr>
            <p:ph idx="1"/>
          </p:nvPr>
        </p:nvSpPr>
        <p:spPr>
          <a:xfrm>
            <a:off x="1154954" y="2603500"/>
            <a:ext cx="6397313" cy="3416300"/>
          </a:xfrm>
        </p:spPr>
        <p:txBody>
          <a:bodyPr anchor="ctr">
            <a:normAutofit/>
          </a:bodyPr>
          <a:lstStyle/>
          <a:p>
            <a:r>
              <a:rPr lang="en-US" dirty="0"/>
              <a:t>Given a set of data points, each described by a set of attributes, find clusters such that:</a:t>
            </a:r>
          </a:p>
          <a:p>
            <a:pPr lvl="1"/>
            <a:r>
              <a:rPr lang="en-US" dirty="0"/>
              <a:t>Inter-cluster similarity is </a:t>
            </a:r>
          </a:p>
          <a:p>
            <a:pPr lvl="2"/>
            <a:r>
              <a:rPr lang="en-US" dirty="0"/>
              <a:t>   maximized</a:t>
            </a:r>
          </a:p>
          <a:p>
            <a:pPr lvl="1"/>
            <a:r>
              <a:rPr lang="en-US" dirty="0"/>
              <a:t>Intra-cluster similarity is </a:t>
            </a:r>
          </a:p>
          <a:p>
            <a:pPr lvl="2"/>
            <a:r>
              <a:rPr lang="en-US" dirty="0"/>
              <a:t>   minimized </a:t>
            </a:r>
          </a:p>
          <a:p>
            <a:endParaRPr lang="en-US" dirty="0"/>
          </a:p>
        </p:txBody>
      </p:sp>
      <p:pic>
        <p:nvPicPr>
          <p:cNvPr id="4" name="Picture 3">
            <a:extLst>
              <a:ext uri="{FF2B5EF4-FFF2-40B4-BE49-F238E27FC236}">
                <a16:creationId xmlns:a16="http://schemas.microsoft.com/office/drawing/2014/main" id="{2EA783AE-B42C-B4D6-AC82-032077E80DEF}"/>
              </a:ext>
            </a:extLst>
          </p:cNvPr>
          <p:cNvPicPr>
            <a:picLocks noChangeAspect="1"/>
          </p:cNvPicPr>
          <p:nvPr/>
        </p:nvPicPr>
        <p:blipFill>
          <a:blip r:embed="rId2"/>
          <a:stretch>
            <a:fillRect/>
          </a:stretch>
        </p:blipFill>
        <p:spPr>
          <a:xfrm>
            <a:off x="8020571" y="3032875"/>
            <a:ext cx="3080048" cy="255331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16082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E8815-1648-9A99-9780-7EDA158BCA4B}"/>
              </a:ext>
            </a:extLst>
          </p:cNvPr>
          <p:cNvSpPr>
            <a:spLocks noGrp="1"/>
          </p:cNvSpPr>
          <p:nvPr>
            <p:ph type="title"/>
          </p:nvPr>
        </p:nvSpPr>
        <p:spPr/>
        <p:txBody>
          <a:bodyPr/>
          <a:lstStyle/>
          <a:p>
            <a:r>
              <a:rPr lang="en-US" dirty="0"/>
              <a:t>What is a natural grouping of these objects?</a:t>
            </a:r>
            <a:br>
              <a:rPr lang="en-US" dirty="0"/>
            </a:br>
            <a:endParaRPr lang="en-US" dirty="0"/>
          </a:p>
        </p:txBody>
      </p:sp>
      <p:grpSp>
        <p:nvGrpSpPr>
          <p:cNvPr id="4" name="Group 5">
            <a:extLst>
              <a:ext uri="{FF2B5EF4-FFF2-40B4-BE49-F238E27FC236}">
                <a16:creationId xmlns:a16="http://schemas.microsoft.com/office/drawing/2014/main" id="{A2314131-AEB8-2AF4-8932-8DF1D23982CB}"/>
              </a:ext>
            </a:extLst>
          </p:cNvPr>
          <p:cNvGrpSpPr>
            <a:grpSpLocks/>
          </p:cNvGrpSpPr>
          <p:nvPr/>
        </p:nvGrpSpPr>
        <p:grpSpPr bwMode="auto">
          <a:xfrm>
            <a:off x="923264" y="1632694"/>
            <a:ext cx="9224791" cy="2264569"/>
            <a:chOff x="36" y="642"/>
            <a:chExt cx="5760" cy="1413"/>
          </a:xfrm>
        </p:grpSpPr>
        <p:pic>
          <p:nvPicPr>
            <p:cNvPr id="5" name="Picture 6" descr="Edna Krabappel">
              <a:extLst>
                <a:ext uri="{FF2B5EF4-FFF2-40B4-BE49-F238E27FC236}">
                  <a16:creationId xmlns:a16="http://schemas.microsoft.com/office/drawing/2014/main" id="{9F6ABC43-7187-37E5-15E3-E7428EF39F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 y="789"/>
              <a:ext cx="513"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Principal Seymour  Skinner">
              <a:extLst>
                <a:ext uri="{FF2B5EF4-FFF2-40B4-BE49-F238E27FC236}">
                  <a16:creationId xmlns:a16="http://schemas.microsoft.com/office/drawing/2014/main" id="{7EABC64B-1058-6E7B-1E5B-159E2EBDE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4" y="828"/>
              <a:ext cx="514"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8">
              <a:extLst>
                <a:ext uri="{FF2B5EF4-FFF2-40B4-BE49-F238E27FC236}">
                  <a16:creationId xmlns:a16="http://schemas.microsoft.com/office/drawing/2014/main" id="{FEA8FF0E-226F-DC62-9F68-2A4EFADDFEAC}"/>
                </a:ext>
              </a:extLst>
            </p:cNvPr>
            <p:cNvSpPr>
              <a:spLocks noChangeArrowheads="1"/>
            </p:cNvSpPr>
            <p:nvPr/>
          </p:nvSpPr>
          <p:spPr bwMode="auto">
            <a:xfrm>
              <a:off x="36" y="1365"/>
              <a:ext cx="576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pitchFamily="34" charset="-128"/>
                </a:defRPr>
              </a:lvl1pPr>
              <a:lvl2pPr marL="37931725" indent="-37474525">
                <a:defRPr sz="2400">
                  <a:solidFill>
                    <a:schemeClr val="tx1"/>
                  </a:solidFill>
                  <a:latin typeface="Arial" charset="0"/>
                  <a:ea typeface="ＭＳ Ｐゴシック" pitchFamily="34" charset="-128"/>
                </a:defRPr>
              </a:lvl2pPr>
              <a:lvl3pPr marL="1143000" indent="-228600">
                <a:defRPr sz="2400">
                  <a:solidFill>
                    <a:schemeClr val="tx1"/>
                  </a:solidFill>
                  <a:latin typeface="Arial" charset="0"/>
                  <a:ea typeface="ＭＳ Ｐゴシック" pitchFamily="34" charset="-128"/>
                </a:defRPr>
              </a:lvl3pPr>
              <a:lvl4pPr marL="1600200" indent="-228600">
                <a:defRPr sz="2400">
                  <a:solidFill>
                    <a:schemeClr val="tx1"/>
                  </a:solidFill>
                  <a:latin typeface="Arial" charset="0"/>
                  <a:ea typeface="ＭＳ Ｐゴシック" pitchFamily="34" charset="-128"/>
                </a:defRPr>
              </a:lvl4pPr>
              <a:lvl5pPr marL="2057400" indent="-22860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endParaRPr lang="en-US" altLang="en-US"/>
            </a:p>
          </p:txBody>
        </p:sp>
        <p:pic>
          <p:nvPicPr>
            <p:cNvPr id="8" name="Picture 9" descr="Groundskeeper Willie">
              <a:extLst>
                <a:ext uri="{FF2B5EF4-FFF2-40B4-BE49-F238E27FC236}">
                  <a16:creationId xmlns:a16="http://schemas.microsoft.com/office/drawing/2014/main" id="{02DF7503-8744-AA1E-7FF5-6399168737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3" y="920"/>
              <a:ext cx="569" cy="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a:extLst>
                <a:ext uri="{FF2B5EF4-FFF2-40B4-BE49-F238E27FC236}">
                  <a16:creationId xmlns:a16="http://schemas.microsoft.com/office/drawing/2014/main" id="{3A5AC51B-555A-6C05-2186-1FC426E274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9" y="865"/>
              <a:ext cx="635" cy="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1">
              <a:extLst>
                <a:ext uri="{FF2B5EF4-FFF2-40B4-BE49-F238E27FC236}">
                  <a16:creationId xmlns:a16="http://schemas.microsoft.com/office/drawing/2014/main" id="{EAFAC218-B5D7-83D3-C21A-EB52AEA8B5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5" y="753"/>
              <a:ext cx="580"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2">
              <a:extLst>
                <a:ext uri="{FF2B5EF4-FFF2-40B4-BE49-F238E27FC236}">
                  <a16:creationId xmlns:a16="http://schemas.microsoft.com/office/drawing/2014/main" id="{2B5ACC23-FEAE-19E4-629C-974080BD60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 y="806"/>
              <a:ext cx="592" cy="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3">
              <a:extLst>
                <a:ext uri="{FF2B5EF4-FFF2-40B4-BE49-F238E27FC236}">
                  <a16:creationId xmlns:a16="http://schemas.microsoft.com/office/drawing/2014/main" id="{B50BA69C-3F97-0E12-5A1A-6CA3E22676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7" y="1090"/>
              <a:ext cx="454" cy="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4">
              <a:extLst>
                <a:ext uri="{FF2B5EF4-FFF2-40B4-BE49-F238E27FC236}">
                  <a16:creationId xmlns:a16="http://schemas.microsoft.com/office/drawing/2014/main" id="{9EED87E1-60DD-C211-6160-971E9FC9466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5" y="1096"/>
              <a:ext cx="306"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 descr="C:\Documents and Settings\eamonn\Desktop\bios_family_marge.gif">
              <a:extLst>
                <a:ext uri="{FF2B5EF4-FFF2-40B4-BE49-F238E27FC236}">
                  <a16:creationId xmlns:a16="http://schemas.microsoft.com/office/drawing/2014/main" id="{24D1BAC9-026A-59C5-9E6F-B0892884368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1" y="642"/>
              <a:ext cx="459" cy="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4" name="Picture 43">
            <a:extLst>
              <a:ext uri="{FF2B5EF4-FFF2-40B4-BE49-F238E27FC236}">
                <a16:creationId xmlns:a16="http://schemas.microsoft.com/office/drawing/2014/main" id="{F9064B47-93E1-0CDE-9787-AAB9816A2D6A}"/>
              </a:ext>
            </a:extLst>
          </p:cNvPr>
          <p:cNvPicPr>
            <a:picLocks noChangeAspect="1"/>
          </p:cNvPicPr>
          <p:nvPr/>
        </p:nvPicPr>
        <p:blipFill>
          <a:blip r:embed="rId11"/>
          <a:stretch>
            <a:fillRect/>
          </a:stretch>
        </p:blipFill>
        <p:spPr>
          <a:xfrm>
            <a:off x="556054" y="3798040"/>
            <a:ext cx="9749481" cy="2213307"/>
          </a:xfrm>
          <a:prstGeom prst="rect">
            <a:avLst/>
          </a:prstGeom>
        </p:spPr>
      </p:pic>
    </p:spTree>
    <p:extLst>
      <p:ext uri="{BB962C8B-B14F-4D97-AF65-F5344CB8AC3E}">
        <p14:creationId xmlns:p14="http://schemas.microsoft.com/office/powerpoint/2010/main" val="168207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1CED-C5F4-0A50-0E17-8336C5F65CE1}"/>
              </a:ext>
            </a:extLst>
          </p:cNvPr>
          <p:cNvSpPr>
            <a:spLocks noGrp="1"/>
          </p:cNvSpPr>
          <p:nvPr>
            <p:ph type="title"/>
          </p:nvPr>
        </p:nvSpPr>
        <p:spPr>
          <a:xfrm>
            <a:off x="1653363" y="365760"/>
            <a:ext cx="9367203" cy="1188720"/>
          </a:xfrm>
        </p:spPr>
        <p:txBody>
          <a:bodyPr>
            <a:normAutofit/>
          </a:bodyPr>
          <a:lstStyle/>
          <a:p>
            <a:r>
              <a:rPr lang="en-US" dirty="0"/>
              <a:t>What is clustering?</a:t>
            </a:r>
          </a:p>
        </p:txBody>
      </p:sp>
      <p:sp>
        <p:nvSpPr>
          <p:cNvPr id="3" name="Content Placeholder 2">
            <a:extLst>
              <a:ext uri="{FF2B5EF4-FFF2-40B4-BE49-F238E27FC236}">
                <a16:creationId xmlns:a16="http://schemas.microsoft.com/office/drawing/2014/main" id="{7BA7A5FC-A345-F823-A1BC-6465D7A90CCC}"/>
              </a:ext>
            </a:extLst>
          </p:cNvPr>
          <p:cNvSpPr>
            <a:spLocks noGrp="1"/>
          </p:cNvSpPr>
          <p:nvPr>
            <p:ph idx="1"/>
          </p:nvPr>
        </p:nvSpPr>
        <p:spPr>
          <a:xfrm>
            <a:off x="1653363" y="2176272"/>
            <a:ext cx="9367204" cy="4041648"/>
          </a:xfrm>
        </p:spPr>
        <p:txBody>
          <a:bodyPr anchor="t">
            <a:normAutofit/>
          </a:bodyPr>
          <a:lstStyle/>
          <a:p>
            <a:r>
              <a:rPr lang="en-US" sz="2400" dirty="0"/>
              <a:t>Is an unsupervised machine learning method</a:t>
            </a:r>
          </a:p>
          <a:p>
            <a:r>
              <a:rPr lang="en-US" sz="2400" dirty="0"/>
              <a:t>Real life example for clustering?</a:t>
            </a:r>
          </a:p>
          <a:p>
            <a:r>
              <a:rPr lang="en-US" sz="2400" dirty="0"/>
              <a:t>Applications</a:t>
            </a:r>
          </a:p>
          <a:p>
            <a:pPr lvl="1"/>
            <a:r>
              <a:rPr lang="en-US" sz="2400" dirty="0"/>
              <a:t>Recommendation engine</a:t>
            </a:r>
          </a:p>
          <a:p>
            <a:pPr lvl="1"/>
            <a:r>
              <a:rPr lang="en-US" sz="2400" dirty="0"/>
              <a:t>Market and Customer segmentation</a:t>
            </a:r>
          </a:p>
          <a:p>
            <a:pPr lvl="1"/>
            <a:r>
              <a:rPr lang="en-US" sz="2400" dirty="0"/>
              <a:t>Search Results</a:t>
            </a:r>
          </a:p>
        </p:txBody>
      </p:sp>
    </p:spTree>
    <p:extLst>
      <p:ext uri="{BB962C8B-B14F-4D97-AF65-F5344CB8AC3E}">
        <p14:creationId xmlns:p14="http://schemas.microsoft.com/office/powerpoint/2010/main" val="3469636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A5FE8-31C5-63BD-59B1-EFD00AEA995E}"/>
              </a:ext>
            </a:extLst>
          </p:cNvPr>
          <p:cNvSpPr>
            <a:spLocks noGrp="1"/>
          </p:cNvSpPr>
          <p:nvPr>
            <p:ph type="title"/>
          </p:nvPr>
        </p:nvSpPr>
        <p:spPr/>
        <p:txBody>
          <a:bodyPr/>
          <a:lstStyle/>
          <a:p>
            <a:r>
              <a:rPr lang="en-US" dirty="0"/>
              <a:t>Why cluster?</a:t>
            </a:r>
          </a:p>
        </p:txBody>
      </p:sp>
      <p:sp>
        <p:nvSpPr>
          <p:cNvPr id="3" name="Content Placeholder 2">
            <a:extLst>
              <a:ext uri="{FF2B5EF4-FFF2-40B4-BE49-F238E27FC236}">
                <a16:creationId xmlns:a16="http://schemas.microsoft.com/office/drawing/2014/main" id="{C5F7519F-7383-3D19-5E5C-874A6E5FAA68}"/>
              </a:ext>
            </a:extLst>
          </p:cNvPr>
          <p:cNvSpPr>
            <a:spLocks noGrp="1"/>
          </p:cNvSpPr>
          <p:nvPr>
            <p:ph idx="1"/>
          </p:nvPr>
        </p:nvSpPr>
        <p:spPr/>
        <p:txBody>
          <a:bodyPr/>
          <a:lstStyle/>
          <a:p>
            <a:r>
              <a:rPr lang="en-US" dirty="0"/>
              <a:t>Labelling is expensive</a:t>
            </a:r>
          </a:p>
          <a:p>
            <a:r>
              <a:rPr lang="en-US" dirty="0"/>
              <a:t>Gain insights into structure of data</a:t>
            </a:r>
          </a:p>
          <a:p>
            <a:r>
              <a:rPr lang="en-US" dirty="0"/>
              <a:t>Find prototypes in the data</a:t>
            </a:r>
          </a:p>
        </p:txBody>
      </p:sp>
    </p:spTree>
    <p:extLst>
      <p:ext uri="{BB962C8B-B14F-4D97-AF65-F5344CB8AC3E}">
        <p14:creationId xmlns:p14="http://schemas.microsoft.com/office/powerpoint/2010/main" val="1446593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8CA5C868-0A82-4975-8602-F49477C7D5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686BF052-6C01-4917-B7DB-1FFCF2551B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Freeform 5">
              <a:extLst>
                <a:ext uri="{FF2B5EF4-FFF2-40B4-BE49-F238E27FC236}">
                  <a16:creationId xmlns:a16="http://schemas.microsoft.com/office/drawing/2014/main" id="{9696179C-71E7-4A5B-B238-0AE1C74D63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9" name="Rectangle 18">
            <a:extLst>
              <a:ext uri="{FF2B5EF4-FFF2-40B4-BE49-F238E27FC236}">
                <a16:creationId xmlns:a16="http://schemas.microsoft.com/office/drawing/2014/main" id="{129EED8E-74E7-42E8-979B-7A783E78A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2430622-FF69-55D4-5861-8D3C2BE78792}"/>
              </a:ext>
            </a:extLst>
          </p:cNvPr>
          <p:cNvSpPr>
            <a:spLocks noGrp="1"/>
          </p:cNvSpPr>
          <p:nvPr>
            <p:ph type="title"/>
          </p:nvPr>
        </p:nvSpPr>
        <p:spPr>
          <a:xfrm>
            <a:off x="8160773" y="1277653"/>
            <a:ext cx="3020133" cy="3117366"/>
          </a:xfrm>
        </p:spPr>
        <p:txBody>
          <a:bodyPr vert="horz" lIns="91440" tIns="45720" rIns="91440" bIns="45720" rtlCol="0" anchor="b">
            <a:normAutofit/>
          </a:bodyPr>
          <a:lstStyle/>
          <a:p>
            <a:pPr>
              <a:lnSpc>
                <a:spcPct val="90000"/>
              </a:lnSpc>
            </a:pPr>
            <a:r>
              <a:rPr lang="en-US" sz="4600" b="0" i="0" kern="1200" dirty="0">
                <a:solidFill>
                  <a:schemeClr val="bg2"/>
                </a:solidFill>
                <a:latin typeface="+mj-lt"/>
                <a:ea typeface="+mj-ea"/>
                <a:cs typeface="+mj-cs"/>
              </a:rPr>
              <a:t>Types of clustering models</a:t>
            </a:r>
          </a:p>
        </p:txBody>
      </p:sp>
      <p:sp>
        <p:nvSpPr>
          <p:cNvPr id="21" name="Rectangle 20">
            <a:extLst>
              <a:ext uri="{FF2B5EF4-FFF2-40B4-BE49-F238E27FC236}">
                <a16:creationId xmlns:a16="http://schemas.microsoft.com/office/drawing/2014/main" id="{CA458B5A-3386-47C6-9A82-FAC83F4C83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62" y="1113062"/>
            <a:ext cx="6470908" cy="4628759"/>
          </a:xfrm>
          <a:prstGeom prst="rect">
            <a:avLst/>
          </a:prstGeom>
          <a:solidFill>
            <a:srgbClr val="FFFFFE"/>
          </a:solidFill>
          <a:ln w="15875">
            <a:solidFill>
              <a:schemeClr val="tx2">
                <a:lumMod val="75000"/>
              </a:schemeClr>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0010B11-1C15-6A9D-9852-7E84867C24E9}"/>
              </a:ext>
            </a:extLst>
          </p:cNvPr>
          <p:cNvPicPr>
            <a:picLocks noChangeAspect="1"/>
          </p:cNvPicPr>
          <p:nvPr/>
        </p:nvPicPr>
        <p:blipFill>
          <a:blip r:embed="rId4"/>
          <a:stretch>
            <a:fillRect/>
          </a:stretch>
        </p:blipFill>
        <p:spPr>
          <a:xfrm>
            <a:off x="1544683" y="1274844"/>
            <a:ext cx="2430126" cy="2070301"/>
          </a:xfrm>
          <a:prstGeom prst="roundRect">
            <a:avLst>
              <a:gd name="adj" fmla="val 1858"/>
            </a:avLst>
          </a:prstGeom>
          <a:effectLst/>
        </p:spPr>
      </p:pic>
      <p:pic>
        <p:nvPicPr>
          <p:cNvPr id="6" name="Picture 5">
            <a:extLst>
              <a:ext uri="{FF2B5EF4-FFF2-40B4-BE49-F238E27FC236}">
                <a16:creationId xmlns:a16="http://schemas.microsoft.com/office/drawing/2014/main" id="{5A55B96F-62DD-7B42-5574-8E0BB8967FC6}"/>
              </a:ext>
            </a:extLst>
          </p:cNvPr>
          <p:cNvPicPr>
            <a:picLocks noChangeAspect="1"/>
          </p:cNvPicPr>
          <p:nvPr/>
        </p:nvPicPr>
        <p:blipFill>
          <a:blip r:embed="rId5"/>
          <a:stretch>
            <a:fillRect/>
          </a:stretch>
        </p:blipFill>
        <p:spPr>
          <a:xfrm>
            <a:off x="4420905" y="1320020"/>
            <a:ext cx="2996039" cy="1979949"/>
          </a:xfrm>
          <a:prstGeom prst="roundRect">
            <a:avLst>
              <a:gd name="adj" fmla="val 1858"/>
            </a:avLst>
          </a:prstGeom>
          <a:effectLst/>
        </p:spPr>
      </p:pic>
      <p:pic>
        <p:nvPicPr>
          <p:cNvPr id="5" name="Picture 4">
            <a:extLst>
              <a:ext uri="{FF2B5EF4-FFF2-40B4-BE49-F238E27FC236}">
                <a16:creationId xmlns:a16="http://schemas.microsoft.com/office/drawing/2014/main" id="{05B7F9AD-4F9A-12BE-55F9-EC3DD43D3660}"/>
              </a:ext>
            </a:extLst>
          </p:cNvPr>
          <p:cNvPicPr>
            <a:picLocks noChangeAspect="1"/>
          </p:cNvPicPr>
          <p:nvPr/>
        </p:nvPicPr>
        <p:blipFill>
          <a:blip r:embed="rId6"/>
          <a:stretch>
            <a:fillRect/>
          </a:stretch>
        </p:blipFill>
        <p:spPr>
          <a:xfrm>
            <a:off x="1448290" y="3506927"/>
            <a:ext cx="2634088" cy="2070301"/>
          </a:xfrm>
          <a:prstGeom prst="roundRect">
            <a:avLst>
              <a:gd name="adj" fmla="val 1858"/>
            </a:avLst>
          </a:prstGeom>
          <a:effectLst/>
        </p:spPr>
      </p:pic>
      <p:pic>
        <p:nvPicPr>
          <p:cNvPr id="10" name="Picture 9">
            <a:extLst>
              <a:ext uri="{FF2B5EF4-FFF2-40B4-BE49-F238E27FC236}">
                <a16:creationId xmlns:a16="http://schemas.microsoft.com/office/drawing/2014/main" id="{D316AF6B-1F88-E7A8-AE45-71D822B66492}"/>
              </a:ext>
            </a:extLst>
          </p:cNvPr>
          <p:cNvPicPr>
            <a:picLocks noChangeAspect="1"/>
          </p:cNvPicPr>
          <p:nvPr/>
        </p:nvPicPr>
        <p:blipFill>
          <a:blip r:embed="rId7"/>
          <a:stretch>
            <a:fillRect/>
          </a:stretch>
        </p:blipFill>
        <p:spPr>
          <a:xfrm>
            <a:off x="4420905" y="3594581"/>
            <a:ext cx="2996039" cy="1894994"/>
          </a:xfrm>
          <a:prstGeom prst="roundRect">
            <a:avLst>
              <a:gd name="adj" fmla="val 1858"/>
            </a:avLst>
          </a:prstGeom>
          <a:effectLst/>
        </p:spPr>
      </p:pic>
      <p:sp>
        <p:nvSpPr>
          <p:cNvPr id="11" name="TextBox 10">
            <a:extLst>
              <a:ext uri="{FF2B5EF4-FFF2-40B4-BE49-F238E27FC236}">
                <a16:creationId xmlns:a16="http://schemas.microsoft.com/office/drawing/2014/main" id="{C16DBF5D-E222-1661-741E-1E201C4A03C7}"/>
              </a:ext>
            </a:extLst>
          </p:cNvPr>
          <p:cNvSpPr txBox="1"/>
          <p:nvPr/>
        </p:nvSpPr>
        <p:spPr>
          <a:xfrm>
            <a:off x="1874250" y="3376122"/>
            <a:ext cx="1400503" cy="261610"/>
          </a:xfrm>
          <a:prstGeom prst="rect">
            <a:avLst/>
          </a:prstGeom>
          <a:noFill/>
        </p:spPr>
        <p:txBody>
          <a:bodyPr wrap="square" rtlCol="0">
            <a:spAutoFit/>
          </a:bodyPr>
          <a:lstStyle/>
          <a:p>
            <a:r>
              <a:rPr lang="en-US" sz="1100" dirty="0"/>
              <a:t>Centroid based</a:t>
            </a:r>
          </a:p>
        </p:txBody>
      </p:sp>
      <p:sp>
        <p:nvSpPr>
          <p:cNvPr id="12" name="TextBox 11">
            <a:extLst>
              <a:ext uri="{FF2B5EF4-FFF2-40B4-BE49-F238E27FC236}">
                <a16:creationId xmlns:a16="http://schemas.microsoft.com/office/drawing/2014/main" id="{7324FE8B-7223-5EBA-477E-9B4D97DB5864}"/>
              </a:ext>
            </a:extLst>
          </p:cNvPr>
          <p:cNvSpPr txBox="1"/>
          <p:nvPr/>
        </p:nvSpPr>
        <p:spPr>
          <a:xfrm>
            <a:off x="1611840" y="5477400"/>
            <a:ext cx="1400503" cy="261610"/>
          </a:xfrm>
          <a:prstGeom prst="rect">
            <a:avLst/>
          </a:prstGeom>
          <a:noFill/>
        </p:spPr>
        <p:txBody>
          <a:bodyPr wrap="square" rtlCol="0">
            <a:spAutoFit/>
          </a:bodyPr>
          <a:lstStyle/>
          <a:p>
            <a:r>
              <a:rPr lang="en-US" sz="1100" dirty="0"/>
              <a:t>Density based</a:t>
            </a:r>
          </a:p>
        </p:txBody>
      </p:sp>
      <p:sp>
        <p:nvSpPr>
          <p:cNvPr id="13" name="TextBox 12">
            <a:extLst>
              <a:ext uri="{FF2B5EF4-FFF2-40B4-BE49-F238E27FC236}">
                <a16:creationId xmlns:a16="http://schemas.microsoft.com/office/drawing/2014/main" id="{B6DFB10F-AC71-6258-9A8B-A65B9E45DD54}"/>
              </a:ext>
            </a:extLst>
          </p:cNvPr>
          <p:cNvSpPr txBox="1"/>
          <p:nvPr/>
        </p:nvSpPr>
        <p:spPr>
          <a:xfrm>
            <a:off x="4987539" y="3278600"/>
            <a:ext cx="1400503" cy="261610"/>
          </a:xfrm>
          <a:prstGeom prst="rect">
            <a:avLst/>
          </a:prstGeom>
          <a:noFill/>
        </p:spPr>
        <p:txBody>
          <a:bodyPr wrap="square" rtlCol="0">
            <a:spAutoFit/>
          </a:bodyPr>
          <a:lstStyle/>
          <a:p>
            <a:r>
              <a:rPr lang="en-US" sz="1100" dirty="0"/>
              <a:t>Distribution based</a:t>
            </a:r>
          </a:p>
        </p:txBody>
      </p:sp>
      <p:sp>
        <p:nvSpPr>
          <p:cNvPr id="14" name="TextBox 13">
            <a:extLst>
              <a:ext uri="{FF2B5EF4-FFF2-40B4-BE49-F238E27FC236}">
                <a16:creationId xmlns:a16="http://schemas.microsoft.com/office/drawing/2014/main" id="{0A309AAF-A59A-1ED5-D314-793E8A4A6B27}"/>
              </a:ext>
            </a:extLst>
          </p:cNvPr>
          <p:cNvSpPr txBox="1"/>
          <p:nvPr/>
        </p:nvSpPr>
        <p:spPr>
          <a:xfrm>
            <a:off x="5218672" y="5471882"/>
            <a:ext cx="1802238" cy="261610"/>
          </a:xfrm>
          <a:prstGeom prst="rect">
            <a:avLst/>
          </a:prstGeom>
          <a:noFill/>
        </p:spPr>
        <p:txBody>
          <a:bodyPr wrap="square" rtlCol="0">
            <a:spAutoFit/>
          </a:bodyPr>
          <a:lstStyle/>
          <a:p>
            <a:r>
              <a:rPr lang="en-US" sz="1100" dirty="0"/>
              <a:t>Hierarchical clustering</a:t>
            </a:r>
          </a:p>
        </p:txBody>
      </p:sp>
    </p:spTree>
    <p:extLst>
      <p:ext uri="{BB962C8B-B14F-4D97-AF65-F5344CB8AC3E}">
        <p14:creationId xmlns:p14="http://schemas.microsoft.com/office/powerpoint/2010/main" val="3202915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01D0A-2CD8-C7EC-3714-382AC4634D32}"/>
              </a:ext>
            </a:extLst>
          </p:cNvPr>
          <p:cNvSpPr>
            <a:spLocks noGrp="1"/>
          </p:cNvSpPr>
          <p:nvPr>
            <p:ph type="title"/>
          </p:nvPr>
        </p:nvSpPr>
        <p:spPr/>
        <p:txBody>
          <a:bodyPr/>
          <a:lstStyle/>
          <a:p>
            <a:r>
              <a:rPr lang="en-US" dirty="0"/>
              <a:t>K – Means Clustering</a:t>
            </a:r>
          </a:p>
        </p:txBody>
      </p:sp>
      <p:sp>
        <p:nvSpPr>
          <p:cNvPr id="3" name="Content Placeholder 2">
            <a:extLst>
              <a:ext uri="{FF2B5EF4-FFF2-40B4-BE49-F238E27FC236}">
                <a16:creationId xmlns:a16="http://schemas.microsoft.com/office/drawing/2014/main" id="{5C67C8D0-52B1-5A3F-ACB5-E964D05EF126}"/>
              </a:ext>
            </a:extLst>
          </p:cNvPr>
          <p:cNvSpPr>
            <a:spLocks noGrp="1"/>
          </p:cNvSpPr>
          <p:nvPr>
            <p:ph idx="1"/>
          </p:nvPr>
        </p:nvSpPr>
        <p:spPr/>
        <p:txBody>
          <a:bodyPr>
            <a:normAutofit fontScale="92500"/>
          </a:bodyPr>
          <a:lstStyle/>
          <a:p>
            <a:r>
              <a:rPr lang="en-US" dirty="0"/>
              <a:t>the most popular clustering algorithm, given that it is very easy to understand and apply to a wide range of data science and machine learning problems</a:t>
            </a:r>
          </a:p>
          <a:p>
            <a:r>
              <a:rPr lang="en-US" dirty="0"/>
              <a:t>Algorithm:</a:t>
            </a:r>
          </a:p>
          <a:p>
            <a:pPr lvl="1">
              <a:spcBef>
                <a:spcPct val="50000"/>
              </a:spcBef>
            </a:pPr>
            <a:r>
              <a:rPr lang="en-US" altLang="en-US" dirty="0"/>
              <a:t>1. Decide on a value for </a:t>
            </a:r>
            <a:r>
              <a:rPr lang="en-US" altLang="en-US" i="1" dirty="0"/>
              <a:t>k</a:t>
            </a:r>
            <a:r>
              <a:rPr lang="en-US" altLang="en-US" dirty="0"/>
              <a:t>.	</a:t>
            </a:r>
          </a:p>
          <a:p>
            <a:pPr lvl="1">
              <a:spcBef>
                <a:spcPct val="50000"/>
              </a:spcBef>
            </a:pPr>
            <a:r>
              <a:rPr lang="en-US" altLang="en-US" dirty="0"/>
              <a:t>2. Initialize the </a:t>
            </a:r>
            <a:r>
              <a:rPr lang="en-US" altLang="en-US" i="1" dirty="0"/>
              <a:t>k</a:t>
            </a:r>
            <a:r>
              <a:rPr lang="en-US" altLang="en-US" dirty="0"/>
              <a:t> cluster centers (randomly, if necessary).</a:t>
            </a:r>
          </a:p>
          <a:p>
            <a:pPr lvl="1">
              <a:spcBef>
                <a:spcPct val="50000"/>
              </a:spcBef>
            </a:pPr>
            <a:r>
              <a:rPr lang="en-US" altLang="en-US" dirty="0"/>
              <a:t>3. Decide the class memberships of the </a:t>
            </a:r>
            <a:r>
              <a:rPr lang="en-US" altLang="en-US" i="1" dirty="0"/>
              <a:t>N</a:t>
            </a:r>
            <a:r>
              <a:rPr lang="en-US" altLang="en-US" dirty="0"/>
              <a:t> objects by assigning them to the nearest cluster center.	</a:t>
            </a:r>
          </a:p>
          <a:p>
            <a:pPr lvl="1">
              <a:spcBef>
                <a:spcPct val="50000"/>
              </a:spcBef>
            </a:pPr>
            <a:r>
              <a:rPr lang="en-US" altLang="en-US" dirty="0"/>
              <a:t>4. Re-estimate the </a:t>
            </a:r>
            <a:r>
              <a:rPr lang="en-US" altLang="en-US" i="1" dirty="0"/>
              <a:t>k</a:t>
            </a:r>
            <a:r>
              <a:rPr lang="en-US" altLang="en-US" dirty="0"/>
              <a:t> cluster centers, by assuming the memberships found above are correct.	</a:t>
            </a:r>
          </a:p>
          <a:p>
            <a:pPr lvl="1">
              <a:spcBef>
                <a:spcPct val="50000"/>
              </a:spcBef>
            </a:pPr>
            <a:r>
              <a:rPr lang="en-US" altLang="en-US" dirty="0"/>
              <a:t>5. If none of the </a:t>
            </a:r>
            <a:r>
              <a:rPr lang="en-US" altLang="en-US" i="1" dirty="0"/>
              <a:t>N</a:t>
            </a:r>
            <a:r>
              <a:rPr lang="en-US" altLang="en-US" dirty="0"/>
              <a:t> objects changed membership in the last iteration, exit. Otherwise </a:t>
            </a:r>
            <a:r>
              <a:rPr lang="en-US" altLang="en-US" dirty="0" err="1"/>
              <a:t>goto</a:t>
            </a:r>
            <a:r>
              <a:rPr lang="en-US" altLang="en-US" dirty="0"/>
              <a:t> 3.</a:t>
            </a:r>
            <a:endParaRPr lang="en-US" dirty="0"/>
          </a:p>
        </p:txBody>
      </p:sp>
    </p:spTree>
    <p:extLst>
      <p:ext uri="{BB962C8B-B14F-4D97-AF65-F5344CB8AC3E}">
        <p14:creationId xmlns:p14="http://schemas.microsoft.com/office/powerpoint/2010/main" val="1366073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CA5C868-0A82-4975-8602-F49477C7D5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5" name="Rectangle 14">
              <a:extLst>
                <a:ext uri="{FF2B5EF4-FFF2-40B4-BE49-F238E27FC236}">
                  <a16:creationId xmlns:a16="http://schemas.microsoft.com/office/drawing/2014/main" id="{686BF052-6C01-4917-B7DB-1FFCF2551B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Freeform 5">
              <a:extLst>
                <a:ext uri="{FF2B5EF4-FFF2-40B4-BE49-F238E27FC236}">
                  <a16:creationId xmlns:a16="http://schemas.microsoft.com/office/drawing/2014/main" id="{9696179C-71E7-4A5B-B238-0AE1C74D63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8" name="Rectangle 17">
            <a:extLst>
              <a:ext uri="{FF2B5EF4-FFF2-40B4-BE49-F238E27FC236}">
                <a16:creationId xmlns:a16="http://schemas.microsoft.com/office/drawing/2014/main" id="{129EED8E-74E7-42E8-979B-7A783E78A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DA6BA8C9-441E-2C04-3D70-009AA91205C1}"/>
              </a:ext>
            </a:extLst>
          </p:cNvPr>
          <p:cNvSpPr>
            <a:spLocks noGrp="1"/>
          </p:cNvSpPr>
          <p:nvPr>
            <p:ph type="title"/>
          </p:nvPr>
        </p:nvSpPr>
        <p:spPr>
          <a:xfrm>
            <a:off x="8160773" y="1277653"/>
            <a:ext cx="3020133" cy="3117366"/>
          </a:xfrm>
        </p:spPr>
        <p:txBody>
          <a:bodyPr vert="horz" lIns="91440" tIns="45720" rIns="91440" bIns="45720" rtlCol="0" anchor="b">
            <a:normAutofit/>
          </a:bodyPr>
          <a:lstStyle/>
          <a:p>
            <a:pPr>
              <a:lnSpc>
                <a:spcPct val="90000"/>
              </a:lnSpc>
            </a:pPr>
            <a:r>
              <a:rPr lang="en-US" sz="4600" b="0" i="0" kern="1200" dirty="0">
                <a:solidFill>
                  <a:schemeClr val="bg2"/>
                </a:solidFill>
                <a:latin typeface="+mj-lt"/>
                <a:ea typeface="+mj-ea"/>
                <a:cs typeface="+mj-cs"/>
              </a:rPr>
              <a:t>K-means Algorithm</a:t>
            </a:r>
          </a:p>
        </p:txBody>
      </p:sp>
      <p:sp>
        <p:nvSpPr>
          <p:cNvPr id="20" name="Rectangle 19">
            <a:extLst>
              <a:ext uri="{FF2B5EF4-FFF2-40B4-BE49-F238E27FC236}">
                <a16:creationId xmlns:a16="http://schemas.microsoft.com/office/drawing/2014/main" id="{CA458B5A-3386-47C6-9A82-FAC83F4C83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62" y="1113062"/>
            <a:ext cx="6470908" cy="4628759"/>
          </a:xfrm>
          <a:prstGeom prst="rect">
            <a:avLst/>
          </a:prstGeom>
          <a:solidFill>
            <a:srgbClr val="FFFFFE"/>
          </a:solidFill>
          <a:ln w="15875">
            <a:solidFill>
              <a:schemeClr val="tx2">
                <a:lumMod val="75000"/>
              </a:schemeClr>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hart, scatter chart&#10;&#10;Description automatically generated">
            <a:extLst>
              <a:ext uri="{FF2B5EF4-FFF2-40B4-BE49-F238E27FC236}">
                <a16:creationId xmlns:a16="http://schemas.microsoft.com/office/drawing/2014/main" id="{FC322EF0-752F-2EFD-708C-A5854D86B33D}"/>
              </a:ext>
            </a:extLst>
          </p:cNvPr>
          <p:cNvPicPr>
            <a:picLocks noChangeAspect="1"/>
          </p:cNvPicPr>
          <p:nvPr/>
        </p:nvPicPr>
        <p:blipFill>
          <a:blip r:embed="rId3"/>
          <a:stretch>
            <a:fillRect/>
          </a:stretch>
        </p:blipFill>
        <p:spPr>
          <a:xfrm>
            <a:off x="1327011" y="1274844"/>
            <a:ext cx="2865469" cy="2070301"/>
          </a:xfrm>
          <a:prstGeom prst="roundRect">
            <a:avLst>
              <a:gd name="adj" fmla="val 1858"/>
            </a:avLst>
          </a:prstGeom>
          <a:effectLst/>
        </p:spPr>
      </p:pic>
      <p:pic>
        <p:nvPicPr>
          <p:cNvPr id="8" name="Picture 7" descr="Chart, line chart&#10;&#10;Description automatically generated">
            <a:extLst>
              <a:ext uri="{FF2B5EF4-FFF2-40B4-BE49-F238E27FC236}">
                <a16:creationId xmlns:a16="http://schemas.microsoft.com/office/drawing/2014/main" id="{B61DD95D-2FE4-2DD5-EB7F-8A81800664A9}"/>
              </a:ext>
            </a:extLst>
          </p:cNvPr>
          <p:cNvPicPr>
            <a:picLocks noChangeAspect="1"/>
          </p:cNvPicPr>
          <p:nvPr/>
        </p:nvPicPr>
        <p:blipFill>
          <a:blip r:embed="rId4"/>
          <a:stretch>
            <a:fillRect/>
          </a:stretch>
        </p:blipFill>
        <p:spPr>
          <a:xfrm>
            <a:off x="4420905" y="1283852"/>
            <a:ext cx="2996039" cy="2052285"/>
          </a:xfrm>
          <a:prstGeom prst="roundRect">
            <a:avLst>
              <a:gd name="adj" fmla="val 1858"/>
            </a:avLst>
          </a:prstGeom>
          <a:effectLst/>
        </p:spPr>
      </p:pic>
      <p:pic>
        <p:nvPicPr>
          <p:cNvPr id="7" name="Picture 6" descr="Chart, line chart&#10;&#10;Description automatically generated">
            <a:extLst>
              <a:ext uri="{FF2B5EF4-FFF2-40B4-BE49-F238E27FC236}">
                <a16:creationId xmlns:a16="http://schemas.microsoft.com/office/drawing/2014/main" id="{3A3378ED-8164-AC76-BCA8-93C4E1FC9D0B}"/>
              </a:ext>
            </a:extLst>
          </p:cNvPr>
          <p:cNvPicPr>
            <a:picLocks noChangeAspect="1"/>
          </p:cNvPicPr>
          <p:nvPr/>
        </p:nvPicPr>
        <p:blipFill>
          <a:blip r:embed="rId4"/>
          <a:stretch>
            <a:fillRect/>
          </a:stretch>
        </p:blipFill>
        <p:spPr>
          <a:xfrm>
            <a:off x="1273488" y="3520163"/>
            <a:ext cx="2983692" cy="2043828"/>
          </a:xfrm>
          <a:prstGeom prst="roundRect">
            <a:avLst>
              <a:gd name="adj" fmla="val 1858"/>
            </a:avLst>
          </a:prstGeom>
          <a:effectLst/>
        </p:spPr>
      </p:pic>
      <p:pic>
        <p:nvPicPr>
          <p:cNvPr id="6" name="Picture 5" descr="Chart, scatter chart&#10;&#10;Description automatically generated">
            <a:extLst>
              <a:ext uri="{FF2B5EF4-FFF2-40B4-BE49-F238E27FC236}">
                <a16:creationId xmlns:a16="http://schemas.microsoft.com/office/drawing/2014/main" id="{2E36ABF8-4C8A-6EE7-6CC3-805D229D5351}"/>
              </a:ext>
            </a:extLst>
          </p:cNvPr>
          <p:cNvPicPr>
            <a:picLocks noChangeAspect="1"/>
          </p:cNvPicPr>
          <p:nvPr/>
        </p:nvPicPr>
        <p:blipFill>
          <a:blip r:embed="rId5"/>
          <a:stretch>
            <a:fillRect/>
          </a:stretch>
        </p:blipFill>
        <p:spPr>
          <a:xfrm>
            <a:off x="4420905" y="3542150"/>
            <a:ext cx="2996039" cy="1999855"/>
          </a:xfrm>
          <a:prstGeom prst="roundRect">
            <a:avLst>
              <a:gd name="adj" fmla="val 1858"/>
            </a:avLst>
          </a:prstGeom>
          <a:effectLst/>
        </p:spPr>
      </p:pic>
    </p:spTree>
    <p:extLst>
      <p:ext uri="{BB962C8B-B14F-4D97-AF65-F5344CB8AC3E}">
        <p14:creationId xmlns:p14="http://schemas.microsoft.com/office/powerpoint/2010/main" val="384176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D0E5D-F87E-8A12-EDB4-FE837E1E3D73}"/>
              </a:ext>
            </a:extLst>
          </p:cNvPr>
          <p:cNvSpPr>
            <a:spLocks noGrp="1"/>
          </p:cNvSpPr>
          <p:nvPr>
            <p:ph type="title"/>
          </p:nvPr>
        </p:nvSpPr>
        <p:spPr/>
        <p:txBody>
          <a:bodyPr/>
          <a:lstStyle/>
          <a:p>
            <a:r>
              <a:rPr lang="en-US" dirty="0"/>
              <a:t>Hierarchical clustering</a:t>
            </a:r>
          </a:p>
        </p:txBody>
      </p:sp>
      <p:sp>
        <p:nvSpPr>
          <p:cNvPr id="3" name="Content Placeholder 2">
            <a:extLst>
              <a:ext uri="{FF2B5EF4-FFF2-40B4-BE49-F238E27FC236}">
                <a16:creationId xmlns:a16="http://schemas.microsoft.com/office/drawing/2014/main" id="{C39A8FCE-08E5-B7E2-44D8-DFD7CDF7B699}"/>
              </a:ext>
            </a:extLst>
          </p:cNvPr>
          <p:cNvSpPr>
            <a:spLocks noGrp="1"/>
          </p:cNvSpPr>
          <p:nvPr>
            <p:ph idx="1"/>
          </p:nvPr>
        </p:nvSpPr>
        <p:spPr/>
        <p:txBody>
          <a:bodyPr>
            <a:normAutofit/>
          </a:bodyPr>
          <a:lstStyle/>
          <a:p>
            <a:r>
              <a:rPr lang="en-US" dirty="0"/>
              <a:t>Types:</a:t>
            </a:r>
          </a:p>
          <a:p>
            <a:pPr lvl="1"/>
            <a:r>
              <a:rPr lang="en-IN" b="0" i="0" dirty="0">
                <a:solidFill>
                  <a:srgbClr val="000000"/>
                </a:solidFill>
                <a:effectLst/>
                <a:latin typeface="roboto" panose="02000000000000000000" pitchFamily="2" charset="0"/>
              </a:rPr>
              <a:t>Agglomerative Clustering is a bottom-up strategy in which each data point is originally a cluster of its own, and as one travels up the hierarchy, more pairs of clusters are combined. In it, two nearest clusters are taken and joined to form one single cluster.</a:t>
            </a:r>
            <a:endParaRPr lang="en-US" b="0" i="0" dirty="0">
              <a:solidFill>
                <a:srgbClr val="000000"/>
              </a:solidFill>
              <a:effectLst/>
              <a:latin typeface="roboto" panose="02000000000000000000" pitchFamily="2" charset="0"/>
            </a:endParaRPr>
          </a:p>
          <a:p>
            <a:pPr lvl="1"/>
            <a:r>
              <a:rPr lang="en-IN" b="0" i="0" dirty="0">
                <a:solidFill>
                  <a:srgbClr val="000000"/>
                </a:solidFill>
                <a:effectLst/>
                <a:latin typeface="roboto" panose="02000000000000000000" pitchFamily="2" charset="0"/>
              </a:rPr>
              <a:t>The divisive clustering algorithm is a top-down clustering strategy in which all points in the dataset are initially assigned to one cluster and then divided iteratively as one progresses down the hierarchy. It partitions data points that are clustered together into one cluster based on the slightest difference. This process continues till the desired number of clusters is obtained.</a:t>
            </a:r>
          </a:p>
          <a:p>
            <a:endParaRPr lang="en-US" dirty="0"/>
          </a:p>
        </p:txBody>
      </p:sp>
    </p:spTree>
    <p:extLst>
      <p:ext uri="{BB962C8B-B14F-4D97-AF65-F5344CB8AC3E}">
        <p14:creationId xmlns:p14="http://schemas.microsoft.com/office/powerpoint/2010/main" val="416459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E289-620A-6E4B-43EC-22341D2CC7FC}"/>
              </a:ext>
            </a:extLst>
          </p:cNvPr>
          <p:cNvSpPr>
            <a:spLocks noGrp="1"/>
          </p:cNvSpPr>
          <p:nvPr>
            <p:ph type="title"/>
          </p:nvPr>
        </p:nvSpPr>
        <p:spPr>
          <a:xfrm>
            <a:off x="1154954" y="973668"/>
            <a:ext cx="8761413" cy="706964"/>
          </a:xfrm>
        </p:spPr>
        <p:txBody>
          <a:bodyPr>
            <a:normAutofit/>
          </a:bodyPr>
          <a:lstStyle/>
          <a:p>
            <a:r>
              <a:rPr lang="en-US">
                <a:solidFill>
                  <a:srgbClr val="EBEBEB"/>
                </a:solidFill>
              </a:rPr>
              <a:t>Dendrogram</a:t>
            </a:r>
          </a:p>
        </p:txBody>
      </p:sp>
      <p:sp>
        <p:nvSpPr>
          <p:cNvPr id="3" name="Content Placeholder 2">
            <a:extLst>
              <a:ext uri="{FF2B5EF4-FFF2-40B4-BE49-F238E27FC236}">
                <a16:creationId xmlns:a16="http://schemas.microsoft.com/office/drawing/2014/main" id="{3FDBDFCE-54DA-6159-453F-E565FE960233}"/>
              </a:ext>
            </a:extLst>
          </p:cNvPr>
          <p:cNvSpPr>
            <a:spLocks noGrp="1"/>
          </p:cNvSpPr>
          <p:nvPr>
            <p:ph idx="1"/>
          </p:nvPr>
        </p:nvSpPr>
        <p:spPr>
          <a:xfrm>
            <a:off x="1154954" y="2603500"/>
            <a:ext cx="5211979" cy="3416300"/>
          </a:xfrm>
        </p:spPr>
        <p:txBody>
          <a:bodyPr anchor="ctr">
            <a:normAutofit/>
          </a:bodyPr>
          <a:lstStyle/>
          <a:p>
            <a:pPr>
              <a:lnSpc>
                <a:spcPct val="90000"/>
              </a:lnSpc>
            </a:pPr>
            <a:r>
              <a:rPr lang="en-IN" b="0" i="0">
                <a:effectLst/>
                <a:latin typeface="roboto" panose="02000000000000000000" pitchFamily="2" charset="0"/>
              </a:rPr>
              <a:t>A dendrogram is a visual representation of the hierarchical connection between items. It's most often produced as a result of hierarchical clustering. </a:t>
            </a:r>
          </a:p>
          <a:p>
            <a:pPr>
              <a:lnSpc>
                <a:spcPct val="90000"/>
              </a:lnSpc>
            </a:pPr>
            <a:r>
              <a:rPr lang="en-IN" b="0" i="0">
                <a:effectLst/>
                <a:latin typeface="roboto" panose="02000000000000000000" pitchFamily="2" charset="0"/>
              </a:rPr>
              <a:t>A dendrogram's main purpose is to figure out the best approach to assign items to clusters according to similarities and dissimilarities and our desired problem.</a:t>
            </a:r>
          </a:p>
          <a:p>
            <a:pPr>
              <a:lnSpc>
                <a:spcPct val="90000"/>
              </a:lnSpc>
            </a:pPr>
            <a:r>
              <a:rPr lang="en-IN" b="0" i="0">
                <a:effectLst/>
                <a:latin typeface="inter-regular"/>
              </a:rPr>
              <a:t>In the dendrogram plot, the Y-axis shows the Euclidean distances between the data points, and the x-axis shows all the data points of the given dataset.</a:t>
            </a:r>
            <a:endParaRPr lang="en-IN">
              <a:latin typeface="roboto" panose="02000000000000000000" pitchFamily="2" charset="0"/>
            </a:endParaRPr>
          </a:p>
          <a:p>
            <a:pPr>
              <a:lnSpc>
                <a:spcPct val="90000"/>
              </a:lnSpc>
            </a:pPr>
            <a:endParaRPr lang="en-US"/>
          </a:p>
        </p:txBody>
      </p:sp>
      <p:pic>
        <p:nvPicPr>
          <p:cNvPr id="4" name="Picture 3">
            <a:extLst>
              <a:ext uri="{FF2B5EF4-FFF2-40B4-BE49-F238E27FC236}">
                <a16:creationId xmlns:a16="http://schemas.microsoft.com/office/drawing/2014/main" id="{2AE18454-0472-DAB5-5A4A-5EACA18A16DD}"/>
              </a:ext>
            </a:extLst>
          </p:cNvPr>
          <p:cNvPicPr>
            <a:picLocks noChangeAspect="1"/>
          </p:cNvPicPr>
          <p:nvPr/>
        </p:nvPicPr>
        <p:blipFill>
          <a:blip r:embed="rId2"/>
          <a:stretch>
            <a:fillRect/>
          </a:stretch>
        </p:blipFill>
        <p:spPr>
          <a:xfrm>
            <a:off x="6798733" y="2891480"/>
            <a:ext cx="4345024" cy="257020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202504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32EA-E972-EC3E-2463-9E68A01EE76B}"/>
              </a:ext>
            </a:extLst>
          </p:cNvPr>
          <p:cNvSpPr>
            <a:spLocks noGrp="1"/>
          </p:cNvSpPr>
          <p:nvPr>
            <p:ph type="title"/>
          </p:nvPr>
        </p:nvSpPr>
        <p:spPr/>
        <p:txBody>
          <a:bodyPr/>
          <a:lstStyle/>
          <a:p>
            <a:r>
              <a:rPr lang="en-US" dirty="0"/>
              <a:t>Measure for the distance between two clusters</a:t>
            </a:r>
            <a:br>
              <a:rPr lang="en-US" dirty="0"/>
            </a:br>
            <a:endParaRPr lang="en-US" dirty="0"/>
          </a:p>
        </p:txBody>
      </p:sp>
      <p:pic>
        <p:nvPicPr>
          <p:cNvPr id="4" name="Picture 3">
            <a:extLst>
              <a:ext uri="{FF2B5EF4-FFF2-40B4-BE49-F238E27FC236}">
                <a16:creationId xmlns:a16="http://schemas.microsoft.com/office/drawing/2014/main" id="{4FBADB60-9864-6FD5-AE08-5A5751DE5C29}"/>
              </a:ext>
            </a:extLst>
          </p:cNvPr>
          <p:cNvPicPr>
            <a:picLocks noChangeAspect="1"/>
          </p:cNvPicPr>
          <p:nvPr/>
        </p:nvPicPr>
        <p:blipFill>
          <a:blip r:embed="rId2"/>
          <a:stretch>
            <a:fillRect/>
          </a:stretch>
        </p:blipFill>
        <p:spPr>
          <a:xfrm>
            <a:off x="899812" y="2569004"/>
            <a:ext cx="2755900" cy="1917700"/>
          </a:xfrm>
          <a:prstGeom prst="rect">
            <a:avLst/>
          </a:prstGeom>
        </p:spPr>
      </p:pic>
      <p:pic>
        <p:nvPicPr>
          <p:cNvPr id="5" name="Picture 4">
            <a:extLst>
              <a:ext uri="{FF2B5EF4-FFF2-40B4-BE49-F238E27FC236}">
                <a16:creationId xmlns:a16="http://schemas.microsoft.com/office/drawing/2014/main" id="{EF8E9FB2-28DC-4C8A-90FD-A51F35567894}"/>
              </a:ext>
            </a:extLst>
          </p:cNvPr>
          <p:cNvPicPr>
            <a:picLocks noChangeAspect="1"/>
          </p:cNvPicPr>
          <p:nvPr/>
        </p:nvPicPr>
        <p:blipFill>
          <a:blip r:embed="rId3"/>
          <a:stretch>
            <a:fillRect/>
          </a:stretch>
        </p:blipFill>
        <p:spPr>
          <a:xfrm>
            <a:off x="4371718" y="2569004"/>
            <a:ext cx="2781300" cy="1943100"/>
          </a:xfrm>
          <a:prstGeom prst="rect">
            <a:avLst/>
          </a:prstGeom>
        </p:spPr>
      </p:pic>
      <p:pic>
        <p:nvPicPr>
          <p:cNvPr id="6" name="Picture 5">
            <a:extLst>
              <a:ext uri="{FF2B5EF4-FFF2-40B4-BE49-F238E27FC236}">
                <a16:creationId xmlns:a16="http://schemas.microsoft.com/office/drawing/2014/main" id="{0420BF64-C0D4-D57B-4A2C-C08923B020E0}"/>
              </a:ext>
            </a:extLst>
          </p:cNvPr>
          <p:cNvPicPr>
            <a:picLocks noChangeAspect="1"/>
          </p:cNvPicPr>
          <p:nvPr/>
        </p:nvPicPr>
        <p:blipFill>
          <a:blip r:embed="rId4"/>
          <a:stretch>
            <a:fillRect/>
          </a:stretch>
        </p:blipFill>
        <p:spPr>
          <a:xfrm>
            <a:off x="8143102" y="2543604"/>
            <a:ext cx="3048000" cy="1892300"/>
          </a:xfrm>
          <a:prstGeom prst="rect">
            <a:avLst/>
          </a:prstGeom>
        </p:spPr>
      </p:pic>
      <p:sp>
        <p:nvSpPr>
          <p:cNvPr id="7" name="TextBox 6">
            <a:extLst>
              <a:ext uri="{FF2B5EF4-FFF2-40B4-BE49-F238E27FC236}">
                <a16:creationId xmlns:a16="http://schemas.microsoft.com/office/drawing/2014/main" id="{D0E51C13-E28B-2FA7-7D93-D85270F1DC59}"/>
              </a:ext>
            </a:extLst>
          </p:cNvPr>
          <p:cNvSpPr txBox="1"/>
          <p:nvPr/>
        </p:nvSpPr>
        <p:spPr>
          <a:xfrm>
            <a:off x="1013254" y="4486704"/>
            <a:ext cx="9564130" cy="369332"/>
          </a:xfrm>
          <a:prstGeom prst="rect">
            <a:avLst/>
          </a:prstGeom>
          <a:noFill/>
        </p:spPr>
        <p:txBody>
          <a:bodyPr wrap="square" rtlCol="0">
            <a:spAutoFit/>
          </a:bodyPr>
          <a:lstStyle/>
          <a:p>
            <a:r>
              <a:rPr lang="en-US" dirty="0"/>
              <a:t>1.Single Linkage (Min).              2.Complete (Max)					3.Centroid </a:t>
            </a:r>
          </a:p>
        </p:txBody>
      </p:sp>
    </p:spTree>
    <p:extLst>
      <p:ext uri="{BB962C8B-B14F-4D97-AF65-F5344CB8AC3E}">
        <p14:creationId xmlns:p14="http://schemas.microsoft.com/office/powerpoint/2010/main" val="3059996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6331F9-7C9F-4BB2-87F8-B8727CC2C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sp>
      <p:sp>
        <p:nvSpPr>
          <p:cNvPr id="13" name="Freeform 5">
            <a:extLst>
              <a:ext uri="{FF2B5EF4-FFF2-40B4-BE49-F238E27FC236}">
                <a16:creationId xmlns:a16="http://schemas.microsoft.com/office/drawing/2014/main" id="{760E064B-C2F2-4237-8792-5F01F0F4C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sp>
      <p:sp>
        <p:nvSpPr>
          <p:cNvPr id="15" name="Freeform: Shape 14">
            <a:extLst>
              <a:ext uri="{FF2B5EF4-FFF2-40B4-BE49-F238E27FC236}">
                <a16:creationId xmlns:a16="http://schemas.microsoft.com/office/drawing/2014/main" id="{C5F377F0-1AD0-4A6F-A698-9724187046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sp>
      <p:sp>
        <p:nvSpPr>
          <p:cNvPr id="17" name="Freeform 5">
            <a:extLst>
              <a:ext uri="{FF2B5EF4-FFF2-40B4-BE49-F238E27FC236}">
                <a16:creationId xmlns:a16="http://schemas.microsoft.com/office/drawing/2014/main" id="{F094C3D3-17E7-4BCC-B786-4B3BDD25E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87957585-28F0-E715-D860-9E1E0DB17682}"/>
              </a:ext>
            </a:extLst>
          </p:cNvPr>
          <p:cNvSpPr>
            <a:spLocks noGrp="1"/>
          </p:cNvSpPr>
          <p:nvPr>
            <p:ph type="title"/>
          </p:nvPr>
        </p:nvSpPr>
        <p:spPr>
          <a:xfrm>
            <a:off x="1154955" y="973668"/>
            <a:ext cx="2942210" cy="1020232"/>
          </a:xfrm>
        </p:spPr>
        <p:txBody>
          <a:bodyPr>
            <a:normAutofit/>
          </a:bodyPr>
          <a:lstStyle/>
          <a:p>
            <a:pPr>
              <a:lnSpc>
                <a:spcPct val="90000"/>
              </a:lnSpc>
            </a:pPr>
            <a:r>
              <a:rPr lang="en-US" sz="1400">
                <a:solidFill>
                  <a:srgbClr val="FFFFFE"/>
                </a:solidFill>
              </a:rPr>
              <a:t>One potential use of a dendrogram: detecting outliers</a:t>
            </a:r>
            <a:br>
              <a:rPr lang="en-US" sz="1400">
                <a:solidFill>
                  <a:srgbClr val="FFFFFE"/>
                </a:solidFill>
              </a:rPr>
            </a:br>
            <a:endParaRPr lang="en-US" sz="1400">
              <a:solidFill>
                <a:srgbClr val="FFFFFE"/>
              </a:solidFill>
            </a:endParaRPr>
          </a:p>
        </p:txBody>
      </p:sp>
      <p:pic>
        <p:nvPicPr>
          <p:cNvPr id="4" name="Picture 3">
            <a:extLst>
              <a:ext uri="{FF2B5EF4-FFF2-40B4-BE49-F238E27FC236}">
                <a16:creationId xmlns:a16="http://schemas.microsoft.com/office/drawing/2014/main" id="{46866B59-DB66-4414-905D-213D2D47F116}"/>
              </a:ext>
            </a:extLst>
          </p:cNvPr>
          <p:cNvPicPr>
            <a:picLocks noChangeAspect="1"/>
          </p:cNvPicPr>
          <p:nvPr/>
        </p:nvPicPr>
        <p:blipFill>
          <a:blip r:embed="rId2"/>
          <a:stretch>
            <a:fillRect/>
          </a:stretch>
        </p:blipFill>
        <p:spPr>
          <a:xfrm>
            <a:off x="5194607" y="2525968"/>
            <a:ext cx="3113903" cy="1806063"/>
          </a:xfrm>
          <a:prstGeom prst="rect">
            <a:avLst/>
          </a:prstGeom>
        </p:spPr>
      </p:pic>
      <p:pic>
        <p:nvPicPr>
          <p:cNvPr id="5" name="Picture 4">
            <a:extLst>
              <a:ext uri="{FF2B5EF4-FFF2-40B4-BE49-F238E27FC236}">
                <a16:creationId xmlns:a16="http://schemas.microsoft.com/office/drawing/2014/main" id="{9E252EA5-D9F9-EE81-B45F-BE6296DB63EC}"/>
              </a:ext>
            </a:extLst>
          </p:cNvPr>
          <p:cNvPicPr>
            <a:picLocks noChangeAspect="1"/>
          </p:cNvPicPr>
          <p:nvPr/>
        </p:nvPicPr>
        <p:blipFill>
          <a:blip r:embed="rId3"/>
          <a:stretch>
            <a:fillRect/>
          </a:stretch>
        </p:blipFill>
        <p:spPr>
          <a:xfrm>
            <a:off x="8472236" y="1274801"/>
            <a:ext cx="3113904" cy="1603659"/>
          </a:xfrm>
          <a:prstGeom prst="rect">
            <a:avLst/>
          </a:prstGeom>
        </p:spPr>
      </p:pic>
      <p:sp>
        <p:nvSpPr>
          <p:cNvPr id="19" name="Rectangle 18">
            <a:extLst>
              <a:ext uri="{FF2B5EF4-FFF2-40B4-BE49-F238E27FC236}">
                <a16:creationId xmlns:a16="http://schemas.microsoft.com/office/drawing/2014/main" id="{BC650D5C-009B-4021-82BD-1E28BFF45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873FC230-33A1-DEE0-4A15-C430615AD81A}"/>
              </a:ext>
            </a:extLst>
          </p:cNvPr>
          <p:cNvSpPr>
            <a:spLocks noGrp="1"/>
          </p:cNvSpPr>
          <p:nvPr>
            <p:ph idx="1"/>
          </p:nvPr>
        </p:nvSpPr>
        <p:spPr>
          <a:xfrm>
            <a:off x="1154955" y="2120900"/>
            <a:ext cx="3133726" cy="3898900"/>
          </a:xfrm>
        </p:spPr>
        <p:txBody>
          <a:bodyPr>
            <a:normAutofit/>
          </a:bodyPr>
          <a:lstStyle/>
          <a:p>
            <a:r>
              <a:rPr lang="en-US">
                <a:solidFill>
                  <a:srgbClr val="FFFFFE"/>
                </a:solidFill>
              </a:rPr>
              <a:t>Determine correct number of clusters</a:t>
            </a:r>
          </a:p>
          <a:p>
            <a:r>
              <a:rPr lang="en-US">
                <a:solidFill>
                  <a:srgbClr val="FFFFFE"/>
                </a:solidFill>
              </a:rPr>
              <a:t>Detecting outliers</a:t>
            </a:r>
          </a:p>
          <a:p>
            <a:r>
              <a:rPr lang="en-US">
                <a:solidFill>
                  <a:srgbClr val="FFFFFE"/>
                </a:solidFill>
              </a:rPr>
              <a:t>showpatterns</a:t>
            </a:r>
          </a:p>
        </p:txBody>
      </p:sp>
      <p:pic>
        <p:nvPicPr>
          <p:cNvPr id="6" name="Picture 5">
            <a:extLst>
              <a:ext uri="{FF2B5EF4-FFF2-40B4-BE49-F238E27FC236}">
                <a16:creationId xmlns:a16="http://schemas.microsoft.com/office/drawing/2014/main" id="{643A2F3D-0302-575A-2C29-1810A81B94AB}"/>
              </a:ext>
            </a:extLst>
          </p:cNvPr>
          <p:cNvPicPr>
            <a:picLocks noChangeAspect="1"/>
          </p:cNvPicPr>
          <p:nvPr/>
        </p:nvPicPr>
        <p:blipFill>
          <a:blip r:embed="rId4"/>
          <a:stretch>
            <a:fillRect/>
          </a:stretch>
        </p:blipFill>
        <p:spPr>
          <a:xfrm>
            <a:off x="8472236" y="4290928"/>
            <a:ext cx="3113904" cy="980879"/>
          </a:xfrm>
          <a:prstGeom prst="rect">
            <a:avLst/>
          </a:prstGeom>
        </p:spPr>
      </p:pic>
    </p:spTree>
    <p:extLst>
      <p:ext uri="{BB962C8B-B14F-4D97-AF65-F5344CB8AC3E}">
        <p14:creationId xmlns:p14="http://schemas.microsoft.com/office/powerpoint/2010/main" val="2265318691"/>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{F177E35D-0FDB-8648-99E4-2043BF511503}tf10001076</Template>
  <TotalTime>5791</TotalTime>
  <Words>484</Words>
  <Application>Microsoft Macintosh PowerPoint</Application>
  <PresentationFormat>Widescreen</PresentationFormat>
  <Paragraphs>51</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Century Gothic</vt:lpstr>
      <vt:lpstr>inter-regular</vt:lpstr>
      <vt:lpstr>roboto</vt:lpstr>
      <vt:lpstr>Wingdings 3</vt:lpstr>
      <vt:lpstr>Ion Boardroom</vt:lpstr>
      <vt:lpstr>Clustering</vt:lpstr>
      <vt:lpstr>Goal of Custering</vt:lpstr>
      <vt:lpstr>What is a natural grouping of these objects? </vt:lpstr>
      <vt:lpstr>What is clustering?</vt:lpstr>
      <vt:lpstr>Why cluster?</vt:lpstr>
      <vt:lpstr>Types of clustering models</vt:lpstr>
      <vt:lpstr>K – Means Clustering</vt:lpstr>
      <vt:lpstr>K-means Algorithm</vt:lpstr>
      <vt:lpstr>Hierarchical clustering</vt:lpstr>
      <vt:lpstr>Dendrogram</vt:lpstr>
      <vt:lpstr>Measure for the distance between two clusters </vt:lpstr>
      <vt:lpstr>One potential use of a dendrogram: detecting outliers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dc:title>
  <dc:creator>Nikhilnath K V</dc:creator>
  <cp:lastModifiedBy>Nikhilnath K V</cp:lastModifiedBy>
  <cp:revision>1</cp:revision>
  <dcterms:created xsi:type="dcterms:W3CDTF">2022-10-16T09:19:32Z</dcterms:created>
  <dcterms:modified xsi:type="dcterms:W3CDTF">2022-10-20T09:51:30Z</dcterms:modified>
</cp:coreProperties>
</file>
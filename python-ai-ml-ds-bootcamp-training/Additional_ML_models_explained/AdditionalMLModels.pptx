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57" r:id="rId4"/>
    <p:sldId id="259" r:id="rId5"/>
    <p:sldId id="260" r:id="rId6"/>
    <p:sldId id="271" r:id="rId7"/>
    <p:sldId id="272" r:id="rId8"/>
    <p:sldId id="273" r:id="rId9"/>
    <p:sldId id="263" r:id="rId10"/>
    <p:sldId id="264" r:id="rId11"/>
    <p:sldId id="265" r:id="rId12"/>
    <p:sldId id="266" r:id="rId13"/>
    <p:sldId id="274" r:id="rId14"/>
    <p:sldId id="269" r:id="rId15"/>
    <p:sldId id="267" r:id="rId16"/>
    <p:sldId id="268" r:id="rId17"/>
    <p:sldId id="25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F83F-1ED9-35F3-1A50-41AA3DB77F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A3A47-79D4-4CC7-60AC-C0D1CFA4F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3FECC-AD1C-7F21-7CDA-A563795B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D4E8-5362-034F-19C0-B37DAF8F1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2AB65-EBD6-41F6-3DFB-52B5ECF1B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90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074A-E44B-C645-DC05-894FD90C3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78AC-8EB0-9CE9-ABDB-6E871E173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8B5A5-90C9-0143-E8DE-31B8DB59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2C370-52A9-CDC1-D40B-8EE41B7B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F7C53-A145-B72D-25A1-9035A5B38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8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F27B-5A05-CEB3-0869-DE8F7D42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F5021-9212-ABF8-5E37-93E09C02A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B7014-B1FC-390B-0557-DD93017EC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50569-C11B-AB41-93C5-5493BF51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324D2-81BD-CA82-91AE-5FA720C3B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55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509A4-F6AF-70D7-6AE9-D15C195C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239A2-6CFD-1581-895D-462FCDC3F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C26DE1-6352-F46B-0A98-42C243EC7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49931-BEDD-1CBC-8326-DBEEF38ED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0E1E5-721D-AE38-07FD-4FC773B71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27394-72FA-E2AA-C0FB-3AF1069C2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9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1DCB-0B19-88F7-A0EF-729BD680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AFC42-7086-5F22-4F80-A754219B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DF9CC-D3F0-F5A7-7DE1-0CF65F05C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03680-585E-0C10-A892-10F4EF34A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25DE-BEFB-8ED8-9A19-8378732388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260AB-1EEE-1F4A-409E-B49787CF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7A3C37-A35E-5DE4-6C4F-95FF6147C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F902D-2695-A76C-EA1B-E399DE785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6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442FB-D07C-E252-C7D9-210C5E178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0FEE9-7183-34BB-ABA1-474E3849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49A49-C483-CAE8-A5A8-D78B1AB9C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CEDB9-3A12-26A2-5AE9-4F20AA1D7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70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C70D0-D6B7-9789-60B3-CF74BFDEE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1264FF-0617-46E2-9481-389E6B2A3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307E5-FCDC-7547-00EB-E49EC4323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21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6DA89-0216-931A-60EF-95900E69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E6D4-CD60-561B-95CC-502CFF41F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31BAB-95F7-6DFD-112B-AACA00C5D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46237-0C1E-CAAB-E815-BFF960BF4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979BE-0E9B-B71B-7998-DBB9BA00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41196-75A7-A77C-83EC-849B65D58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77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DAA6E-CABB-E089-76D1-11D92D913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175D40-38D0-1796-86C6-EF7FB1E94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1749C-FF18-5E4E-AF90-D9C07671B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7E043-8472-B093-A699-3DA1ADFD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2C4B6A-003D-9A82-9E16-F1CC72133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28231-8288-4576-84BB-19CB1E76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8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18FEB-466F-C1BF-95D1-0F6DA5ABF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31157A-71FE-00A9-D474-F4054106C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8E729-BCFC-316C-9E8A-EEFE3F51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AAD15-B593-A458-3331-397F9F406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169CE-D905-D3D9-D126-353BEB3A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8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D8C4DA-5E72-06BC-FDEC-05DBD6C78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98908-2E18-99CD-9776-BA6873566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85573-F9A4-4942-CD0E-3D276E25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13033-9023-1DA4-7C16-51F350252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3A58B-8472-1558-1872-A9C55C986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60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DF91AB-ADB6-F659-5975-14CAEF06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E617A-FFF2-F9DD-A01E-021B03FE3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319E-14D4-4C8F-951A-B53199EED7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0BDFE-0757-BC4B-8B41-CD79F4DCD33E}" type="datetimeFigureOut">
              <a:rPr lang="en-US" smtClean="0"/>
              <a:t>10/13/22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A2604-07E9-8A7A-728F-CEBAC5252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D3362-500B-1153-D5EA-061C18BE4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55B22-6570-7742-8075-8F6BCB738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39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ecision-tree-introduction-example/" TargetMode="External"/><Relationship Id="rId7" Type="http://schemas.openxmlformats.org/officeDocument/2006/relationships/hyperlink" Target="https://towardsdatascience.com/cross-validation-and-grid-search-efa64b127c1b" TargetMode="External"/><Relationship Id="rId2" Type="http://schemas.openxmlformats.org/officeDocument/2006/relationships/hyperlink" Target="https://www.geeksforgeeks.org/k-nearest-neighbou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nalyticsvidhya.com/blog/2017/09/understaing-support-vector-machine-example-code/" TargetMode="External"/><Relationship Id="rId5" Type="http://schemas.openxmlformats.org/officeDocument/2006/relationships/hyperlink" Target="https://www.analyticsvidhya.com/blog/2021/06/understanding-random-forest/" TargetMode="External"/><Relationship Id="rId4" Type="http://schemas.openxmlformats.org/officeDocument/2006/relationships/hyperlink" Target="https://www.analyticsvidhya.com/blog/2021/08/decision-tree-algorith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3E14-5BCE-2C8D-3D40-8C1EB588B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Additional ML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DFF7D-D3D7-138C-A120-FF76794200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80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830C-D807-2513-211F-39F224AC2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C149-94CC-2F25-8422-B7DD93301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 K- Nearest neighbours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Decision Tree and Random forest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Boosting Techniques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Support Vector machines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Naive bayes</a:t>
            </a:r>
          </a:p>
          <a:p>
            <a:r>
              <a:rPr lang="en-IN" dirty="0">
                <a:solidFill>
                  <a:srgbClr val="000000"/>
                </a:solidFill>
                <a:effectLst/>
                <a:latin typeface="Times" pitchFamily="2" charset="0"/>
              </a:rPr>
              <a:t>k-Fold Cross Validation and Grid Search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2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7025-CD8A-D72D-BFFF-9C5F59FF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KNearest</a:t>
            </a:r>
            <a:r>
              <a:rPr lang="en-US" dirty="0"/>
              <a:t> </a:t>
            </a:r>
            <a:r>
              <a:rPr lang="en-US" dirty="0" err="1"/>
              <a:t>Neighbour</a:t>
            </a:r>
            <a:endParaRPr lang="en-US" dirty="0"/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2A423260-E5FB-A5D2-47B1-79B089597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088" y="2250472"/>
            <a:ext cx="4755565" cy="2742793"/>
          </a:xfr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20D5C181-1980-CEE5-D7C0-5C77DB6A3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498" y="2150074"/>
            <a:ext cx="5038302" cy="284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103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EAF3-0F32-D7DB-E548-28972B9FF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759E023F-6B5F-6C51-727A-2CFD0FE046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3350" y="2343944"/>
            <a:ext cx="6845300" cy="3314700"/>
          </a:xfrm>
        </p:spPr>
      </p:pic>
    </p:spTree>
    <p:extLst>
      <p:ext uri="{BB962C8B-B14F-4D97-AF65-F5344CB8AC3E}">
        <p14:creationId xmlns:p14="http://schemas.microsoft.com/office/powerpoint/2010/main" val="48489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BD4F-C9FE-0BAE-C1AC-40B74813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Table&#10;&#10;Description automatically generated">
            <a:extLst>
              <a:ext uri="{FF2B5EF4-FFF2-40B4-BE49-F238E27FC236}">
                <a16:creationId xmlns:a16="http://schemas.microsoft.com/office/drawing/2014/main" id="{8FDDCB70-39F2-52E1-FA52-D4401C50D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6798" y="1928898"/>
            <a:ext cx="4699000" cy="3784600"/>
          </a:xfrm>
          <a:prstGeom prst="rect">
            <a:avLst/>
          </a:prstGeom>
        </p:spPr>
      </p:pic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D75DDC5E-04FA-F6D6-77B6-AC414096F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33412"/>
            <a:ext cx="5403679" cy="23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577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0E4-F0DA-41E1-A555-56D06429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32EEA-71A9-E663-D448-FA93BD30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Gain</a:t>
            </a:r>
          </a:p>
          <a:p>
            <a:r>
              <a:rPr lang="en-US" dirty="0"/>
              <a:t>Gini Index</a:t>
            </a:r>
          </a:p>
        </p:txBody>
      </p:sp>
    </p:spTree>
    <p:extLst>
      <p:ext uri="{BB962C8B-B14F-4D97-AF65-F5344CB8AC3E}">
        <p14:creationId xmlns:p14="http://schemas.microsoft.com/office/powerpoint/2010/main" val="1021942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D40E4-F0DA-41E1-A555-56D06429C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Gain(S, A) = Entropy(S) - \sum_{v \epsilon  Values(A)}\frac{\left | S_{v} \right |}{\left | S \right |}. Entropy(S_{v})">
            <a:extLst>
              <a:ext uri="{FF2B5EF4-FFF2-40B4-BE49-F238E27FC236}">
                <a16:creationId xmlns:a16="http://schemas.microsoft.com/office/drawing/2014/main" id="{8606C59C-07CF-13F0-D5CC-DFCFA851D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367" y="2420894"/>
            <a:ext cx="853440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432EEA-71A9-E663-D448-FA93BD30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 Gain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FDCF03-4546-4E7D-9ABF-BF6C279F9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367" y="3140504"/>
            <a:ext cx="71882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89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C94A-4FFA-B9C8-C599-CB8F1FAD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17129F-5BCB-091D-31C4-0E389D130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62" y="1825625"/>
            <a:ext cx="1473200" cy="337820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E22FC879-6309-27A0-E1C9-3DEC20EDC5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804" y="1943444"/>
            <a:ext cx="3569559" cy="17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A79F642-BD8E-453E-6061-2B14FC181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8005" y="1943444"/>
            <a:ext cx="3869209" cy="1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1B96EC1D-A758-57F6-807E-2D4E372A7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041" y="4080218"/>
            <a:ext cx="5012568" cy="2247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744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34118-B2E3-C68A-FD04-8BC10B6F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RandomForest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18173B72-02AF-33BB-C918-92D365ADEB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6108" y="1690688"/>
            <a:ext cx="4111113" cy="4351338"/>
          </a:xfrm>
        </p:spPr>
      </p:pic>
    </p:spTree>
    <p:extLst>
      <p:ext uri="{BB962C8B-B14F-4D97-AF65-F5344CB8AC3E}">
        <p14:creationId xmlns:p14="http://schemas.microsoft.com/office/powerpoint/2010/main" val="1875329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64EF-41CE-A66E-3AFD-9B625EE4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Boosting Technique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7473C26-F65F-6FD9-1961-36242B532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8523" y="1825625"/>
            <a:ext cx="2534953" cy="4351338"/>
          </a:xfrm>
        </p:spPr>
      </p:pic>
    </p:spTree>
    <p:extLst>
      <p:ext uri="{BB962C8B-B14F-4D97-AF65-F5344CB8AC3E}">
        <p14:creationId xmlns:p14="http://schemas.microsoft.com/office/powerpoint/2010/main" val="802172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46FF-7323-089F-F265-8ACA675C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02D66602-09F9-6B75-C099-0223FE3ECF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1912" y="1344699"/>
            <a:ext cx="3086100" cy="2184400"/>
          </a:xfr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C1F9821D-7CAD-7EBF-C20C-BC1A47028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306" y="1270000"/>
            <a:ext cx="3022600" cy="2159000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88CDE52E-978F-1487-53F5-CA6C08478E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00" y="1231900"/>
            <a:ext cx="3060700" cy="22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9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70B2-95F3-3DC0-9158-F5CB4F035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</a:t>
            </a:r>
          </a:p>
        </p:txBody>
      </p:sp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322B71F3-3B8D-57F5-B28C-C4C34067B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535" y="1690688"/>
            <a:ext cx="2997200" cy="2590800"/>
          </a:xfr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F36E94EC-2DAA-464D-58F8-69561019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991" y="1811338"/>
            <a:ext cx="2755900" cy="2349500"/>
          </a:xfrm>
          <a:prstGeom prst="rect">
            <a:avLst/>
          </a:prstGeom>
        </p:spPr>
      </p:pic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4AD3CD14-C2DA-44C6-B586-F5FBBABAC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800" y="1811338"/>
            <a:ext cx="27940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780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5857-FE58-75C7-8701-1C40B47D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SVM 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97E0-4CEE-FD66-2A25-70FA6FD382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Polynomial Kernel </a:t>
            </a:r>
          </a:p>
          <a:p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Gaussian Kernel</a:t>
            </a:r>
          </a:p>
          <a:p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Radial Basis Function (RBF)</a:t>
            </a:r>
          </a:p>
          <a:p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Laplace RBF Kernel</a:t>
            </a:r>
          </a:p>
          <a:p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Sigmoid Kernel</a:t>
            </a:r>
          </a:p>
          <a:p>
            <a:r>
              <a:rPr lang="en-IN" i="0" dirty="0" err="1">
                <a:solidFill>
                  <a:srgbClr val="292929"/>
                </a:solidFill>
                <a:effectLst/>
                <a:latin typeface="source-serif-pro"/>
              </a:rPr>
              <a:t>Anove</a:t>
            </a:r>
            <a:r>
              <a:rPr lang="en-IN" i="0" dirty="0">
                <a:solidFill>
                  <a:srgbClr val="292929"/>
                </a:solidFill>
                <a:effectLst/>
                <a:latin typeface="source-serif-pro"/>
              </a:rPr>
              <a:t> RBF Kernel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0896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64134-DD72-6515-CA21-0F1B2E8E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Bayes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18BCCC-137E-4DD7-F56D-285278FB9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35691" y="2043524"/>
            <a:ext cx="1270000" cy="215900"/>
          </a:xfr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0BCDD03-FA7B-FD09-C149-75BCFA013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3961" y="3046970"/>
            <a:ext cx="1219200" cy="2159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0AED664-4331-4E75-AABC-D741E7FAEE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08711" y="4159937"/>
            <a:ext cx="1409700" cy="127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640ABB0-F8C1-FD7F-B9C7-EE55513727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08711" y="5055433"/>
            <a:ext cx="2476500" cy="2159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709AA32-0BC1-FEE5-8167-8ED5C0FA5C6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08711" y="6039829"/>
            <a:ext cx="19812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221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9B526-68D9-1B71-809E-A5DCC5C8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KFold</a:t>
            </a:r>
            <a:endParaRPr lang="en-US" dirty="0"/>
          </a:p>
        </p:txBody>
      </p:sp>
      <p:pic>
        <p:nvPicPr>
          <p:cNvPr id="5" name="Content Placeholder 4" descr="Chart, calendar, waterfall chart&#10;&#10;Description automatically generated">
            <a:extLst>
              <a:ext uri="{FF2B5EF4-FFF2-40B4-BE49-F238E27FC236}">
                <a16:creationId xmlns:a16="http://schemas.microsoft.com/office/drawing/2014/main" id="{DCCD8341-EB08-BEA1-6E66-A5F22CF994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8905" y="1825625"/>
            <a:ext cx="8414189" cy="4351338"/>
          </a:xfrm>
        </p:spPr>
      </p:pic>
    </p:spTree>
    <p:extLst>
      <p:ext uri="{BB962C8B-B14F-4D97-AF65-F5344CB8AC3E}">
        <p14:creationId xmlns:p14="http://schemas.microsoft.com/office/powerpoint/2010/main" val="2141465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3792-D04D-7986-7D29-96CCC6608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651CF-3BD0-2D56-DDC0-A082DEEE0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effectLst/>
              </a:rPr>
              <a:t>param_grid</a:t>
            </a:r>
            <a:r>
              <a:rPr lang="en-IN" dirty="0">
                <a:solidFill>
                  <a:srgbClr val="F92672"/>
                </a:solidFill>
                <a:effectLst/>
              </a:rPr>
              <a:t>=</a:t>
            </a:r>
            <a:r>
              <a:rPr lang="en-IN" dirty="0">
                <a:effectLst/>
              </a:rPr>
              <a:t>{ </a:t>
            </a:r>
            <a:r>
              <a:rPr lang="en-IN" dirty="0">
                <a:solidFill>
                  <a:srgbClr val="E6DB74"/>
                </a:solidFill>
                <a:effectLst/>
              </a:rPr>
              <a:t>'C'</a:t>
            </a:r>
            <a:r>
              <a:rPr lang="en-IN" dirty="0">
                <a:effectLst/>
              </a:rPr>
              <a:t>: [</a:t>
            </a:r>
            <a:r>
              <a:rPr lang="en-IN" dirty="0">
                <a:solidFill>
                  <a:srgbClr val="AE81FF"/>
                </a:solidFill>
                <a:effectLst/>
              </a:rPr>
              <a:t>1.1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5.4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170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1001</a:t>
            </a:r>
            <a:r>
              <a:rPr lang="en-IN" dirty="0">
                <a:effectLst/>
              </a:rPr>
              <a:t>], 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E6DB74"/>
                </a:solidFill>
              </a:rPr>
              <a:t>	</a:t>
            </a:r>
            <a:r>
              <a:rPr lang="en-IN" dirty="0">
                <a:solidFill>
                  <a:srgbClr val="E6DB74"/>
                </a:solidFill>
                <a:effectLst/>
              </a:rPr>
              <a:t>'epsilon'</a:t>
            </a:r>
            <a:r>
              <a:rPr lang="en-IN" dirty="0">
                <a:effectLst/>
              </a:rPr>
              <a:t>: [</a:t>
            </a:r>
            <a:r>
              <a:rPr lang="en-IN" dirty="0">
                <a:solidFill>
                  <a:srgbClr val="AE81FF"/>
                </a:solidFill>
                <a:effectLst/>
              </a:rPr>
              <a:t>0.0003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0.007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0.0109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0.019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0.14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0.05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8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0.2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3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2</a:t>
            </a:r>
            <a:r>
              <a:rPr lang="en-IN" dirty="0">
                <a:effectLst/>
              </a:rPr>
              <a:t>, </a:t>
            </a:r>
            <a:r>
              <a:rPr lang="en-IN" dirty="0">
                <a:solidFill>
                  <a:srgbClr val="AE81FF"/>
                </a:solidFill>
                <a:effectLst/>
              </a:rPr>
              <a:t>7</a:t>
            </a:r>
            <a:r>
              <a:rPr lang="en-IN" dirty="0">
                <a:effectLst/>
              </a:rPr>
              <a:t>],</a:t>
            </a:r>
          </a:p>
          <a:p>
            <a:pPr marL="914400" lvl="2" indent="0">
              <a:buNone/>
            </a:pPr>
            <a:r>
              <a:rPr lang="en-IN"/>
              <a:t>	</a:t>
            </a:r>
            <a:r>
              <a:rPr lang="en-IN">
                <a:effectLst/>
              </a:rPr>
              <a:t> </a:t>
            </a:r>
            <a:r>
              <a:rPr lang="en-IN">
                <a:solidFill>
                  <a:srgbClr val="E6DB74"/>
                </a:solidFill>
                <a:effectLst/>
              </a:rPr>
              <a:t>'gamma'</a:t>
            </a:r>
            <a:r>
              <a:rPr lang="en-IN">
                <a:effectLst/>
              </a:rPr>
              <a:t>: [</a:t>
            </a:r>
            <a:r>
              <a:rPr lang="en-IN">
                <a:solidFill>
                  <a:srgbClr val="AE81FF"/>
                </a:solidFill>
                <a:effectLst/>
              </a:rPr>
              <a:t>0.7001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0.008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0.001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3.1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1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1.3</a:t>
            </a:r>
            <a:r>
              <a:rPr lang="en-IN">
                <a:effectLst/>
              </a:rPr>
              <a:t>, </a:t>
            </a:r>
            <a:r>
              <a:rPr lang="en-IN">
                <a:solidFill>
                  <a:srgbClr val="AE81FF"/>
                </a:solidFill>
                <a:effectLst/>
              </a:rPr>
              <a:t>5</a:t>
            </a:r>
            <a:r>
              <a:rPr lang="en-IN">
                <a:effectLst/>
              </a:rPr>
              <a:t>] 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932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F0A3A-4936-F231-6F6C-67D3E2ED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7FB8F-0159-EE91-3367-2147CC814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KNN : </a:t>
            </a:r>
            <a:r>
              <a:rPr lang="en-US" dirty="0">
                <a:hlinkClick r:id="rId2"/>
              </a:rPr>
              <a:t>https://www.geeksforgeeks.org/k-nearest-neighbours/</a:t>
            </a:r>
            <a:endParaRPr lang="en-US" dirty="0"/>
          </a:p>
          <a:p>
            <a:r>
              <a:rPr lang="en-US" dirty="0"/>
              <a:t>DT : </a:t>
            </a:r>
            <a:r>
              <a:rPr lang="en-US" dirty="0">
                <a:hlinkClick r:id="rId3"/>
              </a:rPr>
              <a:t>https://www.geeksforgeeks.org/decision-tree-introduction-example/</a:t>
            </a:r>
            <a:endParaRPr lang="en-US" dirty="0"/>
          </a:p>
          <a:p>
            <a:r>
              <a:rPr lang="en-US" dirty="0"/>
              <a:t>DT : </a:t>
            </a:r>
            <a:r>
              <a:rPr lang="en-US" dirty="0">
                <a:hlinkClick r:id="rId4"/>
              </a:rPr>
              <a:t>https://www.analyticsvidhya.com/blog/2021/08/decision-tree-algorithm/</a:t>
            </a:r>
            <a:endParaRPr lang="en-US" dirty="0"/>
          </a:p>
          <a:p>
            <a:r>
              <a:rPr lang="en-US" dirty="0" err="1"/>
              <a:t>RandomForest</a:t>
            </a:r>
            <a:r>
              <a:rPr lang="en-US" dirty="0"/>
              <a:t> : </a:t>
            </a:r>
            <a:r>
              <a:rPr lang="en-US" dirty="0">
                <a:hlinkClick r:id="rId5"/>
              </a:rPr>
              <a:t>https://www.analyticsvidhya.com/blog/2021/06/understanding-random-forest/</a:t>
            </a:r>
            <a:endParaRPr lang="en-US" dirty="0"/>
          </a:p>
          <a:p>
            <a:r>
              <a:rPr lang="en-US" dirty="0"/>
              <a:t>SVM: </a:t>
            </a:r>
            <a:r>
              <a:rPr lang="en-US" dirty="0">
                <a:hlinkClick r:id="rId6"/>
              </a:rPr>
              <a:t>https://www.analyticsvidhya.com/blog/2017/09/understaing-support-vector-machine-example-code/</a:t>
            </a:r>
            <a:endParaRPr lang="en-US" dirty="0"/>
          </a:p>
          <a:p>
            <a:r>
              <a:rPr lang="en-US" dirty="0" err="1"/>
              <a:t>Kfold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https://towardsdatascience.com/cross-validation-and-grid-search-efa64b127c1b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2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5144</TotalTime>
  <Words>209</Words>
  <Application>Microsoft Macintosh PowerPoint</Application>
  <PresentationFormat>Widescreen</PresentationFormat>
  <Paragraphs>38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source-serif-pro</vt:lpstr>
      <vt:lpstr>Times</vt:lpstr>
      <vt:lpstr>Office Theme</vt:lpstr>
      <vt:lpstr>Additional ML Models</vt:lpstr>
      <vt:lpstr>Agenda</vt:lpstr>
      <vt:lpstr>KNearest Neighbour</vt:lpstr>
      <vt:lpstr>Decision Tree</vt:lpstr>
      <vt:lpstr>PowerPoint Presentation</vt:lpstr>
      <vt:lpstr>PowerPoint Presentation</vt:lpstr>
      <vt:lpstr>PowerPoint Presentation</vt:lpstr>
      <vt:lpstr>PowerPoint Presentation</vt:lpstr>
      <vt:lpstr>RandomForest</vt:lpstr>
      <vt:lpstr>Boosting Technique</vt:lpstr>
      <vt:lpstr>SVM</vt:lpstr>
      <vt:lpstr>SVM</vt:lpstr>
      <vt:lpstr>SVM Kernel</vt:lpstr>
      <vt:lpstr>Naïve Bayes</vt:lpstr>
      <vt:lpstr>KFold</vt:lpstr>
      <vt:lpstr>Grid Search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Supriya V</dc:creator>
  <cp:lastModifiedBy>Supriya V</cp:lastModifiedBy>
  <cp:revision>4</cp:revision>
  <dcterms:created xsi:type="dcterms:W3CDTF">2022-10-11T09:22:23Z</dcterms:created>
  <dcterms:modified xsi:type="dcterms:W3CDTF">2022-10-17T06:14:51Z</dcterms:modified>
</cp:coreProperties>
</file>
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62" r:id="rId4"/>
    <p:sldId id="259" r:id="rId5"/>
    <p:sldId id="258" r:id="rId6"/>
    <p:sldId id="261" r:id="rId7"/>
    <p:sldId id="260" r:id="rId8"/>
    <p:sldId id="264" r:id="rId9"/>
    <p:sldId id="265" r:id="rId10"/>
    <p:sldId id="266" r:id="rId11"/>
    <p:sldId id="267" r:id="rId12"/>
    <p:sldId id="263" r:id="rId13"/>
    <p:sldId id="273" r:id="rId14"/>
    <p:sldId id="268" r:id="rId15"/>
    <p:sldId id="269" r:id="rId16"/>
    <p:sldId id="272"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60"/>
    <p:restoredTop sz="94694"/>
  </p:normalViewPr>
  <p:slideViewPr>
    <p:cSldViewPr snapToGrid="0">
      <p:cViewPr varScale="1">
        <p:scale>
          <a:sx n="121" d="100"/>
          <a:sy n="121" d="100"/>
        </p:scale>
        <p:origin x="51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D8D044-0F22-2A42-8F0D-5CC8F1F1781C}" type="datetimeFigureOut">
              <a:rPr lang="en-US" smtClean="0"/>
              <a:t>10/11/22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74147B-6F5F-1E4E-B52C-8F5629B41E6B}" type="slidenum">
              <a:rPr lang="en-US" smtClean="0"/>
              <a:t>‹#›</a:t>
            </a:fld>
            <a:endParaRPr lang="en-US"/>
          </a:p>
        </p:txBody>
      </p:sp>
    </p:spTree>
    <p:extLst>
      <p:ext uri="{BB962C8B-B14F-4D97-AF65-F5344CB8AC3E}">
        <p14:creationId xmlns:p14="http://schemas.microsoft.com/office/powerpoint/2010/main" val="2415842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dirty="0">
                <a:effectLst/>
                <a:latin typeface="+mn-lt"/>
                <a:cs typeface="Times New Roman" panose="02020603050405020304" pitchFamily="18" charset="0"/>
              </a:rPr>
              <a:t>The complexity relates to the number of coefficients or weights (or features) that a model uses for its predictions. </a:t>
            </a:r>
            <a:endParaRPr lang="en-US" dirty="0"/>
          </a:p>
        </p:txBody>
      </p:sp>
      <p:sp>
        <p:nvSpPr>
          <p:cNvPr id="4" name="Slide Number Placeholder 3"/>
          <p:cNvSpPr>
            <a:spLocks noGrp="1"/>
          </p:cNvSpPr>
          <p:nvPr>
            <p:ph type="sldNum" sz="quarter" idx="5"/>
          </p:nvPr>
        </p:nvSpPr>
        <p:spPr/>
        <p:txBody>
          <a:bodyPr/>
          <a:lstStyle/>
          <a:p>
            <a:fld id="{F774147B-6F5F-1E4E-B52C-8F5629B41E6B}" type="slidenum">
              <a:rPr lang="en-US" smtClean="0"/>
              <a:t>17</a:t>
            </a:fld>
            <a:endParaRPr lang="en-US"/>
          </a:p>
        </p:txBody>
      </p:sp>
    </p:spTree>
    <p:extLst>
      <p:ext uri="{BB962C8B-B14F-4D97-AF65-F5344CB8AC3E}">
        <p14:creationId xmlns:p14="http://schemas.microsoft.com/office/powerpoint/2010/main" val="3927646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826F5-CB22-8CAF-C021-5A4A1921CB6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66B47BF-4442-10FB-4983-364CBD3936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322AE99-9FA6-9854-2055-35ABBBB099D7}"/>
              </a:ext>
            </a:extLst>
          </p:cNvPr>
          <p:cNvSpPr>
            <a:spLocks noGrp="1"/>
          </p:cNvSpPr>
          <p:nvPr>
            <p:ph type="dt" sz="half" idx="10"/>
          </p:nvPr>
        </p:nvSpPr>
        <p:spPr/>
        <p:txBody>
          <a:bodyPr/>
          <a:lstStyle/>
          <a:p>
            <a:fld id="{7A3E7140-D0F2-5E4E-8CFE-8FFFB3F5831B}" type="datetimeFigureOut">
              <a:rPr lang="en-US" smtClean="0"/>
              <a:t>10/11/22</a:t>
            </a:fld>
            <a:endParaRPr lang="en-US"/>
          </a:p>
        </p:txBody>
      </p:sp>
      <p:sp>
        <p:nvSpPr>
          <p:cNvPr id="5" name="Footer Placeholder 4">
            <a:extLst>
              <a:ext uri="{FF2B5EF4-FFF2-40B4-BE49-F238E27FC236}">
                <a16:creationId xmlns:a16="http://schemas.microsoft.com/office/drawing/2014/main" id="{D450BBA1-9D06-FCBA-3530-29AFEC79C1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E62BC7-E0A6-122D-329F-7B2D293999A6}"/>
              </a:ext>
            </a:extLst>
          </p:cNvPr>
          <p:cNvSpPr>
            <a:spLocks noGrp="1"/>
          </p:cNvSpPr>
          <p:nvPr>
            <p:ph type="sldNum" sz="quarter" idx="12"/>
          </p:nvPr>
        </p:nvSpPr>
        <p:spPr/>
        <p:txBody>
          <a:bodyPr/>
          <a:lstStyle/>
          <a:p>
            <a:fld id="{3D7DC507-63AB-5E46-BFE8-45FE518DC77B}" type="slidenum">
              <a:rPr lang="en-US" smtClean="0"/>
              <a:t>‹#›</a:t>
            </a:fld>
            <a:endParaRPr lang="en-US"/>
          </a:p>
        </p:txBody>
      </p:sp>
    </p:spTree>
    <p:extLst>
      <p:ext uri="{BB962C8B-B14F-4D97-AF65-F5344CB8AC3E}">
        <p14:creationId xmlns:p14="http://schemas.microsoft.com/office/powerpoint/2010/main" val="2232779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C478D-C44D-85FE-E9DB-90980B6AE25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5AFF51B-F9FC-2150-08BC-9C69F4BB802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BBE8741-28E3-D70D-304B-CF5DFDA205A4}"/>
              </a:ext>
            </a:extLst>
          </p:cNvPr>
          <p:cNvSpPr>
            <a:spLocks noGrp="1"/>
          </p:cNvSpPr>
          <p:nvPr>
            <p:ph type="dt" sz="half" idx="10"/>
          </p:nvPr>
        </p:nvSpPr>
        <p:spPr/>
        <p:txBody>
          <a:bodyPr/>
          <a:lstStyle/>
          <a:p>
            <a:fld id="{7A3E7140-D0F2-5E4E-8CFE-8FFFB3F5831B}" type="datetimeFigureOut">
              <a:rPr lang="en-US" smtClean="0"/>
              <a:t>10/11/22</a:t>
            </a:fld>
            <a:endParaRPr lang="en-US"/>
          </a:p>
        </p:txBody>
      </p:sp>
      <p:sp>
        <p:nvSpPr>
          <p:cNvPr id="5" name="Footer Placeholder 4">
            <a:extLst>
              <a:ext uri="{FF2B5EF4-FFF2-40B4-BE49-F238E27FC236}">
                <a16:creationId xmlns:a16="http://schemas.microsoft.com/office/drawing/2014/main" id="{2B3B0C41-9F31-0B45-92C4-90B3CBA41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83C242-9EC5-2F36-40F5-29B91B111920}"/>
              </a:ext>
            </a:extLst>
          </p:cNvPr>
          <p:cNvSpPr>
            <a:spLocks noGrp="1"/>
          </p:cNvSpPr>
          <p:nvPr>
            <p:ph type="sldNum" sz="quarter" idx="12"/>
          </p:nvPr>
        </p:nvSpPr>
        <p:spPr/>
        <p:txBody>
          <a:bodyPr/>
          <a:lstStyle/>
          <a:p>
            <a:fld id="{3D7DC507-63AB-5E46-BFE8-45FE518DC77B}" type="slidenum">
              <a:rPr lang="en-US" smtClean="0"/>
              <a:t>‹#›</a:t>
            </a:fld>
            <a:endParaRPr lang="en-US"/>
          </a:p>
        </p:txBody>
      </p:sp>
    </p:spTree>
    <p:extLst>
      <p:ext uri="{BB962C8B-B14F-4D97-AF65-F5344CB8AC3E}">
        <p14:creationId xmlns:p14="http://schemas.microsoft.com/office/powerpoint/2010/main" val="3261495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8DA81-4661-3A26-5BF6-44D0AC52187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8427DAB-1CB9-F338-0BC4-48634AA151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31C549D-C58E-8C6A-EE46-ADE95EC0B9B5}"/>
              </a:ext>
            </a:extLst>
          </p:cNvPr>
          <p:cNvSpPr>
            <a:spLocks noGrp="1"/>
          </p:cNvSpPr>
          <p:nvPr>
            <p:ph type="dt" sz="half" idx="10"/>
          </p:nvPr>
        </p:nvSpPr>
        <p:spPr/>
        <p:txBody>
          <a:bodyPr/>
          <a:lstStyle/>
          <a:p>
            <a:fld id="{7A3E7140-D0F2-5E4E-8CFE-8FFFB3F5831B}" type="datetimeFigureOut">
              <a:rPr lang="en-US" smtClean="0"/>
              <a:t>10/11/22</a:t>
            </a:fld>
            <a:endParaRPr lang="en-US"/>
          </a:p>
        </p:txBody>
      </p:sp>
      <p:sp>
        <p:nvSpPr>
          <p:cNvPr id="5" name="Footer Placeholder 4">
            <a:extLst>
              <a:ext uri="{FF2B5EF4-FFF2-40B4-BE49-F238E27FC236}">
                <a16:creationId xmlns:a16="http://schemas.microsoft.com/office/drawing/2014/main" id="{CD83845D-E849-46BF-0527-5E77B50135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A1C79-B586-06E2-4138-30D893113FD9}"/>
              </a:ext>
            </a:extLst>
          </p:cNvPr>
          <p:cNvSpPr>
            <a:spLocks noGrp="1"/>
          </p:cNvSpPr>
          <p:nvPr>
            <p:ph type="sldNum" sz="quarter" idx="12"/>
          </p:nvPr>
        </p:nvSpPr>
        <p:spPr/>
        <p:txBody>
          <a:bodyPr/>
          <a:lstStyle/>
          <a:p>
            <a:fld id="{3D7DC507-63AB-5E46-BFE8-45FE518DC77B}" type="slidenum">
              <a:rPr lang="en-US" smtClean="0"/>
              <a:t>‹#›</a:t>
            </a:fld>
            <a:endParaRPr lang="en-US"/>
          </a:p>
        </p:txBody>
      </p:sp>
    </p:spTree>
    <p:extLst>
      <p:ext uri="{BB962C8B-B14F-4D97-AF65-F5344CB8AC3E}">
        <p14:creationId xmlns:p14="http://schemas.microsoft.com/office/powerpoint/2010/main" val="2693202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A1F94-9AD8-E279-8737-F5257051830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82D3138-6AF9-D48A-17AC-E37BE37BC2F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B444462-6B61-5000-CFBD-50EF8C46CB7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CCAE385-D27F-49B9-EAA7-823450C05C4E}"/>
              </a:ext>
            </a:extLst>
          </p:cNvPr>
          <p:cNvSpPr>
            <a:spLocks noGrp="1"/>
          </p:cNvSpPr>
          <p:nvPr>
            <p:ph type="dt" sz="half" idx="10"/>
          </p:nvPr>
        </p:nvSpPr>
        <p:spPr/>
        <p:txBody>
          <a:bodyPr/>
          <a:lstStyle/>
          <a:p>
            <a:fld id="{7A3E7140-D0F2-5E4E-8CFE-8FFFB3F5831B}" type="datetimeFigureOut">
              <a:rPr lang="en-US" smtClean="0"/>
              <a:t>10/11/22</a:t>
            </a:fld>
            <a:endParaRPr lang="en-US"/>
          </a:p>
        </p:txBody>
      </p:sp>
      <p:sp>
        <p:nvSpPr>
          <p:cNvPr id="6" name="Footer Placeholder 5">
            <a:extLst>
              <a:ext uri="{FF2B5EF4-FFF2-40B4-BE49-F238E27FC236}">
                <a16:creationId xmlns:a16="http://schemas.microsoft.com/office/drawing/2014/main" id="{2E46B3F2-2D06-2F80-ED33-5F4E75AF7F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1F23EA-8D5F-35A1-0466-26DB59BC4360}"/>
              </a:ext>
            </a:extLst>
          </p:cNvPr>
          <p:cNvSpPr>
            <a:spLocks noGrp="1"/>
          </p:cNvSpPr>
          <p:nvPr>
            <p:ph type="sldNum" sz="quarter" idx="12"/>
          </p:nvPr>
        </p:nvSpPr>
        <p:spPr/>
        <p:txBody>
          <a:bodyPr/>
          <a:lstStyle/>
          <a:p>
            <a:fld id="{3D7DC507-63AB-5E46-BFE8-45FE518DC77B}" type="slidenum">
              <a:rPr lang="en-US" smtClean="0"/>
              <a:t>‹#›</a:t>
            </a:fld>
            <a:endParaRPr lang="en-US"/>
          </a:p>
        </p:txBody>
      </p:sp>
    </p:spTree>
    <p:extLst>
      <p:ext uri="{BB962C8B-B14F-4D97-AF65-F5344CB8AC3E}">
        <p14:creationId xmlns:p14="http://schemas.microsoft.com/office/powerpoint/2010/main" val="603192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5850F-8850-252B-DC5F-B3E8C8C4CF0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5ACC162-E9EE-25F9-E441-A3E66BEB0E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E46CCB6-8850-1B50-5052-45E433214EC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EAE3E9F-3106-F953-DB8D-4979D0BBA6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4063BD6-C69C-3BA4-3C89-91656BCC479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9D3F76E-981A-2C5F-AA65-0689362996A6}"/>
              </a:ext>
            </a:extLst>
          </p:cNvPr>
          <p:cNvSpPr>
            <a:spLocks noGrp="1"/>
          </p:cNvSpPr>
          <p:nvPr>
            <p:ph type="dt" sz="half" idx="10"/>
          </p:nvPr>
        </p:nvSpPr>
        <p:spPr/>
        <p:txBody>
          <a:bodyPr/>
          <a:lstStyle/>
          <a:p>
            <a:fld id="{7A3E7140-D0F2-5E4E-8CFE-8FFFB3F5831B}" type="datetimeFigureOut">
              <a:rPr lang="en-US" smtClean="0"/>
              <a:t>10/11/22</a:t>
            </a:fld>
            <a:endParaRPr lang="en-US"/>
          </a:p>
        </p:txBody>
      </p:sp>
      <p:sp>
        <p:nvSpPr>
          <p:cNvPr id="8" name="Footer Placeholder 7">
            <a:extLst>
              <a:ext uri="{FF2B5EF4-FFF2-40B4-BE49-F238E27FC236}">
                <a16:creationId xmlns:a16="http://schemas.microsoft.com/office/drawing/2014/main" id="{C2B62B6A-1CD9-91EE-8446-6D837A291B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1E78EE-50E3-6131-BEED-8CFB83292DF2}"/>
              </a:ext>
            </a:extLst>
          </p:cNvPr>
          <p:cNvSpPr>
            <a:spLocks noGrp="1"/>
          </p:cNvSpPr>
          <p:nvPr>
            <p:ph type="sldNum" sz="quarter" idx="12"/>
          </p:nvPr>
        </p:nvSpPr>
        <p:spPr/>
        <p:txBody>
          <a:bodyPr/>
          <a:lstStyle/>
          <a:p>
            <a:fld id="{3D7DC507-63AB-5E46-BFE8-45FE518DC77B}" type="slidenum">
              <a:rPr lang="en-US" smtClean="0"/>
              <a:t>‹#›</a:t>
            </a:fld>
            <a:endParaRPr lang="en-US"/>
          </a:p>
        </p:txBody>
      </p:sp>
    </p:spTree>
    <p:extLst>
      <p:ext uri="{BB962C8B-B14F-4D97-AF65-F5344CB8AC3E}">
        <p14:creationId xmlns:p14="http://schemas.microsoft.com/office/powerpoint/2010/main" val="1971185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4F1D3-56BD-0D24-C826-5495315AFB7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8589DA8-F664-BB52-707F-295983E7D466}"/>
              </a:ext>
            </a:extLst>
          </p:cNvPr>
          <p:cNvSpPr>
            <a:spLocks noGrp="1"/>
          </p:cNvSpPr>
          <p:nvPr>
            <p:ph type="dt" sz="half" idx="10"/>
          </p:nvPr>
        </p:nvSpPr>
        <p:spPr/>
        <p:txBody>
          <a:bodyPr/>
          <a:lstStyle/>
          <a:p>
            <a:fld id="{7A3E7140-D0F2-5E4E-8CFE-8FFFB3F5831B}" type="datetimeFigureOut">
              <a:rPr lang="en-US" smtClean="0"/>
              <a:t>10/11/22</a:t>
            </a:fld>
            <a:endParaRPr lang="en-US"/>
          </a:p>
        </p:txBody>
      </p:sp>
      <p:sp>
        <p:nvSpPr>
          <p:cNvPr id="4" name="Footer Placeholder 3">
            <a:extLst>
              <a:ext uri="{FF2B5EF4-FFF2-40B4-BE49-F238E27FC236}">
                <a16:creationId xmlns:a16="http://schemas.microsoft.com/office/drawing/2014/main" id="{65DB46E0-05B1-1073-BC7E-ED0FC58E7B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A924472-FFC6-F777-797B-178B61E5984E}"/>
              </a:ext>
            </a:extLst>
          </p:cNvPr>
          <p:cNvSpPr>
            <a:spLocks noGrp="1"/>
          </p:cNvSpPr>
          <p:nvPr>
            <p:ph type="sldNum" sz="quarter" idx="12"/>
          </p:nvPr>
        </p:nvSpPr>
        <p:spPr/>
        <p:txBody>
          <a:bodyPr/>
          <a:lstStyle/>
          <a:p>
            <a:fld id="{3D7DC507-63AB-5E46-BFE8-45FE518DC77B}" type="slidenum">
              <a:rPr lang="en-US" smtClean="0"/>
              <a:t>‹#›</a:t>
            </a:fld>
            <a:endParaRPr lang="en-US"/>
          </a:p>
        </p:txBody>
      </p:sp>
    </p:spTree>
    <p:extLst>
      <p:ext uri="{BB962C8B-B14F-4D97-AF65-F5344CB8AC3E}">
        <p14:creationId xmlns:p14="http://schemas.microsoft.com/office/powerpoint/2010/main" val="1734723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24F622-75E7-0180-190C-E85B8F9D3830}"/>
              </a:ext>
            </a:extLst>
          </p:cNvPr>
          <p:cNvSpPr>
            <a:spLocks noGrp="1"/>
          </p:cNvSpPr>
          <p:nvPr>
            <p:ph type="dt" sz="half" idx="10"/>
          </p:nvPr>
        </p:nvSpPr>
        <p:spPr/>
        <p:txBody>
          <a:bodyPr/>
          <a:lstStyle/>
          <a:p>
            <a:fld id="{7A3E7140-D0F2-5E4E-8CFE-8FFFB3F5831B}" type="datetimeFigureOut">
              <a:rPr lang="en-US" smtClean="0"/>
              <a:t>10/11/22</a:t>
            </a:fld>
            <a:endParaRPr lang="en-US"/>
          </a:p>
        </p:txBody>
      </p:sp>
      <p:sp>
        <p:nvSpPr>
          <p:cNvPr id="3" name="Footer Placeholder 2">
            <a:extLst>
              <a:ext uri="{FF2B5EF4-FFF2-40B4-BE49-F238E27FC236}">
                <a16:creationId xmlns:a16="http://schemas.microsoft.com/office/drawing/2014/main" id="{F345B30C-3F44-3B31-CF5D-5AA3F79B4E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0FFD94-9E50-0B7D-0F1C-950B8CBE7F36}"/>
              </a:ext>
            </a:extLst>
          </p:cNvPr>
          <p:cNvSpPr>
            <a:spLocks noGrp="1"/>
          </p:cNvSpPr>
          <p:nvPr>
            <p:ph type="sldNum" sz="quarter" idx="12"/>
          </p:nvPr>
        </p:nvSpPr>
        <p:spPr/>
        <p:txBody>
          <a:bodyPr/>
          <a:lstStyle/>
          <a:p>
            <a:fld id="{3D7DC507-63AB-5E46-BFE8-45FE518DC77B}" type="slidenum">
              <a:rPr lang="en-US" smtClean="0"/>
              <a:t>‹#›</a:t>
            </a:fld>
            <a:endParaRPr lang="en-US"/>
          </a:p>
        </p:txBody>
      </p:sp>
    </p:spTree>
    <p:extLst>
      <p:ext uri="{BB962C8B-B14F-4D97-AF65-F5344CB8AC3E}">
        <p14:creationId xmlns:p14="http://schemas.microsoft.com/office/powerpoint/2010/main" val="1197267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332D1-39DB-2D12-E8F1-422E01A5D3A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1D347FD-CFB3-C669-0312-64D06B1EC6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20EC8C3-238F-6041-71F3-6E5CA20B1E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236AF6A-B88A-EE34-B980-AF3B3AFB5477}"/>
              </a:ext>
            </a:extLst>
          </p:cNvPr>
          <p:cNvSpPr>
            <a:spLocks noGrp="1"/>
          </p:cNvSpPr>
          <p:nvPr>
            <p:ph type="dt" sz="half" idx="10"/>
          </p:nvPr>
        </p:nvSpPr>
        <p:spPr/>
        <p:txBody>
          <a:bodyPr/>
          <a:lstStyle/>
          <a:p>
            <a:fld id="{7A3E7140-D0F2-5E4E-8CFE-8FFFB3F5831B}" type="datetimeFigureOut">
              <a:rPr lang="en-US" smtClean="0"/>
              <a:t>10/11/22</a:t>
            </a:fld>
            <a:endParaRPr lang="en-US"/>
          </a:p>
        </p:txBody>
      </p:sp>
      <p:sp>
        <p:nvSpPr>
          <p:cNvPr id="6" name="Footer Placeholder 5">
            <a:extLst>
              <a:ext uri="{FF2B5EF4-FFF2-40B4-BE49-F238E27FC236}">
                <a16:creationId xmlns:a16="http://schemas.microsoft.com/office/drawing/2014/main" id="{32641B40-5CFF-C3AB-565B-7D03D0108D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2E309F-944C-5974-9F0C-01573FE45837}"/>
              </a:ext>
            </a:extLst>
          </p:cNvPr>
          <p:cNvSpPr>
            <a:spLocks noGrp="1"/>
          </p:cNvSpPr>
          <p:nvPr>
            <p:ph type="sldNum" sz="quarter" idx="12"/>
          </p:nvPr>
        </p:nvSpPr>
        <p:spPr/>
        <p:txBody>
          <a:bodyPr/>
          <a:lstStyle/>
          <a:p>
            <a:fld id="{3D7DC507-63AB-5E46-BFE8-45FE518DC77B}" type="slidenum">
              <a:rPr lang="en-US" smtClean="0"/>
              <a:t>‹#›</a:t>
            </a:fld>
            <a:endParaRPr lang="en-US"/>
          </a:p>
        </p:txBody>
      </p:sp>
    </p:spTree>
    <p:extLst>
      <p:ext uri="{BB962C8B-B14F-4D97-AF65-F5344CB8AC3E}">
        <p14:creationId xmlns:p14="http://schemas.microsoft.com/office/powerpoint/2010/main" val="1824155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93EE1-99A6-3EE5-A410-C0573FAD3A0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B708F37-F981-15A8-BCFC-60DE364349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0EEBA1-A34D-CFBF-C2FE-8B72164730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6673ABD-AA3C-E940-B3C7-E8C1AAA4A79B}"/>
              </a:ext>
            </a:extLst>
          </p:cNvPr>
          <p:cNvSpPr>
            <a:spLocks noGrp="1"/>
          </p:cNvSpPr>
          <p:nvPr>
            <p:ph type="dt" sz="half" idx="10"/>
          </p:nvPr>
        </p:nvSpPr>
        <p:spPr/>
        <p:txBody>
          <a:bodyPr/>
          <a:lstStyle/>
          <a:p>
            <a:fld id="{7A3E7140-D0F2-5E4E-8CFE-8FFFB3F5831B}" type="datetimeFigureOut">
              <a:rPr lang="en-US" smtClean="0"/>
              <a:t>10/11/22</a:t>
            </a:fld>
            <a:endParaRPr lang="en-US"/>
          </a:p>
        </p:txBody>
      </p:sp>
      <p:sp>
        <p:nvSpPr>
          <p:cNvPr id="6" name="Footer Placeholder 5">
            <a:extLst>
              <a:ext uri="{FF2B5EF4-FFF2-40B4-BE49-F238E27FC236}">
                <a16:creationId xmlns:a16="http://schemas.microsoft.com/office/drawing/2014/main" id="{66FA30B0-C97F-172B-8320-719FCF411C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210CA8-FD1B-AC37-F108-76E99B66C9A5}"/>
              </a:ext>
            </a:extLst>
          </p:cNvPr>
          <p:cNvSpPr>
            <a:spLocks noGrp="1"/>
          </p:cNvSpPr>
          <p:nvPr>
            <p:ph type="sldNum" sz="quarter" idx="12"/>
          </p:nvPr>
        </p:nvSpPr>
        <p:spPr/>
        <p:txBody>
          <a:bodyPr/>
          <a:lstStyle/>
          <a:p>
            <a:fld id="{3D7DC507-63AB-5E46-BFE8-45FE518DC77B}" type="slidenum">
              <a:rPr lang="en-US" smtClean="0"/>
              <a:t>‹#›</a:t>
            </a:fld>
            <a:endParaRPr lang="en-US"/>
          </a:p>
        </p:txBody>
      </p:sp>
    </p:spTree>
    <p:extLst>
      <p:ext uri="{BB962C8B-B14F-4D97-AF65-F5344CB8AC3E}">
        <p14:creationId xmlns:p14="http://schemas.microsoft.com/office/powerpoint/2010/main" val="4239364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3E855-AC03-F0C7-00DF-90B538A285D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11B83A1-7E00-638C-8DAF-6751E018F8F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2E7869F-830D-D16F-FEB9-95AC336930E5}"/>
              </a:ext>
            </a:extLst>
          </p:cNvPr>
          <p:cNvSpPr>
            <a:spLocks noGrp="1"/>
          </p:cNvSpPr>
          <p:nvPr>
            <p:ph type="dt" sz="half" idx="10"/>
          </p:nvPr>
        </p:nvSpPr>
        <p:spPr/>
        <p:txBody>
          <a:bodyPr/>
          <a:lstStyle/>
          <a:p>
            <a:fld id="{7A3E7140-D0F2-5E4E-8CFE-8FFFB3F5831B}" type="datetimeFigureOut">
              <a:rPr lang="en-US" smtClean="0"/>
              <a:t>10/11/22</a:t>
            </a:fld>
            <a:endParaRPr lang="en-US"/>
          </a:p>
        </p:txBody>
      </p:sp>
      <p:sp>
        <p:nvSpPr>
          <p:cNvPr id="5" name="Footer Placeholder 4">
            <a:extLst>
              <a:ext uri="{FF2B5EF4-FFF2-40B4-BE49-F238E27FC236}">
                <a16:creationId xmlns:a16="http://schemas.microsoft.com/office/drawing/2014/main" id="{5019042D-2D15-0D0A-A062-BA29CA865A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66D8F4-229E-ED36-3A43-F1D8896B9ACD}"/>
              </a:ext>
            </a:extLst>
          </p:cNvPr>
          <p:cNvSpPr>
            <a:spLocks noGrp="1"/>
          </p:cNvSpPr>
          <p:nvPr>
            <p:ph type="sldNum" sz="quarter" idx="12"/>
          </p:nvPr>
        </p:nvSpPr>
        <p:spPr/>
        <p:txBody>
          <a:bodyPr/>
          <a:lstStyle/>
          <a:p>
            <a:fld id="{3D7DC507-63AB-5E46-BFE8-45FE518DC77B}" type="slidenum">
              <a:rPr lang="en-US" smtClean="0"/>
              <a:t>‹#›</a:t>
            </a:fld>
            <a:endParaRPr lang="en-US"/>
          </a:p>
        </p:txBody>
      </p:sp>
    </p:spTree>
    <p:extLst>
      <p:ext uri="{BB962C8B-B14F-4D97-AF65-F5344CB8AC3E}">
        <p14:creationId xmlns:p14="http://schemas.microsoft.com/office/powerpoint/2010/main" val="628345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766CD2-6466-92AE-922E-E24A19AE200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1C273D9-FE3A-0871-4A64-B42F40CBBB0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B48186-198F-5778-9533-8C1C8DBAE181}"/>
              </a:ext>
            </a:extLst>
          </p:cNvPr>
          <p:cNvSpPr>
            <a:spLocks noGrp="1"/>
          </p:cNvSpPr>
          <p:nvPr>
            <p:ph type="dt" sz="half" idx="10"/>
          </p:nvPr>
        </p:nvSpPr>
        <p:spPr/>
        <p:txBody>
          <a:bodyPr/>
          <a:lstStyle/>
          <a:p>
            <a:fld id="{7A3E7140-D0F2-5E4E-8CFE-8FFFB3F5831B}" type="datetimeFigureOut">
              <a:rPr lang="en-US" smtClean="0"/>
              <a:t>10/11/22</a:t>
            </a:fld>
            <a:endParaRPr lang="en-US"/>
          </a:p>
        </p:txBody>
      </p:sp>
      <p:sp>
        <p:nvSpPr>
          <p:cNvPr id="5" name="Footer Placeholder 4">
            <a:extLst>
              <a:ext uri="{FF2B5EF4-FFF2-40B4-BE49-F238E27FC236}">
                <a16:creationId xmlns:a16="http://schemas.microsoft.com/office/drawing/2014/main" id="{DE4716E0-5BB6-6A53-D280-C5CE17BA16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3D77F2-AF36-8F5C-D767-C6CABC18E85D}"/>
              </a:ext>
            </a:extLst>
          </p:cNvPr>
          <p:cNvSpPr>
            <a:spLocks noGrp="1"/>
          </p:cNvSpPr>
          <p:nvPr>
            <p:ph type="sldNum" sz="quarter" idx="12"/>
          </p:nvPr>
        </p:nvSpPr>
        <p:spPr/>
        <p:txBody>
          <a:bodyPr/>
          <a:lstStyle/>
          <a:p>
            <a:fld id="{3D7DC507-63AB-5E46-BFE8-45FE518DC77B}" type="slidenum">
              <a:rPr lang="en-US" smtClean="0"/>
              <a:t>‹#›</a:t>
            </a:fld>
            <a:endParaRPr lang="en-US"/>
          </a:p>
        </p:txBody>
      </p:sp>
    </p:spTree>
    <p:extLst>
      <p:ext uri="{BB962C8B-B14F-4D97-AF65-F5344CB8AC3E}">
        <p14:creationId xmlns:p14="http://schemas.microsoft.com/office/powerpoint/2010/main" val="1235421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B20AF5-A7B5-9E46-4455-733D701594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BD49522-05E7-AB50-525A-6B6B12FCEC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CE9E165-A660-4302-7304-8DC94BCB1C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3E7140-D0F2-5E4E-8CFE-8FFFB3F5831B}" type="datetimeFigureOut">
              <a:rPr lang="en-US" smtClean="0"/>
              <a:t>10/11/22</a:t>
            </a:fld>
            <a:endParaRPr lang="en-US"/>
          </a:p>
        </p:txBody>
      </p:sp>
      <p:sp>
        <p:nvSpPr>
          <p:cNvPr id="5" name="Footer Placeholder 4">
            <a:extLst>
              <a:ext uri="{FF2B5EF4-FFF2-40B4-BE49-F238E27FC236}">
                <a16:creationId xmlns:a16="http://schemas.microsoft.com/office/drawing/2014/main" id="{7DC8CE12-7D32-1D26-112A-2430A87C80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635EDA-2079-29B7-A9FD-B4A3E5B73A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7DC507-63AB-5E46-BFE8-45FE518DC77B}" type="slidenum">
              <a:rPr lang="en-US" smtClean="0"/>
              <a:t>‹#›</a:t>
            </a:fld>
            <a:endParaRPr lang="en-US"/>
          </a:p>
        </p:txBody>
      </p:sp>
    </p:spTree>
    <p:extLst>
      <p:ext uri="{BB962C8B-B14F-4D97-AF65-F5344CB8AC3E}">
        <p14:creationId xmlns:p14="http://schemas.microsoft.com/office/powerpoint/2010/main" val="768400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analyticsvidhya.com/blog/2021/03/data-science-101-introduction-to-cost-function/" TargetMode="Externa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5B339F4-93B9-4E04-9721-143AD6782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0"/>
            <a:ext cx="7147352" cy="5777808"/>
            <a:chOff x="329184" y="1"/>
            <a:chExt cx="524256" cy="5777808"/>
          </a:xfrm>
        </p:grpSpPr>
        <p:cxnSp>
          <p:nvCxnSpPr>
            <p:cNvPr id="11" name="Straight Connector 10">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81E9BF-654F-2D61-804E-20CE965D8AF7}"/>
              </a:ext>
            </a:extLst>
          </p:cNvPr>
          <p:cNvSpPr>
            <a:spLocks noGrp="1"/>
          </p:cNvSpPr>
          <p:nvPr>
            <p:ph type="ctrTitle"/>
          </p:nvPr>
        </p:nvSpPr>
        <p:spPr>
          <a:xfrm>
            <a:off x="1524000" y="1231961"/>
            <a:ext cx="9144000" cy="2387600"/>
          </a:xfrm>
        </p:spPr>
        <p:txBody>
          <a:bodyPr>
            <a:normAutofit/>
          </a:bodyPr>
          <a:lstStyle/>
          <a:p>
            <a:r>
              <a:rPr lang="en-US" dirty="0">
                <a:latin typeface="Times New Roman" panose="02020603050405020304" pitchFamily="18" charset="0"/>
                <a:cs typeface="Times New Roman" panose="02020603050405020304" pitchFamily="18" charset="0"/>
              </a:rPr>
              <a:t>LINEAR REGRESSION</a:t>
            </a:r>
          </a:p>
        </p:txBody>
      </p:sp>
    </p:spTree>
    <p:extLst>
      <p:ext uri="{BB962C8B-B14F-4D97-AF65-F5344CB8AC3E}">
        <p14:creationId xmlns:p14="http://schemas.microsoft.com/office/powerpoint/2010/main" val="4061254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9" name="Rectangle 1030">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Freeform: Shape 1032">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Rectangle 1">
            <a:extLst>
              <a:ext uri="{FF2B5EF4-FFF2-40B4-BE49-F238E27FC236}">
                <a16:creationId xmlns:a16="http://schemas.microsoft.com/office/drawing/2014/main" id="{66419EE7-D30F-AF82-6536-0C03666A371F}"/>
              </a:ext>
            </a:extLst>
          </p:cNvPr>
          <p:cNvSpPr>
            <a:spLocks noChangeArrowheads="1"/>
          </p:cNvSpPr>
          <p:nvPr/>
        </p:nvSpPr>
        <p:spPr bwMode="auto">
          <a:xfrm>
            <a:off x="345099" y="3044789"/>
            <a:ext cx="3888528" cy="355358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eaLnBrk="1" fontAlgn="base" hangingPunct="1">
              <a:lnSpc>
                <a:spcPct val="90000"/>
              </a:lnSpc>
              <a:spcBef>
                <a:spcPct val="0"/>
              </a:spcBef>
              <a:spcAft>
                <a:spcPts val="600"/>
              </a:spcAft>
              <a:buClrTx/>
              <a:buSzTx/>
              <a:tabLst/>
            </a:pPr>
            <a:endParaRPr kumimoji="0" lang="en-US" altLang="en-US" sz="1700" b="0" i="0" u="none" strike="noStrike" cap="none" normalizeH="0" baseline="0" dirty="0">
              <a:ln>
                <a:noFill/>
              </a:ln>
              <a:effectLst/>
              <a:latin typeface="+mn-lt"/>
            </a:endParaRPr>
          </a:p>
        </p:txBody>
      </p:sp>
      <p:sp>
        <p:nvSpPr>
          <p:cNvPr id="4" name="TextBox 3">
            <a:extLst>
              <a:ext uri="{FF2B5EF4-FFF2-40B4-BE49-F238E27FC236}">
                <a16:creationId xmlns:a16="http://schemas.microsoft.com/office/drawing/2014/main" id="{585D91A1-1379-7C3C-15BE-97042C57EA8A}"/>
              </a:ext>
            </a:extLst>
          </p:cNvPr>
          <p:cNvSpPr txBox="1"/>
          <p:nvPr/>
        </p:nvSpPr>
        <p:spPr>
          <a:xfrm>
            <a:off x="618369" y="1492497"/>
            <a:ext cx="10428004" cy="3693319"/>
          </a:xfrm>
          <a:prstGeom prst="rect">
            <a:avLst/>
          </a:prstGeom>
          <a:noFill/>
        </p:spPr>
        <p:txBody>
          <a:bodyPr wrap="square">
            <a:spAutoFit/>
          </a:bodyPr>
          <a:lstStyle/>
          <a:p>
            <a:pPr algn="l" fontAlgn="base"/>
            <a:r>
              <a:rPr lang="en-IN" b="0" i="0" dirty="0">
                <a:solidFill>
                  <a:srgbClr val="303030"/>
                </a:solidFill>
                <a:effectLst/>
                <a:latin typeface="Arimo"/>
              </a:rPr>
              <a:t>In Machine Learning,</a:t>
            </a:r>
          </a:p>
          <a:p>
            <a:pPr algn="l" fontAlgn="base"/>
            <a:endParaRPr lang="en-IN" dirty="0">
              <a:solidFill>
                <a:srgbClr val="303030"/>
              </a:solidFill>
              <a:latin typeface="Arimo"/>
            </a:endParaRPr>
          </a:p>
          <a:p>
            <a:pPr algn="l" fontAlgn="base"/>
            <a:r>
              <a:rPr lang="en-IN" b="0" i="0" dirty="0">
                <a:solidFill>
                  <a:srgbClr val="303030"/>
                </a:solidFill>
                <a:effectLst/>
                <a:latin typeface="Arimo"/>
              </a:rPr>
              <a:t>What is regression?</a:t>
            </a:r>
          </a:p>
          <a:p>
            <a:pPr fontAlgn="base"/>
            <a:r>
              <a:rPr lang="en-IN" b="0" i="0" dirty="0">
                <a:solidFill>
                  <a:srgbClr val="303030"/>
                </a:solidFill>
                <a:effectLst/>
                <a:latin typeface="Arimo"/>
              </a:rPr>
              <a:t>Regression is a technique for investigating the relationship between independent variables or features and a dependent variable or outcome</a:t>
            </a:r>
          </a:p>
          <a:p>
            <a:pPr algn="l" fontAlgn="base"/>
            <a:endParaRPr lang="en-IN" b="0" i="0" dirty="0">
              <a:solidFill>
                <a:srgbClr val="303030"/>
              </a:solidFill>
              <a:effectLst/>
              <a:latin typeface="Arimo"/>
            </a:endParaRPr>
          </a:p>
          <a:p>
            <a:pPr algn="l" fontAlgn="base">
              <a:buFont typeface="Arial" panose="020B0604020202020204" pitchFamily="34" charset="0"/>
              <a:buChar char="•"/>
            </a:pPr>
            <a:r>
              <a:rPr lang="en-IN" b="0" i="0" dirty="0">
                <a:solidFill>
                  <a:srgbClr val="303030"/>
                </a:solidFill>
                <a:effectLst/>
                <a:latin typeface="Arimo"/>
              </a:rPr>
              <a:t>Linear Regression is a supervised machine learning algorithm.</a:t>
            </a:r>
          </a:p>
          <a:p>
            <a:pPr algn="l" fontAlgn="base">
              <a:buFont typeface="Arial" panose="020B0604020202020204" pitchFamily="34" charset="0"/>
              <a:buChar char="•"/>
            </a:pPr>
            <a:r>
              <a:rPr lang="en-IN" b="0" i="0" dirty="0">
                <a:solidFill>
                  <a:srgbClr val="303030"/>
                </a:solidFill>
                <a:effectLst/>
                <a:latin typeface="Arimo"/>
              </a:rPr>
              <a:t>It tries to find out the best linear relationship that describes the data you have.</a:t>
            </a:r>
          </a:p>
          <a:p>
            <a:pPr algn="l" fontAlgn="base">
              <a:buFont typeface="Arial" panose="020B0604020202020204" pitchFamily="34" charset="0"/>
              <a:buChar char="•"/>
            </a:pPr>
            <a:r>
              <a:rPr lang="en-IN" b="0" i="0" dirty="0">
                <a:solidFill>
                  <a:srgbClr val="303030"/>
                </a:solidFill>
                <a:effectLst/>
                <a:latin typeface="Arimo"/>
              </a:rPr>
              <a:t>It assumes that there exists a linear relationship between a dependent variable and independent variable(s).</a:t>
            </a:r>
          </a:p>
          <a:p>
            <a:pPr algn="l" fontAlgn="base">
              <a:buFont typeface="Arial" panose="020B0604020202020204" pitchFamily="34" charset="0"/>
              <a:buChar char="•"/>
            </a:pPr>
            <a:r>
              <a:rPr lang="en-IN" b="0" i="0" dirty="0">
                <a:solidFill>
                  <a:srgbClr val="303030"/>
                </a:solidFill>
                <a:effectLst/>
                <a:latin typeface="Arimo"/>
              </a:rPr>
              <a:t>The value of the dependent variable of a linear regression model is a continuous value i.e. real numbers.</a:t>
            </a:r>
          </a:p>
          <a:p>
            <a:pPr algn="l" fontAlgn="base"/>
            <a:endParaRPr lang="en-IN" b="0" i="0" dirty="0">
              <a:solidFill>
                <a:srgbClr val="303030"/>
              </a:solidFill>
              <a:effectLst/>
              <a:latin typeface="Arimo"/>
            </a:endParaRPr>
          </a:p>
          <a:p>
            <a:pPr algn="l" fontAlgn="base"/>
            <a:r>
              <a:rPr lang="en-IN" b="0" i="0" dirty="0">
                <a:solidFill>
                  <a:srgbClr val="222222"/>
                </a:solidFill>
                <a:effectLst/>
                <a:latin typeface="Lato" panose="020F0502020204030203" pitchFamily="34" charset="0"/>
              </a:rPr>
              <a:t> e.g. scores of a student, diamond prices, etc.</a:t>
            </a:r>
            <a:endParaRPr lang="en-IN" b="0" i="0" dirty="0">
              <a:solidFill>
                <a:srgbClr val="303030"/>
              </a:solidFill>
              <a:effectLst/>
              <a:latin typeface="Arimo"/>
            </a:endParaRPr>
          </a:p>
          <a:p>
            <a:pPr algn="l">
              <a:buFont typeface="Arial" panose="020B0604020202020204" pitchFamily="34" charset="0"/>
              <a:buChar char="•"/>
            </a:pPr>
            <a:endParaRPr lang="en-IN" b="0" i="0" dirty="0">
              <a:solidFill>
                <a:srgbClr val="222222"/>
              </a:solidFill>
              <a:effectLst/>
              <a:latin typeface="Lato" panose="020F0502020204030203" pitchFamily="34" charset="0"/>
            </a:endParaRPr>
          </a:p>
        </p:txBody>
      </p:sp>
    </p:spTree>
    <p:extLst>
      <p:ext uri="{BB962C8B-B14F-4D97-AF65-F5344CB8AC3E}">
        <p14:creationId xmlns:p14="http://schemas.microsoft.com/office/powerpoint/2010/main" val="3473640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9" name="Rectangle 1030">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Freeform: Shape 1032">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Rectangle 1">
            <a:extLst>
              <a:ext uri="{FF2B5EF4-FFF2-40B4-BE49-F238E27FC236}">
                <a16:creationId xmlns:a16="http://schemas.microsoft.com/office/drawing/2014/main" id="{66419EE7-D30F-AF82-6536-0C03666A371F}"/>
              </a:ext>
            </a:extLst>
          </p:cNvPr>
          <p:cNvSpPr>
            <a:spLocks noChangeArrowheads="1"/>
          </p:cNvSpPr>
          <p:nvPr/>
        </p:nvSpPr>
        <p:spPr bwMode="auto">
          <a:xfrm>
            <a:off x="643467" y="1404865"/>
            <a:ext cx="3888528" cy="355358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eaLnBrk="1" fontAlgn="base" hangingPunct="1">
              <a:lnSpc>
                <a:spcPct val="90000"/>
              </a:lnSpc>
              <a:spcBef>
                <a:spcPct val="0"/>
              </a:spcBef>
              <a:spcAft>
                <a:spcPts val="600"/>
              </a:spcAft>
              <a:buClrTx/>
              <a:buSzTx/>
              <a:tabLst/>
            </a:pPr>
            <a:r>
              <a:rPr kumimoji="0" lang="en-US" altLang="en-US" sz="1700" b="0" i="0" u="none" strike="noStrike" cap="none" normalizeH="0" baseline="0" dirty="0">
                <a:ln>
                  <a:noFill/>
                </a:ln>
                <a:effectLst/>
                <a:latin typeface="+mn-lt"/>
              </a:rPr>
              <a:t>Linear regression model represents the linear relationship between a dependent variable and independent variable(s) via a sloped straight line.</a:t>
            </a:r>
          </a:p>
          <a:p>
            <a:pPr marR="0" lvl="0" eaLnBrk="1" fontAlgn="base" hangingPunct="1">
              <a:lnSpc>
                <a:spcPct val="90000"/>
              </a:lnSpc>
              <a:spcBef>
                <a:spcPct val="0"/>
              </a:spcBef>
              <a:spcAft>
                <a:spcPts val="600"/>
              </a:spcAft>
              <a:buClrTx/>
              <a:buSzTx/>
              <a:tabLst/>
            </a:pPr>
            <a:r>
              <a:rPr kumimoji="0" lang="en-US" altLang="en-US" sz="1700" b="0" i="0" u="none" strike="noStrike" cap="none" normalizeH="0" baseline="0" dirty="0">
                <a:ln>
                  <a:noFill/>
                </a:ln>
                <a:effectLst/>
                <a:latin typeface="+mn-lt"/>
              </a:rPr>
              <a:t> </a:t>
            </a:r>
          </a:p>
          <a:p>
            <a:pPr marR="0" lvl="0" eaLnBrk="1" fontAlgn="base" hangingPunct="1">
              <a:lnSpc>
                <a:spcPct val="90000"/>
              </a:lnSpc>
              <a:spcBef>
                <a:spcPct val="0"/>
              </a:spcBef>
              <a:spcAft>
                <a:spcPts val="600"/>
              </a:spcAft>
              <a:buClrTx/>
              <a:buSzTx/>
              <a:tabLst/>
            </a:pPr>
            <a:r>
              <a:rPr kumimoji="0" lang="en-US" altLang="en-US" sz="1700" b="0" i="0" u="none" strike="noStrike" cap="none" normalizeH="0" baseline="0" dirty="0">
                <a:ln>
                  <a:noFill/>
                </a:ln>
                <a:effectLst/>
                <a:latin typeface="+mn-lt"/>
              </a:rPr>
              <a:t>The sloped straight line representing the linear relationship that fits the given data best is called as a regression line.</a:t>
            </a:r>
          </a:p>
          <a:p>
            <a:pPr marR="0" lvl="0" eaLnBrk="1" fontAlgn="base" hangingPunct="1">
              <a:lnSpc>
                <a:spcPct val="90000"/>
              </a:lnSpc>
              <a:spcBef>
                <a:spcPct val="0"/>
              </a:spcBef>
              <a:spcAft>
                <a:spcPts val="600"/>
              </a:spcAft>
              <a:buClrTx/>
              <a:buSzTx/>
              <a:tabLst/>
            </a:pPr>
            <a:r>
              <a:rPr kumimoji="0" lang="en-US" altLang="en-US" sz="1700" b="0" i="0" u="none" strike="noStrike" cap="none" normalizeH="0" baseline="0" dirty="0">
                <a:ln>
                  <a:noFill/>
                </a:ln>
                <a:effectLst/>
                <a:latin typeface="+mn-lt"/>
              </a:rPr>
              <a:t>It is also called as best fit line.</a:t>
            </a:r>
          </a:p>
        </p:txBody>
      </p:sp>
      <p:pic>
        <p:nvPicPr>
          <p:cNvPr id="1026" name="Picture 2">
            <a:extLst>
              <a:ext uri="{FF2B5EF4-FFF2-40B4-BE49-F238E27FC236}">
                <a16:creationId xmlns:a16="http://schemas.microsoft.com/office/drawing/2014/main" id="{249E8FBF-71D5-90A0-AD8A-29C0FBB54F4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00986" y="1927898"/>
            <a:ext cx="4747547" cy="3030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3407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2" name="Rectangle 206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4" name="Freeform: Shape 206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ectangle 1">
            <a:extLst>
              <a:ext uri="{FF2B5EF4-FFF2-40B4-BE49-F238E27FC236}">
                <a16:creationId xmlns:a16="http://schemas.microsoft.com/office/drawing/2014/main" id="{E40396EE-F198-5B92-EBCE-E494CCC78A3E}"/>
              </a:ext>
            </a:extLst>
          </p:cNvPr>
          <p:cNvSpPr>
            <a:spLocks noChangeArrowheads="1"/>
          </p:cNvSpPr>
          <p:nvPr/>
        </p:nvSpPr>
        <p:spPr bwMode="auto">
          <a:xfrm>
            <a:off x="1137034" y="2198362"/>
            <a:ext cx="4958966" cy="3917773"/>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eaLnBrk="1" fontAlgn="base" hangingPunct="1">
              <a:lnSpc>
                <a:spcPct val="90000"/>
              </a:lnSpc>
              <a:spcBef>
                <a:spcPct val="0"/>
              </a:spcBef>
              <a:spcAft>
                <a:spcPts val="600"/>
              </a:spcAft>
              <a:buClrTx/>
              <a:buSzTx/>
              <a:tabLst/>
            </a:pPr>
            <a:r>
              <a:rPr kumimoji="0" lang="en-US" altLang="en-US" sz="2000" b="1" i="0" u="sng" strike="noStrike" cap="none" normalizeH="0" baseline="0" dirty="0">
                <a:ln>
                  <a:noFill/>
                </a:ln>
                <a:effectLst/>
                <a:latin typeface="+mn-lt"/>
              </a:rPr>
              <a:t>Types of Linear Regression-</a:t>
            </a:r>
            <a:endParaRPr kumimoji="0" lang="en-US" altLang="en-US" sz="2000" b="1" i="0" u="none" strike="noStrike" cap="none" normalizeH="0" baseline="0" dirty="0">
              <a:ln>
                <a:noFill/>
              </a:ln>
              <a:effectLst/>
              <a:latin typeface="+mn-lt"/>
            </a:endParaRPr>
          </a:p>
          <a:p>
            <a:pPr marR="0" lvl="0" eaLnBrk="1" fontAlgn="base" hangingPunct="1">
              <a:lnSpc>
                <a:spcPct val="90000"/>
              </a:lnSpc>
              <a:spcBef>
                <a:spcPct val="0"/>
              </a:spcBef>
              <a:spcAft>
                <a:spcPts val="600"/>
              </a:spcAft>
              <a:buClrTx/>
              <a:buSzTx/>
              <a:tabLst/>
            </a:pPr>
            <a:r>
              <a:rPr kumimoji="0" lang="en-US" altLang="en-US" sz="2000" b="0" i="0" u="none" strike="noStrike" cap="none" normalizeH="0" baseline="0" dirty="0">
                <a:ln>
                  <a:noFill/>
                </a:ln>
                <a:effectLst/>
                <a:latin typeface="+mn-lt"/>
              </a:rPr>
              <a:t> </a:t>
            </a:r>
          </a:p>
          <a:p>
            <a:pPr marR="0" lvl="0" eaLnBrk="1" fontAlgn="base" hangingPunct="1">
              <a:lnSpc>
                <a:spcPct val="90000"/>
              </a:lnSpc>
              <a:spcBef>
                <a:spcPct val="0"/>
              </a:spcBef>
              <a:spcAft>
                <a:spcPts val="600"/>
              </a:spcAft>
              <a:buClrTx/>
              <a:buSzTx/>
              <a:tabLst/>
            </a:pPr>
            <a:r>
              <a:rPr kumimoji="0" lang="en-US" altLang="en-US" sz="2000" b="0" i="0" u="none" strike="noStrike" cap="none" normalizeH="0" baseline="0" dirty="0">
                <a:ln>
                  <a:noFill/>
                </a:ln>
                <a:effectLst/>
                <a:latin typeface="+mn-lt"/>
              </a:rPr>
              <a:t>Based on the number of independent variables, there are two types of linear regression-                  </a:t>
            </a:r>
          </a:p>
          <a:p>
            <a:pPr marR="0" lvl="0" eaLnBrk="1" fontAlgn="base" hangingPunct="1">
              <a:lnSpc>
                <a:spcPct val="90000"/>
              </a:lnSpc>
              <a:spcBef>
                <a:spcPct val="0"/>
              </a:spcBef>
              <a:spcAft>
                <a:spcPts val="600"/>
              </a:spcAft>
              <a:buClrTx/>
              <a:buSzTx/>
              <a:tabLst/>
            </a:pPr>
            <a:r>
              <a:rPr kumimoji="0" lang="en-US" altLang="en-US" sz="2000" b="0" i="0" u="none" strike="noStrike" cap="none" normalizeH="0" baseline="0" dirty="0">
                <a:ln>
                  <a:noFill/>
                </a:ln>
                <a:effectLst/>
                <a:latin typeface="+mn-lt"/>
              </a:rPr>
              <a:t> </a:t>
            </a:r>
          </a:p>
          <a:p>
            <a:pPr marL="342900" marR="0" lvl="0" indent="-3429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effectLst/>
                <a:latin typeface="+mn-lt"/>
              </a:rPr>
              <a:t>Simple Linear Regression</a:t>
            </a:r>
          </a:p>
          <a:p>
            <a:pPr marL="342900" marR="0" lvl="0" indent="-3429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effectLst/>
                <a:latin typeface="+mn-lt"/>
              </a:rPr>
              <a:t>Multiple Linear Regression</a:t>
            </a:r>
          </a:p>
          <a:p>
            <a:pPr marR="0" lvl="0" eaLnBrk="1" fontAlgn="base" hangingPunct="1">
              <a:lnSpc>
                <a:spcPct val="90000"/>
              </a:lnSpc>
              <a:spcBef>
                <a:spcPct val="0"/>
              </a:spcBef>
              <a:spcAft>
                <a:spcPts val="600"/>
              </a:spcAft>
              <a:buClrTx/>
              <a:buSzTx/>
              <a:tabLst/>
            </a:pPr>
            <a:endParaRPr kumimoji="0" lang="en-US" altLang="en-US" sz="2000" b="0" i="0" u="none" strike="noStrike" cap="none" normalizeH="0" baseline="0" dirty="0">
              <a:ln>
                <a:noFill/>
              </a:ln>
              <a:effectLst/>
              <a:latin typeface="+mn-lt"/>
            </a:endParaRPr>
          </a:p>
        </p:txBody>
      </p:sp>
      <p:pic>
        <p:nvPicPr>
          <p:cNvPr id="2050" name="Picture 2">
            <a:extLst>
              <a:ext uri="{FF2B5EF4-FFF2-40B4-BE49-F238E27FC236}">
                <a16:creationId xmlns:a16="http://schemas.microsoft.com/office/drawing/2014/main" id="{68E1CF12-F9B6-B028-4EB3-6E537A4FDFD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19367" y="3577350"/>
            <a:ext cx="4788505" cy="971043"/>
          </a:xfrm>
          <a:prstGeom prst="rect">
            <a:avLst/>
          </a:prstGeom>
          <a:noFill/>
          <a:extLst>
            <a:ext uri="{909E8E84-426E-40DD-AFC4-6F175D3DCCD1}">
              <a14:hiddenFill xmlns:a14="http://schemas.microsoft.com/office/drawing/2010/main">
                <a:solidFill>
                  <a:srgbClr val="FFFFFF"/>
                </a:solidFill>
              </a14:hiddenFill>
            </a:ext>
          </a:extLst>
        </p:spPr>
      </p:pic>
      <p:sp>
        <p:nvSpPr>
          <p:cNvPr id="2066" name="Freeform: Shape 206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78071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E47BF3-F353-C831-C2FB-BD9F6D0A9E8A}"/>
              </a:ext>
            </a:extLst>
          </p:cNvPr>
          <p:cNvSpPr txBox="1"/>
          <p:nvPr/>
        </p:nvSpPr>
        <p:spPr>
          <a:xfrm>
            <a:off x="469557" y="864973"/>
            <a:ext cx="8677531" cy="4431983"/>
          </a:xfrm>
          <a:prstGeom prst="rect">
            <a:avLst/>
          </a:prstGeom>
          <a:noFill/>
        </p:spPr>
        <p:txBody>
          <a:bodyPr wrap="square">
            <a:spAutoFit/>
          </a:bodyPr>
          <a:lstStyle/>
          <a:p>
            <a:pPr algn="l" fontAlgn="base"/>
            <a:r>
              <a:rPr lang="en-IN" b="1" i="0" u="sng" dirty="0">
                <a:solidFill>
                  <a:srgbClr val="303030"/>
                </a:solidFill>
                <a:effectLst/>
                <a:latin typeface="roboto condensed" panose="02000000000000000000" pitchFamily="2" charset="0"/>
              </a:rPr>
              <a:t>1. Simple Linear Regression-</a:t>
            </a:r>
            <a:endParaRPr lang="en-IN" b="1" i="0" dirty="0">
              <a:solidFill>
                <a:srgbClr val="303030"/>
              </a:solidFill>
              <a:effectLst/>
              <a:latin typeface="roboto condensed" panose="02000000000000000000" pitchFamily="2" charset="0"/>
            </a:endParaRPr>
          </a:p>
          <a:p>
            <a:pPr algn="l" fontAlgn="base"/>
            <a:r>
              <a:rPr lang="en-IN" b="0" i="0" dirty="0">
                <a:solidFill>
                  <a:srgbClr val="303030"/>
                </a:solidFill>
                <a:effectLst/>
                <a:latin typeface="Arimo"/>
              </a:rPr>
              <a:t> </a:t>
            </a:r>
          </a:p>
          <a:p>
            <a:pPr algn="l" fontAlgn="base"/>
            <a:r>
              <a:rPr lang="en-IN" b="0" i="0" dirty="0">
                <a:solidFill>
                  <a:srgbClr val="303030"/>
                </a:solidFill>
                <a:effectLst/>
                <a:latin typeface="Arimo"/>
              </a:rPr>
              <a:t>In simple linear regression, the dependent variable depends only on a single independent variable.</a:t>
            </a:r>
          </a:p>
          <a:p>
            <a:pPr algn="l" fontAlgn="base"/>
            <a:r>
              <a:rPr lang="en-IN" b="0" i="0" dirty="0">
                <a:solidFill>
                  <a:srgbClr val="303030"/>
                </a:solidFill>
                <a:effectLst/>
                <a:latin typeface="Arimo"/>
              </a:rPr>
              <a:t> </a:t>
            </a:r>
          </a:p>
          <a:p>
            <a:pPr algn="l" fontAlgn="base"/>
            <a:r>
              <a:rPr lang="en-IN" b="0" i="0" dirty="0">
                <a:solidFill>
                  <a:srgbClr val="303030"/>
                </a:solidFill>
                <a:effectLst/>
                <a:latin typeface="Arimo"/>
              </a:rPr>
              <a:t>For simple linear regression, the form of the model is</a:t>
            </a:r>
          </a:p>
          <a:p>
            <a:pPr algn="l" fontAlgn="base"/>
            <a:endParaRPr lang="en-IN" b="0" i="0" dirty="0">
              <a:solidFill>
                <a:srgbClr val="303030"/>
              </a:solidFill>
              <a:effectLst/>
              <a:latin typeface="Arimo"/>
            </a:endParaRPr>
          </a:p>
          <a:p>
            <a:pPr algn="ctr" fontAlgn="base"/>
            <a:r>
              <a:rPr lang="en-IN" sz="1200" b="1" i="0" dirty="0">
                <a:solidFill>
                  <a:srgbClr val="800000"/>
                </a:solidFill>
                <a:effectLst/>
                <a:latin typeface="Arimo"/>
              </a:rPr>
              <a:t>Y = </a:t>
            </a:r>
            <a:r>
              <a:rPr lang="el-GR" sz="1200" b="1" i="0" dirty="0">
                <a:solidFill>
                  <a:srgbClr val="800000"/>
                </a:solidFill>
                <a:effectLst/>
                <a:latin typeface="Arimo"/>
              </a:rPr>
              <a:t>β</a:t>
            </a:r>
            <a:r>
              <a:rPr lang="el-GR" sz="1200" b="1" i="0" baseline="-25000" dirty="0">
                <a:solidFill>
                  <a:srgbClr val="800000"/>
                </a:solidFill>
                <a:effectLst/>
                <a:latin typeface="Arimo"/>
              </a:rPr>
              <a:t>0</a:t>
            </a:r>
            <a:r>
              <a:rPr lang="el-GR" sz="1200" b="1" i="0" dirty="0">
                <a:solidFill>
                  <a:srgbClr val="800000"/>
                </a:solidFill>
                <a:effectLst/>
                <a:latin typeface="Arimo"/>
              </a:rPr>
              <a:t> + β</a:t>
            </a:r>
            <a:r>
              <a:rPr lang="el-GR" sz="1200" b="1" i="0" baseline="-25000" dirty="0">
                <a:solidFill>
                  <a:srgbClr val="800000"/>
                </a:solidFill>
                <a:effectLst/>
                <a:latin typeface="Arimo"/>
              </a:rPr>
              <a:t>1</a:t>
            </a:r>
            <a:r>
              <a:rPr lang="en-IN" sz="1200" b="1" i="0" dirty="0">
                <a:solidFill>
                  <a:srgbClr val="800000"/>
                </a:solidFill>
                <a:effectLst/>
                <a:latin typeface="Arimo"/>
              </a:rPr>
              <a:t>X</a:t>
            </a:r>
            <a:endParaRPr lang="en-IN" b="0" i="0" dirty="0">
              <a:solidFill>
                <a:srgbClr val="303030"/>
              </a:solidFill>
              <a:effectLst/>
              <a:latin typeface="Arimo"/>
            </a:endParaRPr>
          </a:p>
          <a:p>
            <a:pPr algn="l" fontAlgn="base"/>
            <a:r>
              <a:rPr lang="en-IN" b="0" i="0" dirty="0">
                <a:solidFill>
                  <a:srgbClr val="303030"/>
                </a:solidFill>
                <a:effectLst/>
                <a:latin typeface="Arimo"/>
              </a:rPr>
              <a:t> </a:t>
            </a:r>
          </a:p>
          <a:p>
            <a:pPr algn="l" fontAlgn="base"/>
            <a:r>
              <a:rPr lang="en-IN" b="0" i="0" dirty="0">
                <a:solidFill>
                  <a:srgbClr val="303030"/>
                </a:solidFill>
                <a:effectLst/>
                <a:latin typeface="Arimo"/>
              </a:rPr>
              <a:t>Here,</a:t>
            </a:r>
          </a:p>
          <a:p>
            <a:pPr algn="l" fontAlgn="base">
              <a:buFont typeface="Arial" panose="020B0604020202020204" pitchFamily="34" charset="0"/>
              <a:buChar char="•"/>
            </a:pPr>
            <a:r>
              <a:rPr lang="en-IN" b="0" i="0" dirty="0">
                <a:solidFill>
                  <a:srgbClr val="303030"/>
                </a:solidFill>
                <a:effectLst/>
                <a:latin typeface="Arimo"/>
              </a:rPr>
              <a:t>Y is a dependent variable.</a:t>
            </a:r>
          </a:p>
          <a:p>
            <a:pPr algn="l" fontAlgn="base">
              <a:buFont typeface="Arial" panose="020B0604020202020204" pitchFamily="34" charset="0"/>
              <a:buChar char="•"/>
            </a:pPr>
            <a:r>
              <a:rPr lang="en-IN" b="0" i="0" dirty="0">
                <a:solidFill>
                  <a:srgbClr val="303030"/>
                </a:solidFill>
                <a:effectLst/>
                <a:latin typeface="Arimo"/>
              </a:rPr>
              <a:t>X is an independent variable.</a:t>
            </a:r>
          </a:p>
          <a:p>
            <a:pPr algn="l" fontAlgn="base">
              <a:buFont typeface="Arial" panose="020B0604020202020204" pitchFamily="34" charset="0"/>
              <a:buChar char="•"/>
            </a:pPr>
            <a:r>
              <a:rPr lang="el-GR" b="0" i="0" dirty="0">
                <a:solidFill>
                  <a:srgbClr val="303030"/>
                </a:solidFill>
                <a:effectLst/>
                <a:latin typeface="Arimo"/>
              </a:rPr>
              <a:t>β</a:t>
            </a:r>
            <a:r>
              <a:rPr lang="el-GR" b="0" i="0" baseline="-25000" dirty="0">
                <a:solidFill>
                  <a:srgbClr val="303030"/>
                </a:solidFill>
                <a:effectLst/>
                <a:latin typeface="Arimo"/>
              </a:rPr>
              <a:t>0</a:t>
            </a:r>
            <a:r>
              <a:rPr lang="el-GR" b="0" i="0" dirty="0">
                <a:solidFill>
                  <a:srgbClr val="303030"/>
                </a:solidFill>
                <a:effectLst/>
                <a:latin typeface="Arimo"/>
              </a:rPr>
              <a:t> </a:t>
            </a:r>
            <a:r>
              <a:rPr lang="en-IN" b="0" i="0" dirty="0">
                <a:solidFill>
                  <a:srgbClr val="303030"/>
                </a:solidFill>
                <a:effectLst/>
                <a:latin typeface="Arimo"/>
              </a:rPr>
              <a:t>and </a:t>
            </a:r>
            <a:r>
              <a:rPr lang="el-GR" b="0" i="0" dirty="0">
                <a:solidFill>
                  <a:srgbClr val="303030"/>
                </a:solidFill>
                <a:effectLst/>
                <a:latin typeface="Arimo"/>
              </a:rPr>
              <a:t>β</a:t>
            </a:r>
            <a:r>
              <a:rPr lang="el-GR" b="0" i="0" baseline="-25000" dirty="0">
                <a:solidFill>
                  <a:srgbClr val="303030"/>
                </a:solidFill>
                <a:effectLst/>
                <a:latin typeface="Arimo"/>
              </a:rPr>
              <a:t>1</a:t>
            </a:r>
            <a:r>
              <a:rPr lang="el-GR" b="0" i="0" dirty="0">
                <a:solidFill>
                  <a:srgbClr val="303030"/>
                </a:solidFill>
                <a:effectLst/>
                <a:latin typeface="Arimo"/>
              </a:rPr>
              <a:t> </a:t>
            </a:r>
            <a:r>
              <a:rPr lang="en-IN" b="0" i="0" dirty="0">
                <a:solidFill>
                  <a:srgbClr val="303030"/>
                </a:solidFill>
                <a:effectLst/>
                <a:latin typeface="Arimo"/>
              </a:rPr>
              <a:t>are the regression coefficients.</a:t>
            </a:r>
          </a:p>
          <a:p>
            <a:pPr algn="l" fontAlgn="base">
              <a:buFont typeface="Arial" panose="020B0604020202020204" pitchFamily="34" charset="0"/>
              <a:buChar char="•"/>
            </a:pPr>
            <a:r>
              <a:rPr lang="el-GR" b="0" i="0" dirty="0">
                <a:solidFill>
                  <a:srgbClr val="303030"/>
                </a:solidFill>
                <a:effectLst/>
                <a:latin typeface="Arimo"/>
              </a:rPr>
              <a:t>β</a:t>
            </a:r>
            <a:r>
              <a:rPr lang="el-GR" b="0" i="0" baseline="-25000" dirty="0">
                <a:solidFill>
                  <a:srgbClr val="303030"/>
                </a:solidFill>
                <a:effectLst/>
                <a:latin typeface="Arimo"/>
              </a:rPr>
              <a:t>0</a:t>
            </a:r>
            <a:r>
              <a:rPr lang="el-GR" b="0" i="0" dirty="0">
                <a:solidFill>
                  <a:srgbClr val="303030"/>
                </a:solidFill>
                <a:effectLst/>
                <a:latin typeface="Arimo"/>
              </a:rPr>
              <a:t> </a:t>
            </a:r>
            <a:r>
              <a:rPr lang="en-IN" b="0" i="0" dirty="0">
                <a:solidFill>
                  <a:srgbClr val="303030"/>
                </a:solidFill>
                <a:effectLst/>
                <a:latin typeface="Arimo"/>
              </a:rPr>
              <a:t>is the intercept or the bias that fixes the offset to a line.</a:t>
            </a:r>
          </a:p>
          <a:p>
            <a:pPr algn="l" fontAlgn="base">
              <a:buFont typeface="Arial" panose="020B0604020202020204" pitchFamily="34" charset="0"/>
              <a:buChar char="•"/>
            </a:pPr>
            <a:r>
              <a:rPr lang="el-GR" b="0" i="0" dirty="0">
                <a:solidFill>
                  <a:srgbClr val="303030"/>
                </a:solidFill>
                <a:effectLst/>
                <a:latin typeface="Arimo"/>
              </a:rPr>
              <a:t>β</a:t>
            </a:r>
            <a:r>
              <a:rPr lang="el-GR" b="0" i="0" baseline="-25000" dirty="0">
                <a:solidFill>
                  <a:srgbClr val="303030"/>
                </a:solidFill>
                <a:effectLst/>
                <a:latin typeface="Arimo"/>
              </a:rPr>
              <a:t>1</a:t>
            </a:r>
            <a:r>
              <a:rPr lang="el-GR" b="0" i="0" dirty="0">
                <a:solidFill>
                  <a:srgbClr val="303030"/>
                </a:solidFill>
                <a:effectLst/>
                <a:latin typeface="Arimo"/>
              </a:rPr>
              <a:t> </a:t>
            </a:r>
            <a:r>
              <a:rPr lang="en-IN" b="0" i="0" dirty="0">
                <a:solidFill>
                  <a:srgbClr val="303030"/>
                </a:solidFill>
                <a:effectLst/>
                <a:latin typeface="Arimo"/>
              </a:rPr>
              <a:t>is the slope or weight that specifies the factor by which X has an impact on Y.</a:t>
            </a:r>
          </a:p>
          <a:p>
            <a:pPr algn="l" fontAlgn="base"/>
            <a:r>
              <a:rPr lang="en-IN" b="0" i="0" dirty="0">
                <a:solidFill>
                  <a:srgbClr val="303030"/>
                </a:solidFill>
                <a:effectLst/>
                <a:latin typeface="Arimo"/>
              </a:rPr>
              <a:t> </a:t>
            </a:r>
          </a:p>
        </p:txBody>
      </p:sp>
    </p:spTree>
    <p:extLst>
      <p:ext uri="{BB962C8B-B14F-4D97-AF65-F5344CB8AC3E}">
        <p14:creationId xmlns:p14="http://schemas.microsoft.com/office/powerpoint/2010/main" val="900710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Freeform: Shape 308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ectangle 1">
            <a:extLst>
              <a:ext uri="{FF2B5EF4-FFF2-40B4-BE49-F238E27FC236}">
                <a16:creationId xmlns:a16="http://schemas.microsoft.com/office/drawing/2014/main" id="{19376213-BB0F-61C2-E19F-371427B4B87C}"/>
              </a:ext>
            </a:extLst>
          </p:cNvPr>
          <p:cNvSpPr>
            <a:spLocks noChangeArrowheads="1"/>
          </p:cNvSpPr>
          <p:nvPr/>
        </p:nvSpPr>
        <p:spPr bwMode="auto">
          <a:xfrm>
            <a:off x="425824" y="1247914"/>
            <a:ext cx="5197210" cy="4732472"/>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lnSpcReduction="10000"/>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eaLnBrk="1" fontAlgn="base" hangingPunct="1">
              <a:lnSpc>
                <a:spcPct val="90000"/>
              </a:lnSpc>
              <a:spcBef>
                <a:spcPct val="0"/>
              </a:spcBef>
              <a:spcAft>
                <a:spcPts val="600"/>
              </a:spcAft>
              <a:buClrTx/>
              <a:buSzTx/>
              <a:tabLst/>
            </a:pPr>
            <a:r>
              <a:rPr kumimoji="0" lang="en-US" altLang="en-US" sz="1400" b="0" i="0" u="none" strike="noStrike" cap="none" normalizeH="0" baseline="0">
                <a:ln>
                  <a:noFill/>
                </a:ln>
                <a:effectLst/>
                <a:latin typeface="+mn-lt"/>
              </a:rPr>
              <a:t>There are following 3 cases possible-</a:t>
            </a:r>
          </a:p>
          <a:p>
            <a:pPr marR="0" lvl="0" eaLnBrk="1" fontAlgn="base" hangingPunct="1">
              <a:lnSpc>
                <a:spcPct val="90000"/>
              </a:lnSpc>
              <a:spcBef>
                <a:spcPct val="0"/>
              </a:spcBef>
              <a:spcAft>
                <a:spcPts val="600"/>
              </a:spcAft>
              <a:buClrTx/>
              <a:buSzTx/>
              <a:tabLst/>
            </a:pPr>
            <a:endParaRPr kumimoji="0" lang="en-US" altLang="en-US" sz="1400" b="0" i="0" u="none" strike="noStrike" cap="none" normalizeH="0" baseline="0">
              <a:ln>
                <a:noFill/>
              </a:ln>
              <a:effectLst/>
              <a:latin typeface="+mn-lt"/>
            </a:endParaRPr>
          </a:p>
          <a:p>
            <a:pPr marR="0" lvl="0" eaLnBrk="1" fontAlgn="base" hangingPunct="1">
              <a:lnSpc>
                <a:spcPct val="90000"/>
              </a:lnSpc>
              <a:spcBef>
                <a:spcPct val="0"/>
              </a:spcBef>
              <a:spcAft>
                <a:spcPts val="600"/>
              </a:spcAft>
              <a:buClrTx/>
              <a:buSzTx/>
              <a:tabLst/>
            </a:pPr>
            <a:r>
              <a:rPr kumimoji="0" lang="en-US" altLang="en-US" sz="1400" b="0" i="0" u="none" strike="noStrike" cap="none" normalizeH="0" baseline="0">
                <a:ln>
                  <a:noFill/>
                </a:ln>
                <a:effectLst/>
                <a:latin typeface="+mn-lt"/>
              </a:rPr>
              <a:t> </a:t>
            </a:r>
            <a:endParaRPr kumimoji="0" lang="en-US" altLang="en-US" sz="1400" b="1" i="0" u="none" strike="noStrike" cap="none" normalizeH="0" baseline="0">
              <a:ln>
                <a:noFill/>
              </a:ln>
              <a:effectLst/>
              <a:latin typeface="+mn-lt"/>
            </a:endParaRPr>
          </a:p>
          <a:p>
            <a:pPr marR="0" lvl="0" eaLnBrk="1" fontAlgn="base" hangingPunct="1">
              <a:lnSpc>
                <a:spcPct val="90000"/>
              </a:lnSpc>
              <a:spcBef>
                <a:spcPct val="0"/>
              </a:spcBef>
              <a:spcAft>
                <a:spcPts val="600"/>
              </a:spcAft>
              <a:buClrTx/>
              <a:buSzTx/>
              <a:tabLst/>
            </a:pPr>
            <a:r>
              <a:rPr kumimoji="0" lang="en-US" altLang="en-US" sz="1400" b="1" i="0" u="sng" strike="noStrike" cap="none" normalizeH="0" baseline="0">
                <a:ln>
                  <a:noFill/>
                </a:ln>
                <a:effectLst/>
                <a:latin typeface="+mn-lt"/>
              </a:rPr>
              <a:t>Case-01: β</a:t>
            </a:r>
            <a:r>
              <a:rPr kumimoji="0" lang="en-US" altLang="en-US" sz="1400" b="1" i="0" u="sng" strike="noStrike" cap="none" normalizeH="0" baseline="-30000">
                <a:ln>
                  <a:noFill/>
                </a:ln>
                <a:effectLst/>
                <a:latin typeface="+mn-lt"/>
              </a:rPr>
              <a:t>1</a:t>
            </a:r>
            <a:r>
              <a:rPr kumimoji="0" lang="en-US" altLang="en-US" sz="1400" b="1" i="0" u="sng" strike="noStrike" cap="none" normalizeH="0" baseline="0">
                <a:ln>
                  <a:noFill/>
                </a:ln>
                <a:effectLst/>
                <a:latin typeface="+mn-lt"/>
              </a:rPr>
              <a:t> &lt; 0</a:t>
            </a:r>
            <a:endParaRPr kumimoji="0" lang="en-US" altLang="en-US" sz="1400" b="1" i="0" u="none" strike="noStrike" cap="none" normalizeH="0" baseline="0">
              <a:ln>
                <a:noFill/>
              </a:ln>
              <a:effectLst/>
              <a:latin typeface="+mn-lt"/>
            </a:endParaRPr>
          </a:p>
          <a:p>
            <a:pPr marR="0" lvl="0" eaLnBrk="1" fontAlgn="base" hangingPunct="1">
              <a:lnSpc>
                <a:spcPct val="90000"/>
              </a:lnSpc>
              <a:spcBef>
                <a:spcPct val="0"/>
              </a:spcBef>
              <a:spcAft>
                <a:spcPts val="600"/>
              </a:spcAft>
              <a:buClrTx/>
              <a:buSzTx/>
              <a:tabLst/>
            </a:pPr>
            <a:r>
              <a:rPr kumimoji="0" lang="en-US" altLang="en-US" sz="1400" b="0" i="0" u="none" strike="noStrike" cap="none" normalizeH="0" baseline="0">
                <a:ln>
                  <a:noFill/>
                </a:ln>
                <a:effectLst/>
                <a:latin typeface="+mn-lt"/>
              </a:rPr>
              <a:t> </a:t>
            </a:r>
          </a:p>
          <a:p>
            <a:pPr marR="0" lvl="0" eaLnBrk="1" fontAlgn="base" hangingPunct="1">
              <a:lnSpc>
                <a:spcPct val="90000"/>
              </a:lnSpc>
              <a:spcBef>
                <a:spcPct val="0"/>
              </a:spcBef>
              <a:spcAft>
                <a:spcPts val="600"/>
              </a:spcAft>
              <a:buClrTx/>
              <a:buSzTx/>
              <a:tabLst/>
            </a:pPr>
            <a:r>
              <a:rPr kumimoji="0" lang="en-US" altLang="en-US" sz="1400" b="0" i="0" u="none" strike="noStrike" cap="none" normalizeH="0" baseline="0">
                <a:ln>
                  <a:noFill/>
                </a:ln>
                <a:effectLst/>
                <a:latin typeface="+mn-lt"/>
              </a:rPr>
              <a:t>It indicates that variable X has negative impact on Y.</a:t>
            </a:r>
          </a:p>
          <a:p>
            <a:pPr marR="0" lvl="0" eaLnBrk="1" fontAlgn="base" hangingPunct="1">
              <a:lnSpc>
                <a:spcPct val="90000"/>
              </a:lnSpc>
              <a:spcBef>
                <a:spcPct val="0"/>
              </a:spcBef>
              <a:spcAft>
                <a:spcPts val="600"/>
              </a:spcAft>
              <a:buClrTx/>
              <a:buSzTx/>
              <a:tabLst/>
            </a:pPr>
            <a:r>
              <a:rPr kumimoji="0" lang="en-US" altLang="en-US" sz="1400" b="0" i="0" u="none" strike="noStrike" cap="none" normalizeH="0" baseline="0">
                <a:ln>
                  <a:noFill/>
                </a:ln>
                <a:effectLst/>
                <a:latin typeface="+mn-lt"/>
              </a:rPr>
              <a:t>If X increases, Y will decrease and vice-versa.</a:t>
            </a:r>
          </a:p>
          <a:p>
            <a:pPr marR="0" lvl="0" eaLnBrk="1" fontAlgn="base" hangingPunct="1">
              <a:lnSpc>
                <a:spcPct val="90000"/>
              </a:lnSpc>
              <a:spcBef>
                <a:spcPct val="0"/>
              </a:spcBef>
              <a:spcAft>
                <a:spcPts val="600"/>
              </a:spcAft>
              <a:buClrTx/>
              <a:buSzTx/>
              <a:tabLst/>
            </a:pPr>
            <a:r>
              <a:rPr kumimoji="0" lang="en-US" altLang="en-US" sz="1400" b="0" i="0" u="none" strike="noStrike" cap="none" normalizeH="0" baseline="0">
                <a:ln>
                  <a:noFill/>
                </a:ln>
                <a:effectLst/>
                <a:latin typeface="+mn-lt"/>
              </a:rPr>
              <a:t>    </a:t>
            </a:r>
          </a:p>
          <a:p>
            <a:pPr marR="0" lvl="0" eaLnBrk="1" fontAlgn="base" hangingPunct="1">
              <a:lnSpc>
                <a:spcPct val="90000"/>
              </a:lnSpc>
              <a:spcBef>
                <a:spcPct val="0"/>
              </a:spcBef>
              <a:spcAft>
                <a:spcPts val="600"/>
              </a:spcAft>
              <a:buClrTx/>
              <a:buSzTx/>
              <a:tabLst/>
            </a:pPr>
            <a:r>
              <a:rPr kumimoji="0" lang="en-US" altLang="en-US" sz="1400" b="0" i="0" u="none" strike="noStrike" cap="none" normalizeH="0" baseline="0">
                <a:ln>
                  <a:noFill/>
                </a:ln>
                <a:effectLst/>
                <a:latin typeface="+mn-lt"/>
              </a:rPr>
              <a:t> </a:t>
            </a:r>
            <a:endParaRPr kumimoji="0" lang="en-US" altLang="en-US" sz="1400" b="1" i="0" u="none" strike="noStrike" cap="none" normalizeH="0" baseline="0">
              <a:ln>
                <a:noFill/>
              </a:ln>
              <a:effectLst/>
              <a:latin typeface="+mn-lt"/>
            </a:endParaRPr>
          </a:p>
          <a:p>
            <a:pPr marR="0" lvl="0" eaLnBrk="1" fontAlgn="base" hangingPunct="1">
              <a:lnSpc>
                <a:spcPct val="90000"/>
              </a:lnSpc>
              <a:spcBef>
                <a:spcPct val="0"/>
              </a:spcBef>
              <a:spcAft>
                <a:spcPts val="600"/>
              </a:spcAft>
              <a:buClrTx/>
              <a:buSzTx/>
              <a:tabLst/>
            </a:pPr>
            <a:r>
              <a:rPr kumimoji="0" lang="en-US" altLang="en-US" sz="1400" b="1" i="0" u="sng" strike="noStrike" cap="none" normalizeH="0" baseline="0">
                <a:ln>
                  <a:noFill/>
                </a:ln>
                <a:effectLst/>
                <a:latin typeface="+mn-lt"/>
              </a:rPr>
              <a:t>Case-02: β</a:t>
            </a:r>
            <a:r>
              <a:rPr kumimoji="0" lang="en-US" altLang="en-US" sz="1400" b="1" i="0" u="sng" strike="noStrike" cap="none" normalizeH="0" baseline="-30000">
                <a:ln>
                  <a:noFill/>
                </a:ln>
                <a:effectLst/>
                <a:latin typeface="+mn-lt"/>
              </a:rPr>
              <a:t>1</a:t>
            </a:r>
            <a:r>
              <a:rPr kumimoji="0" lang="en-US" altLang="en-US" sz="1400" b="1" i="0" u="sng" strike="noStrike" cap="none" normalizeH="0" baseline="0">
                <a:ln>
                  <a:noFill/>
                </a:ln>
                <a:effectLst/>
                <a:latin typeface="+mn-lt"/>
              </a:rPr>
              <a:t> = 0</a:t>
            </a:r>
            <a:endParaRPr kumimoji="0" lang="en-US" altLang="en-US" sz="1400" b="1" i="0" u="none" strike="noStrike" cap="none" normalizeH="0" baseline="0">
              <a:ln>
                <a:noFill/>
              </a:ln>
              <a:effectLst/>
              <a:latin typeface="+mn-lt"/>
            </a:endParaRPr>
          </a:p>
          <a:p>
            <a:pPr marR="0" lvl="0" eaLnBrk="1" fontAlgn="base" hangingPunct="1">
              <a:lnSpc>
                <a:spcPct val="90000"/>
              </a:lnSpc>
              <a:spcBef>
                <a:spcPct val="0"/>
              </a:spcBef>
              <a:spcAft>
                <a:spcPts val="600"/>
              </a:spcAft>
              <a:buClrTx/>
              <a:buSzTx/>
              <a:tabLst/>
            </a:pPr>
            <a:r>
              <a:rPr kumimoji="0" lang="en-US" altLang="en-US" sz="1400" b="0" i="0" u="none" strike="noStrike" cap="none" normalizeH="0" baseline="0">
                <a:ln>
                  <a:noFill/>
                </a:ln>
                <a:effectLst/>
                <a:latin typeface="+mn-lt"/>
              </a:rPr>
              <a:t> </a:t>
            </a:r>
          </a:p>
          <a:p>
            <a:pPr marR="0" lvl="0" eaLnBrk="1" fontAlgn="base" hangingPunct="1">
              <a:lnSpc>
                <a:spcPct val="90000"/>
              </a:lnSpc>
              <a:spcBef>
                <a:spcPct val="0"/>
              </a:spcBef>
              <a:spcAft>
                <a:spcPts val="600"/>
              </a:spcAft>
              <a:buClrTx/>
              <a:buSzTx/>
              <a:tabLst/>
            </a:pPr>
            <a:r>
              <a:rPr kumimoji="0" lang="en-US" altLang="en-US" sz="1400" b="0" i="0" u="none" strike="noStrike" cap="none" normalizeH="0" baseline="0">
                <a:ln>
                  <a:noFill/>
                </a:ln>
                <a:effectLst/>
                <a:latin typeface="+mn-lt"/>
              </a:rPr>
              <a:t>It indicates that variable X has no impact on Y.</a:t>
            </a:r>
          </a:p>
          <a:p>
            <a:pPr marR="0" lvl="0" eaLnBrk="1" fontAlgn="base" hangingPunct="1">
              <a:lnSpc>
                <a:spcPct val="90000"/>
              </a:lnSpc>
              <a:spcBef>
                <a:spcPct val="0"/>
              </a:spcBef>
              <a:spcAft>
                <a:spcPts val="600"/>
              </a:spcAft>
              <a:buClrTx/>
              <a:buSzTx/>
              <a:tabLst/>
            </a:pPr>
            <a:r>
              <a:rPr kumimoji="0" lang="en-US" altLang="en-US" sz="1400" b="0" i="0" u="none" strike="noStrike" cap="none" normalizeH="0" baseline="0">
                <a:ln>
                  <a:noFill/>
                </a:ln>
                <a:effectLst/>
                <a:latin typeface="+mn-lt"/>
              </a:rPr>
              <a:t>If X changes, there will be no change in Y</a:t>
            </a:r>
          </a:p>
          <a:p>
            <a:pPr marR="0" lvl="0" eaLnBrk="1" fontAlgn="base" hangingPunct="1">
              <a:lnSpc>
                <a:spcPct val="90000"/>
              </a:lnSpc>
              <a:spcBef>
                <a:spcPct val="0"/>
              </a:spcBef>
              <a:spcAft>
                <a:spcPts val="600"/>
              </a:spcAft>
              <a:buClrTx/>
              <a:buSzTx/>
              <a:tabLst/>
            </a:pPr>
            <a:endParaRPr kumimoji="0" lang="en-US" altLang="en-US" sz="1400" b="0" i="0" u="none" strike="noStrike" cap="none" normalizeH="0" baseline="0">
              <a:ln>
                <a:noFill/>
              </a:ln>
              <a:effectLst/>
              <a:latin typeface="+mn-lt"/>
            </a:endParaRPr>
          </a:p>
          <a:p>
            <a:pPr marR="0" lvl="0" eaLnBrk="1" fontAlgn="base" hangingPunct="1">
              <a:lnSpc>
                <a:spcPct val="90000"/>
              </a:lnSpc>
              <a:spcBef>
                <a:spcPct val="0"/>
              </a:spcBef>
              <a:spcAft>
                <a:spcPts val="600"/>
              </a:spcAft>
              <a:buClrTx/>
              <a:buSzTx/>
              <a:tabLst/>
            </a:pPr>
            <a:endParaRPr kumimoji="0" lang="en-US" altLang="en-US" sz="1400" b="0" i="0" u="none" strike="noStrike" cap="none" normalizeH="0" baseline="0">
              <a:ln>
                <a:noFill/>
              </a:ln>
              <a:effectLst/>
              <a:latin typeface="+mn-lt"/>
            </a:endParaRPr>
          </a:p>
          <a:p>
            <a:pPr algn="l" fontAlgn="base"/>
            <a:r>
              <a:rPr lang="en-IN" sz="1400" b="1" i="0" u="sng">
                <a:solidFill>
                  <a:srgbClr val="303030"/>
                </a:solidFill>
                <a:effectLst/>
                <a:latin typeface="roboto condensed" panose="02000000000000000000" pitchFamily="2" charset="0"/>
              </a:rPr>
              <a:t>Case-03: </a:t>
            </a:r>
            <a:r>
              <a:rPr lang="el-GR" sz="1400" b="1" i="0" u="sng">
                <a:solidFill>
                  <a:srgbClr val="303030"/>
                </a:solidFill>
                <a:effectLst/>
                <a:latin typeface="roboto condensed" panose="02000000000000000000" pitchFamily="2" charset="0"/>
              </a:rPr>
              <a:t>β</a:t>
            </a:r>
            <a:r>
              <a:rPr lang="el-GR" sz="1400" b="1" i="0" u="sng" baseline="-25000">
                <a:solidFill>
                  <a:srgbClr val="303030"/>
                </a:solidFill>
                <a:effectLst/>
                <a:latin typeface="roboto condensed" panose="02000000000000000000" pitchFamily="2" charset="0"/>
              </a:rPr>
              <a:t>1</a:t>
            </a:r>
            <a:r>
              <a:rPr lang="el-GR" sz="1400" b="1" i="0" u="sng">
                <a:solidFill>
                  <a:srgbClr val="303030"/>
                </a:solidFill>
                <a:effectLst/>
                <a:latin typeface="roboto condensed" panose="02000000000000000000" pitchFamily="2" charset="0"/>
              </a:rPr>
              <a:t> &gt; 0</a:t>
            </a:r>
            <a:endParaRPr lang="el-GR" sz="1400" b="1" i="0">
              <a:solidFill>
                <a:srgbClr val="303030"/>
              </a:solidFill>
              <a:effectLst/>
              <a:latin typeface="roboto condensed" panose="02000000000000000000" pitchFamily="2" charset="0"/>
            </a:endParaRPr>
          </a:p>
          <a:p>
            <a:pPr algn="l" fontAlgn="base"/>
            <a:r>
              <a:rPr lang="el-GR" sz="1400" b="0" i="0">
                <a:solidFill>
                  <a:srgbClr val="303030"/>
                </a:solidFill>
                <a:effectLst/>
                <a:latin typeface="Arimo"/>
              </a:rPr>
              <a:t> </a:t>
            </a:r>
          </a:p>
          <a:p>
            <a:pPr algn="l" fontAlgn="base">
              <a:buFont typeface="Arial" panose="020B0604020202020204" pitchFamily="34" charset="0"/>
              <a:buChar char="•"/>
            </a:pPr>
            <a:r>
              <a:rPr lang="en-IN" sz="1400" b="0" i="0">
                <a:solidFill>
                  <a:srgbClr val="303030"/>
                </a:solidFill>
                <a:effectLst/>
                <a:latin typeface="Arimo"/>
              </a:rPr>
              <a:t>It indicates that variable X has positive impact on Y.</a:t>
            </a:r>
          </a:p>
          <a:p>
            <a:pPr algn="l" fontAlgn="base">
              <a:buFont typeface="Arial" panose="020B0604020202020204" pitchFamily="34" charset="0"/>
              <a:buChar char="•"/>
            </a:pPr>
            <a:r>
              <a:rPr lang="en-IN" sz="1400" b="0" i="0">
                <a:solidFill>
                  <a:srgbClr val="303030"/>
                </a:solidFill>
                <a:effectLst/>
                <a:latin typeface="Arimo"/>
              </a:rPr>
              <a:t>If X increases, Y will increase and vice-versa.</a:t>
            </a:r>
          </a:p>
          <a:p>
            <a:pPr marR="0" lvl="0" eaLnBrk="1" fontAlgn="base" hangingPunct="1">
              <a:lnSpc>
                <a:spcPct val="90000"/>
              </a:lnSpc>
              <a:spcBef>
                <a:spcPct val="0"/>
              </a:spcBef>
              <a:spcAft>
                <a:spcPts val="600"/>
              </a:spcAft>
              <a:buClrTx/>
              <a:buSzTx/>
              <a:tabLst/>
            </a:pPr>
            <a:endParaRPr kumimoji="0" lang="en-US" altLang="en-US" sz="1400" b="0" i="0" u="none" strike="noStrike" cap="none" normalizeH="0" baseline="0" dirty="0">
              <a:ln>
                <a:noFill/>
              </a:ln>
              <a:effectLst/>
              <a:latin typeface="+mn-lt"/>
            </a:endParaRPr>
          </a:p>
        </p:txBody>
      </p:sp>
      <p:pic>
        <p:nvPicPr>
          <p:cNvPr id="3074" name="Picture 2">
            <a:extLst>
              <a:ext uri="{FF2B5EF4-FFF2-40B4-BE49-F238E27FC236}">
                <a16:creationId xmlns:a16="http://schemas.microsoft.com/office/drawing/2014/main" id="{22B8A139-50C6-438F-9DE8-682900C6C3A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589806" y="379709"/>
            <a:ext cx="1983459" cy="1736409"/>
          </a:xfrm>
          <a:prstGeom prst="rect">
            <a:avLst/>
          </a:prstGeom>
          <a:noFill/>
          <a:extLst>
            <a:ext uri="{909E8E84-426E-40DD-AFC4-6F175D3DCCD1}">
              <a14:hiddenFill xmlns:a14="http://schemas.microsoft.com/office/drawing/2010/main">
                <a:solidFill>
                  <a:srgbClr val="FFFFFF"/>
                </a:solidFill>
              </a14:hiddenFill>
            </a:ext>
          </a:extLst>
        </p:spPr>
      </p:pic>
      <p:sp>
        <p:nvSpPr>
          <p:cNvPr id="3083" name="Freeform: Shape 308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076" name="Picture 4">
            <a:extLst>
              <a:ext uri="{FF2B5EF4-FFF2-40B4-BE49-F238E27FC236}">
                <a16:creationId xmlns:a16="http://schemas.microsoft.com/office/drawing/2014/main" id="{CC436306-E0A5-16D2-7B1D-EFD911A56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9807" y="4569416"/>
            <a:ext cx="2180464" cy="190887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193647F5-1743-C602-ABBA-9F57FB308A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0759" y="2256746"/>
            <a:ext cx="2495562" cy="2184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732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4FC834-B36C-D379-E30E-51D4119E893B}"/>
              </a:ext>
            </a:extLst>
          </p:cNvPr>
          <p:cNvSpPr txBox="1"/>
          <p:nvPr/>
        </p:nvSpPr>
        <p:spPr>
          <a:xfrm>
            <a:off x="567559" y="148281"/>
            <a:ext cx="8465881" cy="6001643"/>
          </a:xfrm>
          <a:prstGeom prst="rect">
            <a:avLst/>
          </a:prstGeom>
          <a:noFill/>
        </p:spPr>
        <p:txBody>
          <a:bodyPr wrap="square">
            <a:spAutoFit/>
          </a:bodyPr>
          <a:lstStyle/>
          <a:p>
            <a:pPr algn="l"/>
            <a:endParaRPr lang="en-IN" sz="1600" b="0" i="0" dirty="0">
              <a:solidFill>
                <a:srgbClr val="222222"/>
              </a:solidFill>
              <a:effectLst/>
              <a:cs typeface="Times New Roman" panose="02020603050405020304" pitchFamily="18" charset="0"/>
            </a:endParaRPr>
          </a:p>
          <a:p>
            <a:pPr algn="l"/>
            <a:r>
              <a:rPr lang="en-IN" sz="1600" b="1" i="0" dirty="0">
                <a:solidFill>
                  <a:srgbClr val="222222"/>
                </a:solidFill>
                <a:effectLst/>
                <a:cs typeface="Times New Roman" panose="02020603050405020304" pitchFamily="18" charset="0"/>
              </a:rPr>
              <a:t>How the linear regression finds out which is the best fit line?</a:t>
            </a:r>
          </a:p>
          <a:p>
            <a:pPr algn="l"/>
            <a:r>
              <a:rPr lang="en-IN" sz="1600" b="0" i="0" dirty="0">
                <a:solidFill>
                  <a:srgbClr val="222222"/>
                </a:solidFill>
                <a:effectLst/>
                <a:cs typeface="Times New Roman" panose="02020603050405020304" pitchFamily="18" charset="0"/>
              </a:rPr>
              <a:t>The goal of the linear regression algorithm is to get the </a:t>
            </a:r>
            <a:r>
              <a:rPr lang="en-IN" sz="1600" b="1" i="0" dirty="0">
                <a:solidFill>
                  <a:srgbClr val="222222"/>
                </a:solidFill>
                <a:effectLst/>
                <a:cs typeface="Times New Roman" panose="02020603050405020304" pitchFamily="18" charset="0"/>
              </a:rPr>
              <a:t>best values for B</a:t>
            </a:r>
            <a:r>
              <a:rPr lang="en-IN" sz="1600" b="1" i="0" baseline="-25000" dirty="0">
                <a:solidFill>
                  <a:srgbClr val="222222"/>
                </a:solidFill>
                <a:effectLst/>
                <a:cs typeface="Times New Roman" panose="02020603050405020304" pitchFamily="18" charset="0"/>
              </a:rPr>
              <a:t>0</a:t>
            </a:r>
            <a:r>
              <a:rPr lang="en-IN" sz="1600" b="1" i="0" dirty="0">
                <a:solidFill>
                  <a:srgbClr val="222222"/>
                </a:solidFill>
                <a:effectLst/>
                <a:cs typeface="Times New Roman" panose="02020603050405020304" pitchFamily="18" charset="0"/>
              </a:rPr>
              <a:t> and B</a:t>
            </a:r>
            <a:r>
              <a:rPr lang="en-IN" sz="1600" b="1" i="0" baseline="-25000" dirty="0">
                <a:solidFill>
                  <a:srgbClr val="222222"/>
                </a:solidFill>
                <a:effectLst/>
                <a:cs typeface="Times New Roman" panose="02020603050405020304" pitchFamily="18" charset="0"/>
              </a:rPr>
              <a:t>1</a:t>
            </a:r>
            <a:r>
              <a:rPr lang="en-IN" sz="1600" b="0" i="0" dirty="0">
                <a:solidFill>
                  <a:srgbClr val="222222"/>
                </a:solidFill>
                <a:effectLst/>
                <a:cs typeface="Times New Roman" panose="02020603050405020304" pitchFamily="18" charset="0"/>
              </a:rPr>
              <a:t> to find the best fit line. The best fit line is a line that has the least error which means the error between predicted values and actual values should be minimum</a:t>
            </a:r>
          </a:p>
          <a:p>
            <a:pPr algn="l"/>
            <a:br>
              <a:rPr lang="en-IN" sz="1600" dirty="0">
                <a:cs typeface="Times New Roman" panose="02020603050405020304" pitchFamily="18" charset="0"/>
              </a:rPr>
            </a:br>
            <a:r>
              <a:rPr lang="en-IN" sz="1600" b="1" i="0" u="sng" dirty="0">
                <a:solidFill>
                  <a:srgbClr val="222222"/>
                </a:solidFill>
                <a:effectLst/>
                <a:cs typeface="Times New Roman" panose="02020603050405020304" pitchFamily="18" charset="0"/>
              </a:rPr>
              <a:t>Random Error(Residuals)</a:t>
            </a:r>
            <a:endParaRPr lang="en-IN" sz="1600" b="0" i="0" dirty="0">
              <a:solidFill>
                <a:srgbClr val="222222"/>
              </a:solidFill>
              <a:effectLst/>
              <a:cs typeface="Times New Roman" panose="02020603050405020304" pitchFamily="18" charset="0"/>
            </a:endParaRPr>
          </a:p>
          <a:p>
            <a:pPr algn="l"/>
            <a:r>
              <a:rPr lang="en-IN" sz="1600" b="0" i="0" dirty="0">
                <a:solidFill>
                  <a:srgbClr val="222222"/>
                </a:solidFill>
                <a:effectLst/>
                <a:cs typeface="Times New Roman" panose="02020603050405020304" pitchFamily="18" charset="0"/>
              </a:rPr>
              <a:t>In regression, the difference between the observed value of the dependent variable(</a:t>
            </a:r>
            <a:r>
              <a:rPr lang="en-IN" sz="1600" b="1" i="0" dirty="0" err="1">
                <a:solidFill>
                  <a:srgbClr val="222222"/>
                </a:solidFill>
                <a:effectLst/>
                <a:cs typeface="Times New Roman" panose="02020603050405020304" pitchFamily="18" charset="0"/>
              </a:rPr>
              <a:t>y</a:t>
            </a:r>
            <a:r>
              <a:rPr lang="en-IN" sz="1600" b="1" i="0" baseline="-25000" dirty="0" err="1">
                <a:solidFill>
                  <a:srgbClr val="222222"/>
                </a:solidFill>
                <a:effectLst/>
                <a:cs typeface="Times New Roman" panose="02020603050405020304" pitchFamily="18" charset="0"/>
              </a:rPr>
              <a:t>i</a:t>
            </a:r>
            <a:r>
              <a:rPr lang="en-IN" sz="1600" b="0" i="0" dirty="0">
                <a:solidFill>
                  <a:srgbClr val="222222"/>
                </a:solidFill>
                <a:effectLst/>
                <a:cs typeface="Times New Roman" panose="02020603050405020304" pitchFamily="18" charset="0"/>
              </a:rPr>
              <a:t>) and the predicted value(</a:t>
            </a:r>
            <a:r>
              <a:rPr lang="en-IN" sz="1600" b="1" i="0" dirty="0">
                <a:solidFill>
                  <a:srgbClr val="222222"/>
                </a:solidFill>
                <a:effectLst/>
                <a:cs typeface="Times New Roman" panose="02020603050405020304" pitchFamily="18" charset="0"/>
              </a:rPr>
              <a:t>predicted</a:t>
            </a:r>
            <a:r>
              <a:rPr lang="en-IN" sz="1600" b="0" i="0" dirty="0">
                <a:solidFill>
                  <a:srgbClr val="222222"/>
                </a:solidFill>
                <a:effectLst/>
                <a:cs typeface="Times New Roman" panose="02020603050405020304" pitchFamily="18" charset="0"/>
              </a:rPr>
              <a:t>) is called the residuals.</a:t>
            </a:r>
          </a:p>
          <a:p>
            <a:pPr algn="ctr"/>
            <a:r>
              <a:rPr lang="el-GR" sz="1600" b="1" i="0" dirty="0">
                <a:solidFill>
                  <a:srgbClr val="222222"/>
                </a:solidFill>
                <a:effectLst/>
                <a:cs typeface="Times New Roman" panose="02020603050405020304" pitchFamily="18" charset="0"/>
              </a:rPr>
              <a:t>ε</a:t>
            </a:r>
            <a:r>
              <a:rPr lang="en-IN" sz="1600" b="1" i="0" baseline="-25000" dirty="0" err="1">
                <a:solidFill>
                  <a:srgbClr val="222222"/>
                </a:solidFill>
                <a:effectLst/>
                <a:cs typeface="Times New Roman" panose="02020603050405020304" pitchFamily="18" charset="0"/>
              </a:rPr>
              <a:t>i</a:t>
            </a:r>
            <a:r>
              <a:rPr lang="en-IN" sz="1600" b="1" i="0" baseline="-25000" dirty="0">
                <a:solidFill>
                  <a:srgbClr val="222222"/>
                </a:solidFill>
                <a:effectLst/>
                <a:cs typeface="Times New Roman" panose="02020603050405020304" pitchFamily="18" charset="0"/>
              </a:rPr>
              <a:t> </a:t>
            </a:r>
            <a:r>
              <a:rPr lang="en-IN" sz="1600" b="1" i="0" dirty="0">
                <a:solidFill>
                  <a:srgbClr val="222222"/>
                </a:solidFill>
                <a:effectLst/>
                <a:cs typeface="Times New Roman" panose="02020603050405020304" pitchFamily="18" charset="0"/>
              </a:rPr>
              <a:t>= </a:t>
            </a:r>
            <a:r>
              <a:rPr lang="en-IN" sz="1600" b="0" i="0" dirty="0">
                <a:solidFill>
                  <a:srgbClr val="222222"/>
                </a:solidFill>
                <a:effectLst/>
                <a:cs typeface="Times New Roman" panose="02020603050405020304" pitchFamily="18" charset="0"/>
              </a:rPr>
              <a:t> </a:t>
            </a:r>
            <a:r>
              <a:rPr lang="en-IN" sz="1600" b="1" i="0" dirty="0" err="1">
                <a:solidFill>
                  <a:srgbClr val="222222"/>
                </a:solidFill>
                <a:effectLst/>
                <a:cs typeface="Times New Roman" panose="02020603050405020304" pitchFamily="18" charset="0"/>
              </a:rPr>
              <a:t>y</a:t>
            </a:r>
            <a:r>
              <a:rPr lang="en-IN" sz="1600" b="1" i="0" baseline="-25000" dirty="0" err="1">
                <a:solidFill>
                  <a:srgbClr val="222222"/>
                </a:solidFill>
                <a:effectLst/>
                <a:cs typeface="Times New Roman" panose="02020603050405020304" pitchFamily="18" charset="0"/>
              </a:rPr>
              <a:t>predicted</a:t>
            </a:r>
            <a:r>
              <a:rPr lang="en-IN" sz="1600" b="0" i="0" dirty="0">
                <a:solidFill>
                  <a:srgbClr val="222222"/>
                </a:solidFill>
                <a:effectLst/>
                <a:cs typeface="Times New Roman" panose="02020603050405020304" pitchFamily="18" charset="0"/>
              </a:rPr>
              <a:t> –   </a:t>
            </a:r>
            <a:r>
              <a:rPr lang="en-IN" sz="1600" b="1" i="0" dirty="0" err="1">
                <a:solidFill>
                  <a:srgbClr val="222222"/>
                </a:solidFill>
                <a:effectLst/>
                <a:cs typeface="Times New Roman" panose="02020603050405020304" pitchFamily="18" charset="0"/>
              </a:rPr>
              <a:t>y</a:t>
            </a:r>
            <a:r>
              <a:rPr lang="en-IN" sz="1600" b="1" i="0" baseline="-25000" dirty="0" err="1">
                <a:solidFill>
                  <a:srgbClr val="222222"/>
                </a:solidFill>
                <a:effectLst/>
                <a:cs typeface="Times New Roman" panose="02020603050405020304" pitchFamily="18" charset="0"/>
              </a:rPr>
              <a:t>i</a:t>
            </a:r>
            <a:endParaRPr lang="en-IN" sz="1600" b="0" i="0" dirty="0">
              <a:solidFill>
                <a:srgbClr val="222222"/>
              </a:solidFill>
              <a:effectLst/>
              <a:cs typeface="Times New Roman" panose="02020603050405020304" pitchFamily="18" charset="0"/>
            </a:endParaRPr>
          </a:p>
          <a:p>
            <a:pPr algn="l"/>
            <a:r>
              <a:rPr lang="en-IN" sz="1600" i="0" dirty="0">
                <a:solidFill>
                  <a:srgbClr val="222222"/>
                </a:solidFill>
                <a:effectLst/>
                <a:cs typeface="Times New Roman" panose="02020603050405020304" pitchFamily="18" charset="0"/>
              </a:rPr>
              <a:t>where </a:t>
            </a:r>
            <a:r>
              <a:rPr lang="en-IN" sz="1600" i="0" dirty="0" err="1">
                <a:solidFill>
                  <a:srgbClr val="222222"/>
                </a:solidFill>
                <a:effectLst/>
                <a:cs typeface="Times New Roman" panose="02020603050405020304" pitchFamily="18" charset="0"/>
              </a:rPr>
              <a:t>y</a:t>
            </a:r>
            <a:r>
              <a:rPr lang="en-IN" sz="1600" i="0" baseline="-25000" dirty="0" err="1">
                <a:solidFill>
                  <a:srgbClr val="222222"/>
                </a:solidFill>
                <a:effectLst/>
                <a:cs typeface="Times New Roman" panose="02020603050405020304" pitchFamily="18" charset="0"/>
              </a:rPr>
              <a:t>predicted</a:t>
            </a:r>
            <a:r>
              <a:rPr lang="en-IN" sz="1600" i="0" dirty="0">
                <a:solidFill>
                  <a:srgbClr val="222222"/>
                </a:solidFill>
                <a:effectLst/>
                <a:cs typeface="Times New Roman" panose="02020603050405020304" pitchFamily="18" charset="0"/>
              </a:rPr>
              <a:t> =   B</a:t>
            </a:r>
            <a:r>
              <a:rPr lang="en-IN" sz="1600" i="0" baseline="-25000" dirty="0">
                <a:solidFill>
                  <a:srgbClr val="222222"/>
                </a:solidFill>
                <a:effectLst/>
                <a:cs typeface="Times New Roman" panose="02020603050405020304" pitchFamily="18" charset="0"/>
              </a:rPr>
              <a:t>0</a:t>
            </a:r>
            <a:r>
              <a:rPr lang="en-IN" sz="1600" i="0" dirty="0">
                <a:solidFill>
                  <a:srgbClr val="222222"/>
                </a:solidFill>
                <a:effectLst/>
                <a:cs typeface="Times New Roman" panose="02020603050405020304" pitchFamily="18" charset="0"/>
              </a:rPr>
              <a:t> + B</a:t>
            </a:r>
            <a:r>
              <a:rPr lang="en-IN" sz="1600" i="0" baseline="-25000" dirty="0">
                <a:solidFill>
                  <a:srgbClr val="222222"/>
                </a:solidFill>
                <a:effectLst/>
                <a:cs typeface="Times New Roman" panose="02020603050405020304" pitchFamily="18" charset="0"/>
              </a:rPr>
              <a:t>1</a:t>
            </a:r>
            <a:r>
              <a:rPr lang="en-IN" sz="1600" i="0" dirty="0">
                <a:solidFill>
                  <a:srgbClr val="222222"/>
                </a:solidFill>
                <a:effectLst/>
                <a:cs typeface="Times New Roman" panose="02020603050405020304" pitchFamily="18" charset="0"/>
              </a:rPr>
              <a:t> X</a:t>
            </a:r>
            <a:r>
              <a:rPr lang="en-IN" sz="1600" i="0" baseline="-25000" dirty="0">
                <a:solidFill>
                  <a:srgbClr val="222222"/>
                </a:solidFill>
                <a:effectLst/>
                <a:cs typeface="Times New Roman" panose="02020603050405020304" pitchFamily="18" charset="0"/>
              </a:rPr>
              <a:t>i</a:t>
            </a:r>
          </a:p>
          <a:p>
            <a:pPr algn="l"/>
            <a:endParaRPr lang="en-IN" sz="1600" b="0" i="0" dirty="0">
              <a:solidFill>
                <a:srgbClr val="222222"/>
              </a:solidFill>
              <a:effectLst/>
              <a:cs typeface="Times New Roman" panose="02020603050405020304" pitchFamily="18" charset="0"/>
            </a:endParaRPr>
          </a:p>
          <a:p>
            <a:pPr algn="l"/>
            <a:r>
              <a:rPr lang="en-IN" sz="1600" b="1" i="0" dirty="0">
                <a:solidFill>
                  <a:srgbClr val="222222"/>
                </a:solidFill>
                <a:effectLst/>
                <a:cs typeface="Times New Roman" panose="02020603050405020304" pitchFamily="18" charset="0"/>
              </a:rPr>
              <a:t>What is the best fit line?</a:t>
            </a:r>
            <a:endParaRPr lang="en-IN" sz="1600" b="0" i="0" dirty="0">
              <a:solidFill>
                <a:srgbClr val="222222"/>
              </a:solidFill>
              <a:effectLst/>
              <a:cs typeface="Times New Roman" panose="02020603050405020304" pitchFamily="18" charset="0"/>
            </a:endParaRPr>
          </a:p>
          <a:p>
            <a:pPr algn="l"/>
            <a:r>
              <a:rPr lang="en-IN" sz="1600" b="0" i="0" dirty="0">
                <a:solidFill>
                  <a:srgbClr val="222222"/>
                </a:solidFill>
                <a:effectLst/>
                <a:cs typeface="Times New Roman" panose="02020603050405020304" pitchFamily="18" charset="0"/>
              </a:rPr>
              <a:t>In simple terms, the best fit line is a line that fits the given scatter plot in the best way. Mathematically, the best fit line is obtained by minimizing the Residual Sum of Squares(RSS)</a:t>
            </a:r>
          </a:p>
          <a:p>
            <a:pPr algn="l"/>
            <a:endParaRPr lang="en-IN" sz="1600" b="0" i="0" dirty="0">
              <a:solidFill>
                <a:srgbClr val="222222"/>
              </a:solidFill>
              <a:effectLst/>
              <a:cs typeface="Times New Roman" panose="02020603050405020304" pitchFamily="18" charset="0"/>
            </a:endParaRPr>
          </a:p>
          <a:p>
            <a:pPr algn="l"/>
            <a:r>
              <a:rPr lang="en-IN" sz="1600" b="1" i="0" dirty="0">
                <a:solidFill>
                  <a:srgbClr val="222222"/>
                </a:solidFill>
                <a:effectLst/>
                <a:cs typeface="Times New Roman" panose="02020603050405020304" pitchFamily="18" charset="0"/>
              </a:rPr>
              <a:t>Cost Function for Linear Regression</a:t>
            </a:r>
          </a:p>
          <a:p>
            <a:pPr algn="l"/>
            <a:r>
              <a:rPr lang="en-IN" sz="1600" b="0" i="0" dirty="0">
                <a:solidFill>
                  <a:srgbClr val="222222"/>
                </a:solidFill>
                <a:effectLst/>
                <a:cs typeface="Times New Roman" panose="02020603050405020304" pitchFamily="18" charset="0"/>
              </a:rPr>
              <a:t>The </a:t>
            </a:r>
            <a:r>
              <a:rPr lang="en-IN" sz="1600" b="0" i="0" u="none" strike="noStrike" dirty="0">
                <a:effectLst/>
                <a:cs typeface="Times New Roman" panose="02020603050405020304" pitchFamily="18" charset="0"/>
              </a:rPr>
              <a:t>cost</a:t>
            </a:r>
            <a:r>
              <a:rPr lang="en-IN" sz="1600" b="0" i="0" u="none" strike="noStrike" dirty="0">
                <a:effectLst/>
                <a:cs typeface="Times New Roman" panose="02020603050405020304" pitchFamily="18" charset="0"/>
                <a:hlinkClick r:id="rId2">
                  <a:extLst>
                    <a:ext uri="{A12FA001-AC4F-418D-AE19-62706E023703}">
                      <ahyp:hlinkClr xmlns:ahyp="http://schemas.microsoft.com/office/drawing/2018/hyperlinkcolor" val="tx"/>
                    </a:ext>
                  </a:extLst>
                </a:hlinkClick>
              </a:rPr>
              <a:t> </a:t>
            </a:r>
            <a:r>
              <a:rPr lang="en-IN" sz="1600" b="0" i="0" u="none" strike="noStrike" dirty="0">
                <a:effectLst/>
                <a:cs typeface="Times New Roman" panose="02020603050405020304" pitchFamily="18" charset="0"/>
              </a:rPr>
              <a:t>function</a:t>
            </a:r>
            <a:r>
              <a:rPr lang="en-IN" sz="1600" b="0" i="0" dirty="0">
                <a:effectLst/>
                <a:cs typeface="Times New Roman" panose="02020603050405020304" pitchFamily="18" charset="0"/>
              </a:rPr>
              <a:t> </a:t>
            </a:r>
            <a:r>
              <a:rPr lang="en-IN" sz="1600" b="0" i="0" dirty="0">
                <a:solidFill>
                  <a:srgbClr val="222222"/>
                </a:solidFill>
                <a:effectLst/>
                <a:cs typeface="Times New Roman" panose="02020603050405020304" pitchFamily="18" charset="0"/>
              </a:rPr>
              <a:t>helps to find out the optimal values for B</a:t>
            </a:r>
            <a:r>
              <a:rPr lang="en-IN" sz="1600" b="0" i="0" baseline="-25000" dirty="0">
                <a:solidFill>
                  <a:srgbClr val="222222"/>
                </a:solidFill>
                <a:effectLst/>
                <a:cs typeface="Times New Roman" panose="02020603050405020304" pitchFamily="18" charset="0"/>
              </a:rPr>
              <a:t>0</a:t>
            </a:r>
            <a:r>
              <a:rPr lang="en-IN" sz="1600" b="0" i="0" dirty="0">
                <a:solidFill>
                  <a:srgbClr val="222222"/>
                </a:solidFill>
                <a:effectLst/>
                <a:cs typeface="Times New Roman" panose="02020603050405020304" pitchFamily="18" charset="0"/>
              </a:rPr>
              <a:t> and B</a:t>
            </a:r>
            <a:r>
              <a:rPr lang="en-IN" sz="1600" b="0" i="0" baseline="-25000" dirty="0">
                <a:solidFill>
                  <a:srgbClr val="222222"/>
                </a:solidFill>
                <a:effectLst/>
                <a:cs typeface="Times New Roman" panose="02020603050405020304" pitchFamily="18" charset="0"/>
              </a:rPr>
              <a:t>1</a:t>
            </a:r>
            <a:r>
              <a:rPr lang="en-IN" sz="1600" b="0" i="0" dirty="0">
                <a:solidFill>
                  <a:srgbClr val="222222"/>
                </a:solidFill>
                <a:effectLst/>
                <a:cs typeface="Times New Roman" panose="02020603050405020304" pitchFamily="18" charset="0"/>
              </a:rPr>
              <a:t>, which provides the best fit line for the data points.</a:t>
            </a:r>
          </a:p>
          <a:p>
            <a:pPr algn="l"/>
            <a:r>
              <a:rPr lang="en-IN" sz="1600" b="0" i="0" dirty="0">
                <a:solidFill>
                  <a:srgbClr val="222222"/>
                </a:solidFill>
                <a:effectLst/>
                <a:cs typeface="Times New Roman" panose="02020603050405020304" pitchFamily="18" charset="0"/>
              </a:rPr>
              <a:t>In Linear Regression, generally </a:t>
            </a:r>
            <a:r>
              <a:rPr lang="en-IN" sz="1600" b="1" i="0" dirty="0">
                <a:solidFill>
                  <a:srgbClr val="222222"/>
                </a:solidFill>
                <a:effectLst/>
                <a:cs typeface="Times New Roman" panose="02020603050405020304" pitchFamily="18" charset="0"/>
              </a:rPr>
              <a:t>Mean Squared Error (MSE)</a:t>
            </a:r>
            <a:r>
              <a:rPr lang="en-IN" sz="1600" b="0" i="0" dirty="0">
                <a:solidFill>
                  <a:srgbClr val="222222"/>
                </a:solidFill>
                <a:effectLst/>
                <a:cs typeface="Times New Roman" panose="02020603050405020304" pitchFamily="18" charset="0"/>
              </a:rPr>
              <a:t> cost function is used, which is the average of squared error that occurred between the </a:t>
            </a:r>
            <a:r>
              <a:rPr lang="en-IN" sz="1600" b="1" i="0" dirty="0" err="1">
                <a:solidFill>
                  <a:srgbClr val="222222"/>
                </a:solidFill>
                <a:effectLst/>
                <a:cs typeface="Times New Roman" panose="02020603050405020304" pitchFamily="18" charset="0"/>
              </a:rPr>
              <a:t>y</a:t>
            </a:r>
            <a:r>
              <a:rPr lang="en-IN" sz="1600" b="1" i="0" baseline="-25000" dirty="0" err="1">
                <a:solidFill>
                  <a:srgbClr val="222222"/>
                </a:solidFill>
                <a:effectLst/>
                <a:cs typeface="Times New Roman" panose="02020603050405020304" pitchFamily="18" charset="0"/>
              </a:rPr>
              <a:t>predicted</a:t>
            </a:r>
            <a:r>
              <a:rPr lang="en-IN" sz="1600" b="0" i="0" dirty="0">
                <a:solidFill>
                  <a:srgbClr val="222222"/>
                </a:solidFill>
                <a:effectLst/>
                <a:cs typeface="Times New Roman" panose="02020603050405020304" pitchFamily="18" charset="0"/>
              </a:rPr>
              <a:t> and </a:t>
            </a:r>
            <a:r>
              <a:rPr lang="en-IN" sz="1600" b="1" i="0" dirty="0" err="1">
                <a:solidFill>
                  <a:srgbClr val="222222"/>
                </a:solidFill>
                <a:effectLst/>
                <a:cs typeface="Times New Roman" panose="02020603050405020304" pitchFamily="18" charset="0"/>
              </a:rPr>
              <a:t>y</a:t>
            </a:r>
            <a:r>
              <a:rPr lang="en-IN" sz="1600" b="1" i="0" baseline="-25000" dirty="0" err="1">
                <a:solidFill>
                  <a:srgbClr val="222222"/>
                </a:solidFill>
                <a:effectLst/>
                <a:cs typeface="Times New Roman" panose="02020603050405020304" pitchFamily="18" charset="0"/>
              </a:rPr>
              <a:t>i</a:t>
            </a:r>
            <a:r>
              <a:rPr lang="en-IN" sz="1600" b="0" i="0" dirty="0">
                <a:solidFill>
                  <a:srgbClr val="222222"/>
                </a:solidFill>
                <a:effectLst/>
                <a:cs typeface="Times New Roman" panose="02020603050405020304" pitchFamily="18" charset="0"/>
              </a:rPr>
              <a:t>.</a:t>
            </a:r>
          </a:p>
          <a:p>
            <a:pPr algn="l"/>
            <a:r>
              <a:rPr lang="en-IN" sz="1600" b="0" i="0" dirty="0">
                <a:solidFill>
                  <a:srgbClr val="222222"/>
                </a:solidFill>
                <a:effectLst/>
                <a:cs typeface="Times New Roman" panose="02020603050405020304" pitchFamily="18" charset="0"/>
              </a:rPr>
              <a:t>We calculate MSE using simple linear equation y=</a:t>
            </a:r>
            <a:r>
              <a:rPr lang="en-IN" sz="1600" b="0" i="0" dirty="0" err="1">
                <a:solidFill>
                  <a:srgbClr val="222222"/>
                </a:solidFill>
                <a:effectLst/>
                <a:cs typeface="Times New Roman" panose="02020603050405020304" pitchFamily="18" charset="0"/>
              </a:rPr>
              <a:t>mx+b</a:t>
            </a:r>
            <a:r>
              <a:rPr lang="en-IN" sz="1600" b="0" i="0" dirty="0">
                <a:solidFill>
                  <a:srgbClr val="222222"/>
                </a:solidFill>
                <a:effectLst/>
                <a:cs typeface="Times New Roman" panose="02020603050405020304" pitchFamily="18" charset="0"/>
              </a:rPr>
              <a:t>:</a:t>
            </a:r>
          </a:p>
          <a:p>
            <a:pPr algn="l"/>
            <a:endParaRPr lang="en-IN" sz="1600" b="0" i="0" dirty="0">
              <a:solidFill>
                <a:srgbClr val="222222"/>
              </a:solidFill>
              <a:effectLst/>
            </a:endParaRPr>
          </a:p>
          <a:p>
            <a:endParaRPr lang="en-US" sz="1600" dirty="0"/>
          </a:p>
        </p:txBody>
      </p:sp>
      <p:pic>
        <p:nvPicPr>
          <p:cNvPr id="4" name="Picture 2">
            <a:extLst>
              <a:ext uri="{FF2B5EF4-FFF2-40B4-BE49-F238E27FC236}">
                <a16:creationId xmlns:a16="http://schemas.microsoft.com/office/drawing/2014/main" id="{2BCD1F85-F3C9-7615-28C7-6A0A5F776A9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033440" y="699362"/>
            <a:ext cx="3158560" cy="201623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282BC842-BE0E-20F5-65A8-98DD97A8AB56}"/>
              </a:ext>
            </a:extLst>
          </p:cNvPr>
          <p:cNvPicPr>
            <a:picLocks noChangeAspect="1"/>
          </p:cNvPicPr>
          <p:nvPr/>
        </p:nvPicPr>
        <p:blipFill>
          <a:blip r:embed="rId4"/>
          <a:stretch>
            <a:fillRect/>
          </a:stretch>
        </p:blipFill>
        <p:spPr>
          <a:xfrm>
            <a:off x="936369" y="5560803"/>
            <a:ext cx="5994400" cy="685800"/>
          </a:xfrm>
          <a:prstGeom prst="rect">
            <a:avLst/>
          </a:prstGeom>
        </p:spPr>
      </p:pic>
    </p:spTree>
    <p:extLst>
      <p:ext uri="{BB962C8B-B14F-4D97-AF65-F5344CB8AC3E}">
        <p14:creationId xmlns:p14="http://schemas.microsoft.com/office/powerpoint/2010/main" val="2064486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4FC834-B36C-D379-E30E-51D4119E893B}"/>
              </a:ext>
            </a:extLst>
          </p:cNvPr>
          <p:cNvSpPr txBox="1"/>
          <p:nvPr/>
        </p:nvSpPr>
        <p:spPr>
          <a:xfrm>
            <a:off x="336331" y="136635"/>
            <a:ext cx="8579529" cy="3785652"/>
          </a:xfrm>
          <a:prstGeom prst="rect">
            <a:avLst/>
          </a:prstGeom>
          <a:noFill/>
        </p:spPr>
        <p:txBody>
          <a:bodyPr wrap="square">
            <a:spAutoFit/>
          </a:bodyPr>
          <a:lstStyle/>
          <a:p>
            <a:pPr algn="l"/>
            <a:r>
              <a:rPr lang="en-IN" sz="1600" b="0" i="0" dirty="0">
                <a:solidFill>
                  <a:srgbClr val="222222"/>
                </a:solidFill>
                <a:effectLst/>
                <a:latin typeface="Lato" panose="020F0502020204030203" pitchFamily="34" charset="0"/>
              </a:rPr>
              <a:t>Using the MSE function, we’ll update the values of B</a:t>
            </a:r>
            <a:r>
              <a:rPr lang="en-IN" sz="1600" b="0" i="0" baseline="-25000" dirty="0">
                <a:solidFill>
                  <a:srgbClr val="222222"/>
                </a:solidFill>
                <a:effectLst/>
                <a:latin typeface="Lato" panose="020F0502020204030203" pitchFamily="34" charset="0"/>
              </a:rPr>
              <a:t>0</a:t>
            </a:r>
            <a:r>
              <a:rPr lang="en-IN" sz="1600" b="0" i="0" dirty="0">
                <a:solidFill>
                  <a:srgbClr val="222222"/>
                </a:solidFill>
                <a:effectLst/>
                <a:latin typeface="Lato" panose="020F0502020204030203" pitchFamily="34" charset="0"/>
              </a:rPr>
              <a:t> and B</a:t>
            </a:r>
            <a:r>
              <a:rPr lang="en-IN" sz="1600" b="0" i="0" baseline="-25000" dirty="0">
                <a:solidFill>
                  <a:srgbClr val="222222"/>
                </a:solidFill>
                <a:effectLst/>
                <a:latin typeface="Lato" panose="020F0502020204030203" pitchFamily="34" charset="0"/>
              </a:rPr>
              <a:t>1</a:t>
            </a:r>
            <a:r>
              <a:rPr lang="en-IN" sz="1600" b="0" i="0" dirty="0">
                <a:solidFill>
                  <a:srgbClr val="222222"/>
                </a:solidFill>
                <a:effectLst/>
                <a:latin typeface="Lato" panose="020F0502020204030203" pitchFamily="34" charset="0"/>
              </a:rPr>
              <a:t> such that the MSE value settles at the minima.  These parameters can be determined using the gradient descent method such that the value for the cost function is minimum</a:t>
            </a:r>
          </a:p>
          <a:p>
            <a:pPr algn="l"/>
            <a:endParaRPr lang="en-IN" sz="1600" b="0" i="0" dirty="0">
              <a:solidFill>
                <a:srgbClr val="222222"/>
              </a:solidFill>
              <a:effectLst/>
              <a:latin typeface="Lato" panose="020F0502020204030203" pitchFamily="34" charset="0"/>
            </a:endParaRPr>
          </a:p>
          <a:p>
            <a:pPr algn="l"/>
            <a:r>
              <a:rPr lang="en-IN" sz="1600" b="1" i="0" dirty="0">
                <a:solidFill>
                  <a:srgbClr val="222222"/>
                </a:solidFill>
                <a:effectLst/>
                <a:latin typeface="Lato" panose="020F0502020204030203" pitchFamily="34" charset="0"/>
              </a:rPr>
              <a:t>Gradient Descent for Linear Regression</a:t>
            </a:r>
            <a:endParaRPr lang="en-IN" sz="1600" b="0" i="0" dirty="0">
              <a:solidFill>
                <a:srgbClr val="222222"/>
              </a:solidFill>
              <a:effectLst/>
              <a:latin typeface="Lato" panose="020F0502020204030203" pitchFamily="34" charset="0"/>
            </a:endParaRPr>
          </a:p>
          <a:p>
            <a:pPr algn="l"/>
            <a:r>
              <a:rPr lang="en-IN" sz="1600" b="0" i="0" dirty="0">
                <a:solidFill>
                  <a:srgbClr val="222222"/>
                </a:solidFill>
                <a:effectLst/>
                <a:latin typeface="Lato" panose="020F0502020204030203" pitchFamily="34" charset="0"/>
              </a:rPr>
              <a:t>Gradient Descent is one of the optimization algorithms that optimize the cost function(objective function) to reach the optimal minimal solution..</a:t>
            </a:r>
          </a:p>
          <a:p>
            <a:pPr algn="l"/>
            <a:endParaRPr lang="en-IN" sz="1600" b="0" i="0" dirty="0">
              <a:solidFill>
                <a:srgbClr val="222222"/>
              </a:solidFill>
              <a:effectLst/>
              <a:latin typeface="Lato" panose="020F0502020204030203" pitchFamily="34" charset="0"/>
            </a:endParaRPr>
          </a:p>
          <a:p>
            <a:pPr algn="l"/>
            <a:r>
              <a:rPr lang="en-IN" sz="1600" b="0" i="0" dirty="0">
                <a:solidFill>
                  <a:srgbClr val="222222"/>
                </a:solidFill>
                <a:effectLst/>
                <a:latin typeface="Lato" panose="020F0502020204030203" pitchFamily="34" charset="0"/>
              </a:rPr>
              <a:t>A regression model optimizes the gradient descent algorithm to update the coefficients of the line by reducing the cost function by randomly selecting coefficient values and then iteratively updating the values to reach the minimum cost function.</a:t>
            </a:r>
          </a:p>
          <a:p>
            <a:pPr algn="l"/>
            <a:endParaRPr lang="en-IN" sz="1600" b="0" i="0" dirty="0">
              <a:solidFill>
                <a:srgbClr val="222222"/>
              </a:solidFill>
              <a:effectLst/>
              <a:latin typeface="Lato" panose="020F0502020204030203" pitchFamily="34" charset="0"/>
            </a:endParaRPr>
          </a:p>
          <a:p>
            <a:endParaRPr lang="en-IN" sz="1600" b="0" i="0" dirty="0">
              <a:solidFill>
                <a:srgbClr val="222222"/>
              </a:solidFill>
              <a:effectLst/>
              <a:latin typeface="Lato" panose="020F0502020204030203" pitchFamily="34" charset="0"/>
            </a:endParaRPr>
          </a:p>
          <a:p>
            <a:r>
              <a:rPr lang="en-IN" sz="1600" b="0" i="0" dirty="0">
                <a:solidFill>
                  <a:srgbClr val="222222"/>
                </a:solidFill>
                <a:effectLst/>
                <a:latin typeface="Lato" panose="020F0502020204030203" pitchFamily="34" charset="0"/>
              </a:rPr>
              <a:t>In the gradient descent algorithm, the number of steps you’re taking can be considered as the </a:t>
            </a:r>
            <a:r>
              <a:rPr lang="en-IN" sz="1600" b="1" i="0" dirty="0">
                <a:solidFill>
                  <a:srgbClr val="222222"/>
                </a:solidFill>
                <a:effectLst/>
                <a:latin typeface="Lato" panose="020F0502020204030203" pitchFamily="34" charset="0"/>
              </a:rPr>
              <a:t>learning rate</a:t>
            </a:r>
            <a:r>
              <a:rPr lang="en-IN" sz="1600" b="0" i="0" dirty="0">
                <a:solidFill>
                  <a:srgbClr val="222222"/>
                </a:solidFill>
                <a:effectLst/>
                <a:latin typeface="Lato" panose="020F0502020204030203" pitchFamily="34" charset="0"/>
              </a:rPr>
              <a:t>, and this decides how fast the algorithm </a:t>
            </a:r>
            <a:r>
              <a:rPr lang="en-IN" sz="1600" b="1" i="0" dirty="0">
                <a:solidFill>
                  <a:srgbClr val="222222"/>
                </a:solidFill>
                <a:effectLst/>
                <a:latin typeface="Lato" panose="020F0502020204030203" pitchFamily="34" charset="0"/>
              </a:rPr>
              <a:t>converges</a:t>
            </a:r>
            <a:r>
              <a:rPr lang="en-IN" sz="1600" b="0" i="0" dirty="0">
                <a:solidFill>
                  <a:srgbClr val="222222"/>
                </a:solidFill>
                <a:effectLst/>
                <a:latin typeface="Lato" panose="020F0502020204030203" pitchFamily="34" charset="0"/>
              </a:rPr>
              <a:t> to the minima.</a:t>
            </a:r>
            <a:endParaRPr lang="en-US" sz="1600" dirty="0"/>
          </a:p>
        </p:txBody>
      </p:sp>
      <p:pic>
        <p:nvPicPr>
          <p:cNvPr id="5" name="Picture 4" descr="Chart, line chart&#10;&#10;Description automatically generated">
            <a:extLst>
              <a:ext uri="{FF2B5EF4-FFF2-40B4-BE49-F238E27FC236}">
                <a16:creationId xmlns:a16="http://schemas.microsoft.com/office/drawing/2014/main" id="{4EF0F357-25FC-5D42-9D78-84F9AF82F79D}"/>
              </a:ext>
            </a:extLst>
          </p:cNvPr>
          <p:cNvPicPr>
            <a:picLocks noChangeAspect="1"/>
          </p:cNvPicPr>
          <p:nvPr/>
        </p:nvPicPr>
        <p:blipFill rotWithShape="1">
          <a:blip r:embed="rId2"/>
          <a:srcRect r="18380" b="3301"/>
          <a:stretch/>
        </p:blipFill>
        <p:spPr>
          <a:xfrm>
            <a:off x="8731666" y="1143452"/>
            <a:ext cx="3371138" cy="1772017"/>
          </a:xfrm>
          <a:prstGeom prst="rect">
            <a:avLst/>
          </a:prstGeom>
        </p:spPr>
      </p:pic>
      <p:pic>
        <p:nvPicPr>
          <p:cNvPr id="9218" name="Picture 2" descr="Gradient Descent for Linear Regression | minima and maxima">
            <a:extLst>
              <a:ext uri="{FF2B5EF4-FFF2-40B4-BE49-F238E27FC236}">
                <a16:creationId xmlns:a16="http://schemas.microsoft.com/office/drawing/2014/main" id="{EA528D3C-31E4-4ADE-266F-C368D528CF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342" y="3919808"/>
            <a:ext cx="5256255" cy="2801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926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4FC834-B36C-D379-E30E-51D4119E893B}"/>
              </a:ext>
            </a:extLst>
          </p:cNvPr>
          <p:cNvSpPr txBox="1"/>
          <p:nvPr/>
        </p:nvSpPr>
        <p:spPr>
          <a:xfrm>
            <a:off x="423601" y="129138"/>
            <a:ext cx="10833404" cy="7602081"/>
          </a:xfrm>
          <a:prstGeom prst="rect">
            <a:avLst/>
          </a:prstGeom>
          <a:noFill/>
        </p:spPr>
        <p:txBody>
          <a:bodyPr wrap="square">
            <a:spAutoFit/>
          </a:bodyPr>
          <a:lstStyle/>
          <a:p>
            <a:pPr algn="l"/>
            <a:r>
              <a:rPr lang="en-IN" sz="2000" b="1" i="0" u="sng" dirty="0">
                <a:solidFill>
                  <a:srgbClr val="222222"/>
                </a:solidFill>
                <a:effectLst/>
              </a:rPr>
              <a:t>Evaluation Metrics for Linear Regression</a:t>
            </a:r>
            <a:br>
              <a:rPr lang="en-IN" sz="1600" b="1" i="0" dirty="0">
                <a:solidFill>
                  <a:srgbClr val="222222"/>
                </a:solidFill>
                <a:effectLst/>
              </a:rPr>
            </a:br>
            <a:endParaRPr lang="en-IN" sz="1600" b="0" i="0" dirty="0">
              <a:solidFill>
                <a:srgbClr val="222222"/>
              </a:solidFill>
              <a:effectLst/>
            </a:endParaRPr>
          </a:p>
          <a:p>
            <a:pPr algn="l"/>
            <a:r>
              <a:rPr lang="en-IN" sz="1600" b="0" i="0" dirty="0">
                <a:solidFill>
                  <a:srgbClr val="222222"/>
                </a:solidFill>
                <a:effectLst/>
              </a:rPr>
              <a:t>The strength of any linear regression model can be assessed using various evaluation metrics. The most used metrics are,</a:t>
            </a:r>
          </a:p>
          <a:p>
            <a:pPr algn="l">
              <a:buFont typeface="+mj-lt"/>
              <a:buAutoNum type="arabicPeriod"/>
            </a:pPr>
            <a:r>
              <a:rPr lang="en-IN" sz="1600" b="0" i="0" dirty="0">
                <a:solidFill>
                  <a:srgbClr val="222222"/>
                </a:solidFill>
                <a:effectLst/>
              </a:rPr>
              <a:t>Coefficient of Determination or R-Squared (R2)</a:t>
            </a:r>
          </a:p>
          <a:p>
            <a:pPr algn="l">
              <a:buFont typeface="+mj-lt"/>
              <a:buAutoNum type="arabicPeriod"/>
            </a:pPr>
            <a:r>
              <a:rPr lang="en-IN" sz="1600" b="0" i="0" dirty="0">
                <a:solidFill>
                  <a:srgbClr val="222222"/>
                </a:solidFill>
                <a:effectLst/>
              </a:rPr>
              <a:t>Root Mean Squared Error (RSME) and Residual Standard Error (RSE)</a:t>
            </a:r>
          </a:p>
          <a:p>
            <a:pPr algn="l"/>
            <a:endParaRPr lang="en-IN" sz="1600" b="0" i="0" dirty="0">
              <a:solidFill>
                <a:srgbClr val="222222"/>
              </a:solidFill>
              <a:effectLst/>
            </a:endParaRPr>
          </a:p>
          <a:p>
            <a:pPr algn="l"/>
            <a:r>
              <a:rPr lang="en-IN" sz="1600" b="1" i="0" dirty="0">
                <a:solidFill>
                  <a:srgbClr val="222222"/>
                </a:solidFill>
                <a:effectLst/>
              </a:rPr>
              <a:t>1. Coefficient of Determination or R-Squared (R2)</a:t>
            </a:r>
            <a:endParaRPr lang="en-IN" sz="1600" b="0" i="0" dirty="0">
              <a:solidFill>
                <a:srgbClr val="222222"/>
              </a:solidFill>
              <a:effectLst/>
            </a:endParaRPr>
          </a:p>
          <a:p>
            <a:pPr algn="l"/>
            <a:r>
              <a:rPr lang="en-IN" sz="1600" b="0" i="0" dirty="0">
                <a:solidFill>
                  <a:srgbClr val="222222"/>
                </a:solidFill>
                <a:effectLst/>
              </a:rPr>
              <a:t>R-Squared is a number that explains the amount of variation that is explained/captured by the developed model. It always ranges between 0 &amp; 1 . Overall, the higher the value of R-squared, the better the model fits the data.</a:t>
            </a:r>
          </a:p>
          <a:p>
            <a:pPr algn="l"/>
            <a:r>
              <a:rPr lang="en-IN" sz="1600" b="0" i="0" dirty="0">
                <a:solidFill>
                  <a:srgbClr val="222222"/>
                </a:solidFill>
                <a:effectLst/>
              </a:rPr>
              <a:t>Mathematically it can be represented as,</a:t>
            </a:r>
          </a:p>
          <a:p>
            <a:pPr algn="l"/>
            <a:endParaRPr lang="en-IN" sz="1600" b="0" i="0" dirty="0">
              <a:solidFill>
                <a:srgbClr val="222222"/>
              </a:solidFill>
              <a:effectLst/>
            </a:endParaRPr>
          </a:p>
          <a:p>
            <a:pPr algn="l"/>
            <a:r>
              <a:rPr lang="en-IN" sz="1600" b="1" i="0" dirty="0">
                <a:solidFill>
                  <a:srgbClr val="222222"/>
                </a:solidFill>
                <a:effectLst/>
              </a:rPr>
              <a:t>   R</a:t>
            </a:r>
            <a:r>
              <a:rPr lang="en-IN" sz="1600" b="1" i="0" baseline="30000" dirty="0">
                <a:solidFill>
                  <a:srgbClr val="222222"/>
                </a:solidFill>
                <a:effectLst/>
              </a:rPr>
              <a:t>2</a:t>
            </a:r>
            <a:r>
              <a:rPr lang="en-IN" sz="1600" b="1" i="0" dirty="0">
                <a:solidFill>
                  <a:srgbClr val="222222"/>
                </a:solidFill>
                <a:effectLst/>
              </a:rPr>
              <a:t> = 1 – ( RSS/TSS ) </a:t>
            </a:r>
          </a:p>
          <a:p>
            <a:pPr algn="l"/>
            <a:endParaRPr lang="en-IN" sz="1600" b="0" i="0" dirty="0">
              <a:solidFill>
                <a:srgbClr val="222222"/>
              </a:solidFill>
              <a:effectLst/>
            </a:endParaRPr>
          </a:p>
          <a:p>
            <a:pPr marL="742950" lvl="1" indent="-285750">
              <a:buFont typeface="Arial" panose="020B0604020202020204" pitchFamily="34" charset="0"/>
              <a:buChar char="•"/>
            </a:pPr>
            <a:r>
              <a:rPr lang="en-IN" sz="1600" b="1" i="0" dirty="0">
                <a:solidFill>
                  <a:srgbClr val="222222"/>
                </a:solidFill>
                <a:effectLst/>
              </a:rPr>
              <a:t>Residual sum of Squares (RSS)</a:t>
            </a:r>
            <a:r>
              <a:rPr lang="en-IN" sz="1600" b="0" i="0" dirty="0">
                <a:solidFill>
                  <a:srgbClr val="222222"/>
                </a:solidFill>
                <a:effectLst/>
              </a:rPr>
              <a:t> is defined as the sum of squares of the residual for each data point in the plot/data. It is the measure of the difference between the expected and the actual observed output.</a:t>
            </a:r>
          </a:p>
          <a:p>
            <a:endParaRPr lang="en-IN" sz="1600" b="0" i="0" dirty="0">
              <a:solidFill>
                <a:srgbClr val="222222"/>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742950" lvl="1" indent="-285750" eaLnBrk="0" fontAlgn="base" hangingPunct="0">
              <a:spcBef>
                <a:spcPct val="0"/>
              </a:spcBef>
              <a:spcAft>
                <a:spcPct val="0"/>
              </a:spcAft>
              <a:buFont typeface="Arial" panose="020B0604020202020204" pitchFamily="34" charset="0"/>
              <a:buChar char="•"/>
            </a:pPr>
            <a:r>
              <a:rPr kumimoji="0" lang="en-US" altLang="en-US" sz="1600" b="1" i="0" u="none" strike="noStrike" cap="none" normalizeH="0" baseline="0" dirty="0">
                <a:ln>
                  <a:noFill/>
                </a:ln>
                <a:solidFill>
                  <a:srgbClr val="222222"/>
                </a:solidFill>
                <a:effectLst/>
              </a:rPr>
              <a:t>Total Sum of Squares (TSS)</a:t>
            </a:r>
            <a:r>
              <a:rPr kumimoji="0" lang="en-US" altLang="en-US" sz="1600" b="0" i="0" u="none" strike="noStrike" cap="none" normalizeH="0" baseline="0" dirty="0">
                <a:ln>
                  <a:noFill/>
                </a:ln>
                <a:solidFill>
                  <a:srgbClr val="222222"/>
                </a:solidFill>
                <a:effectLst/>
              </a:rPr>
              <a:t> is defined as the sum of errors of the data points from the mean of the response variable. Mathematically TSS is,</a:t>
            </a:r>
          </a:p>
          <a:p>
            <a:pPr marL="0" marR="0" lvl="0" indent="0" algn="l" defTabSz="914400" rtl="0" eaLnBrk="0" fontAlgn="base" latinLnBrk="0" hangingPunct="0">
              <a:lnSpc>
                <a:spcPct val="100000"/>
              </a:lnSpc>
              <a:spcBef>
                <a:spcPct val="0"/>
              </a:spcBef>
              <a:spcAft>
                <a:spcPct val="0"/>
              </a:spcAft>
              <a:buClrTx/>
              <a:buSzTx/>
              <a:tabLst/>
            </a:pPr>
            <a:endParaRPr lang="en-US" altLang="en-US" sz="1600" dirty="0">
              <a:solidFill>
                <a:srgbClr val="222222"/>
              </a:solidFill>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rgbClr val="222222"/>
              </a:solidFill>
              <a:effectLst/>
            </a:endParaRPr>
          </a:p>
          <a:p>
            <a:pPr algn="l"/>
            <a:endParaRPr lang="en-IN" sz="1600" dirty="0">
              <a:solidFill>
                <a:srgbClr val="222222"/>
              </a:solidFill>
            </a:endParaRPr>
          </a:p>
          <a:p>
            <a:pPr algn="l"/>
            <a:endParaRPr lang="en-IN" sz="1600" dirty="0">
              <a:solidFill>
                <a:srgbClr val="222222"/>
              </a:solidFill>
            </a:endParaRPr>
          </a:p>
          <a:p>
            <a:pPr algn="l"/>
            <a:endParaRPr lang="en-IN" sz="1600" b="0" i="0" dirty="0">
              <a:solidFill>
                <a:srgbClr val="222222"/>
              </a:solidFill>
              <a:effectLst/>
            </a:endParaRPr>
          </a:p>
          <a:p>
            <a:pPr algn="l"/>
            <a:endParaRPr lang="en-IN" sz="1600" dirty="0">
              <a:solidFill>
                <a:srgbClr val="222222"/>
              </a:solidFill>
            </a:endParaRPr>
          </a:p>
          <a:p>
            <a:pPr algn="l"/>
            <a:endParaRPr lang="en-IN" sz="1600" b="0" i="0" dirty="0">
              <a:solidFill>
                <a:srgbClr val="222222"/>
              </a:solidFill>
              <a:effectLst/>
            </a:endParaRPr>
          </a:p>
          <a:p>
            <a:pPr algn="l"/>
            <a:endParaRPr lang="en-IN" sz="1600" dirty="0">
              <a:solidFill>
                <a:srgbClr val="222222"/>
              </a:solidFill>
            </a:endParaRPr>
          </a:p>
          <a:p>
            <a:pPr algn="l"/>
            <a:r>
              <a:rPr lang="en-IN" sz="1600" b="0" i="0" dirty="0">
                <a:solidFill>
                  <a:srgbClr val="222222"/>
                </a:solidFill>
                <a:effectLst/>
              </a:rPr>
              <a:t>z</a:t>
            </a:r>
          </a:p>
        </p:txBody>
      </p:sp>
      <p:pic>
        <p:nvPicPr>
          <p:cNvPr id="11271" name="Picture 7" descr="Total Sum of Squares">
            <a:extLst>
              <a:ext uri="{FF2B5EF4-FFF2-40B4-BE49-F238E27FC236}">
                <a16:creationId xmlns:a16="http://schemas.microsoft.com/office/drawing/2014/main" id="{64893AC2-09ED-8CB7-5C7A-86F1045826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9908" y="5493899"/>
            <a:ext cx="2006600" cy="3302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Text&#10;&#10;Description automatically generated">
            <a:extLst>
              <a:ext uri="{FF2B5EF4-FFF2-40B4-BE49-F238E27FC236}">
                <a16:creationId xmlns:a16="http://schemas.microsoft.com/office/drawing/2014/main" id="{A17C7C3A-771C-0022-E14A-9F24806AC875}"/>
              </a:ext>
            </a:extLst>
          </p:cNvPr>
          <p:cNvPicPr>
            <a:picLocks noChangeAspect="1"/>
          </p:cNvPicPr>
          <p:nvPr/>
        </p:nvPicPr>
        <p:blipFill>
          <a:blip r:embed="rId3"/>
          <a:stretch>
            <a:fillRect/>
          </a:stretch>
        </p:blipFill>
        <p:spPr>
          <a:xfrm>
            <a:off x="1324608" y="3943264"/>
            <a:ext cx="2997200" cy="673100"/>
          </a:xfrm>
          <a:prstGeom prst="rect">
            <a:avLst/>
          </a:prstGeom>
        </p:spPr>
      </p:pic>
    </p:spTree>
    <p:extLst>
      <p:ext uri="{BB962C8B-B14F-4D97-AF65-F5344CB8AC3E}">
        <p14:creationId xmlns:p14="http://schemas.microsoft.com/office/powerpoint/2010/main" val="4167125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4FC834-B36C-D379-E30E-51D4119E893B}"/>
              </a:ext>
            </a:extLst>
          </p:cNvPr>
          <p:cNvSpPr txBox="1"/>
          <p:nvPr/>
        </p:nvSpPr>
        <p:spPr>
          <a:xfrm>
            <a:off x="580768" y="659707"/>
            <a:ext cx="11108724" cy="5262979"/>
          </a:xfrm>
          <a:prstGeom prst="rect">
            <a:avLst/>
          </a:prstGeom>
          <a:noFill/>
        </p:spPr>
        <p:txBody>
          <a:bodyPr wrap="square">
            <a:spAutoFit/>
          </a:bodyPr>
          <a:lstStyle/>
          <a:p>
            <a:r>
              <a:rPr lang="en-IN" sz="1600" b="1" i="0">
                <a:solidFill>
                  <a:srgbClr val="161616"/>
                </a:solidFill>
                <a:effectLst/>
              </a:rPr>
              <a:t>2.Adjusted R squared</a:t>
            </a:r>
          </a:p>
          <a:p>
            <a:pPr algn="l"/>
            <a:endParaRPr lang="en-IN" sz="1600" i="0">
              <a:solidFill>
                <a:srgbClr val="222222"/>
              </a:solidFill>
              <a:effectLst/>
            </a:endParaRPr>
          </a:p>
          <a:p>
            <a:pPr algn="l"/>
            <a:r>
              <a:rPr lang="en-IN" sz="1600">
                <a:solidFill>
                  <a:srgbClr val="222222"/>
                </a:solidFill>
              </a:rPr>
              <a:t>Adjusted R2 is a corrected goodness-of-fit (model accuracy) measure for linear models..</a:t>
            </a:r>
          </a:p>
          <a:p>
            <a:pPr algn="l"/>
            <a:r>
              <a:rPr lang="en-IN" sz="1600">
                <a:solidFill>
                  <a:srgbClr val="222222"/>
                </a:solidFill>
              </a:rPr>
              <a:t>R2 tends to optimistically estimate the fit of the linear regression. It always increases as the number of effects are included in the model. Adjusted R2 attempts to correct for this overestimation. Adjusted R2 might decrease if a specific effect does not improve the model.</a:t>
            </a:r>
          </a:p>
          <a:p>
            <a:pPr algn="l"/>
            <a:endParaRPr lang="en-IN" sz="1600" b="1">
              <a:solidFill>
                <a:srgbClr val="222222"/>
              </a:solidFill>
            </a:endParaRPr>
          </a:p>
          <a:p>
            <a:pPr algn="l"/>
            <a:endParaRPr lang="en-IN" sz="1600" b="1">
              <a:solidFill>
                <a:srgbClr val="222222"/>
              </a:solidFill>
            </a:endParaRPr>
          </a:p>
          <a:p>
            <a:pPr algn="l"/>
            <a:endParaRPr lang="en-IN" sz="1600" b="1">
              <a:solidFill>
                <a:srgbClr val="222222"/>
              </a:solidFill>
            </a:endParaRPr>
          </a:p>
          <a:p>
            <a:pPr algn="l"/>
            <a:endParaRPr lang="en-IN" sz="1600" b="1" i="0">
              <a:solidFill>
                <a:srgbClr val="222222"/>
              </a:solidFill>
              <a:effectLst/>
            </a:endParaRPr>
          </a:p>
          <a:p>
            <a:pPr algn="l"/>
            <a:endParaRPr lang="en-IN" sz="1600" b="1">
              <a:solidFill>
                <a:srgbClr val="222222"/>
              </a:solidFill>
            </a:endParaRPr>
          </a:p>
          <a:p>
            <a:pPr algn="l"/>
            <a:endParaRPr lang="en-IN" sz="1600" b="1" i="0">
              <a:solidFill>
                <a:srgbClr val="222222"/>
              </a:solidFill>
              <a:effectLst/>
            </a:endParaRPr>
          </a:p>
          <a:p>
            <a:pPr algn="l"/>
            <a:r>
              <a:rPr lang="en-IN" sz="1600" b="1" i="0">
                <a:solidFill>
                  <a:srgbClr val="222222"/>
                </a:solidFill>
                <a:effectLst/>
              </a:rPr>
              <a:t>3. Root Mean Squared Error </a:t>
            </a:r>
            <a:endParaRPr lang="en-IN" sz="1600" b="0" i="0">
              <a:solidFill>
                <a:srgbClr val="222222"/>
              </a:solidFill>
              <a:effectLst/>
            </a:endParaRPr>
          </a:p>
          <a:p>
            <a:pPr algn="l"/>
            <a:r>
              <a:rPr lang="en-IN" sz="1600" b="0" i="0">
                <a:solidFill>
                  <a:srgbClr val="222222"/>
                </a:solidFill>
                <a:effectLst/>
              </a:rPr>
              <a:t>The Root Mean Squared Error is the square root of the variance of the residuals. It specifies the absolute fit of the model to the data i.e. how close the observed data points are to the predicted values. Mathematically it can be represented as,</a:t>
            </a:r>
          </a:p>
          <a:p>
            <a:pPr algn="l"/>
            <a:endParaRPr lang="en-IN" sz="1600">
              <a:solidFill>
                <a:srgbClr val="222222"/>
              </a:solidFill>
            </a:endParaRPr>
          </a:p>
          <a:p>
            <a:pPr algn="l"/>
            <a:endParaRPr lang="en-IN" sz="1600" b="0" i="0">
              <a:solidFill>
                <a:srgbClr val="222222"/>
              </a:solidFill>
              <a:effectLst/>
            </a:endParaRPr>
          </a:p>
          <a:p>
            <a:pPr algn="l"/>
            <a:endParaRPr lang="en-IN" sz="1600">
              <a:solidFill>
                <a:srgbClr val="222222"/>
              </a:solidFill>
            </a:endParaRPr>
          </a:p>
          <a:p>
            <a:pPr algn="l"/>
            <a:endParaRPr lang="en-IN" sz="1600" b="0" i="0">
              <a:solidFill>
                <a:srgbClr val="222222"/>
              </a:solidFill>
              <a:effectLst/>
            </a:endParaRPr>
          </a:p>
          <a:p>
            <a:pPr algn="l"/>
            <a:endParaRPr lang="en-IN" sz="1600">
              <a:solidFill>
                <a:srgbClr val="222222"/>
              </a:solidFill>
            </a:endParaRPr>
          </a:p>
          <a:p>
            <a:pPr algn="l"/>
            <a:endParaRPr lang="en-IN" sz="1600" b="0" i="0" dirty="0">
              <a:solidFill>
                <a:srgbClr val="222222"/>
              </a:solidFill>
              <a:effectLst/>
            </a:endParaRPr>
          </a:p>
        </p:txBody>
      </p:sp>
      <p:pic>
        <p:nvPicPr>
          <p:cNvPr id="13314" name="Picture 2" descr="Root Mean Squared Error ">
            <a:extLst>
              <a:ext uri="{FF2B5EF4-FFF2-40B4-BE49-F238E27FC236}">
                <a16:creationId xmlns:a16="http://schemas.microsoft.com/office/drawing/2014/main" id="{D3B24838-B018-7659-CA57-C360031016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031" y="4660466"/>
            <a:ext cx="5626100" cy="1016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Text&#10;&#10;Description automatically generated">
            <a:extLst>
              <a:ext uri="{FF2B5EF4-FFF2-40B4-BE49-F238E27FC236}">
                <a16:creationId xmlns:a16="http://schemas.microsoft.com/office/drawing/2014/main" id="{415F3A21-8460-616A-4023-38E86D946E19}"/>
              </a:ext>
            </a:extLst>
          </p:cNvPr>
          <p:cNvPicPr>
            <a:picLocks noChangeAspect="1"/>
          </p:cNvPicPr>
          <p:nvPr/>
        </p:nvPicPr>
        <p:blipFill>
          <a:blip r:embed="rId3"/>
          <a:stretch>
            <a:fillRect/>
          </a:stretch>
        </p:blipFill>
        <p:spPr>
          <a:xfrm>
            <a:off x="2104760" y="1992076"/>
            <a:ext cx="3196288" cy="1621084"/>
          </a:xfrm>
          <a:prstGeom prst="rect">
            <a:avLst/>
          </a:prstGeom>
        </p:spPr>
      </p:pic>
    </p:spTree>
    <p:extLst>
      <p:ext uri="{BB962C8B-B14F-4D97-AF65-F5344CB8AC3E}">
        <p14:creationId xmlns:p14="http://schemas.microsoft.com/office/powerpoint/2010/main" val="3417771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4FC834-B36C-D379-E30E-51D4119E893B}"/>
              </a:ext>
            </a:extLst>
          </p:cNvPr>
          <p:cNvSpPr txBox="1"/>
          <p:nvPr/>
        </p:nvSpPr>
        <p:spPr>
          <a:xfrm>
            <a:off x="580768" y="659708"/>
            <a:ext cx="8579529" cy="1077218"/>
          </a:xfrm>
          <a:prstGeom prst="rect">
            <a:avLst/>
          </a:prstGeom>
          <a:noFill/>
        </p:spPr>
        <p:txBody>
          <a:bodyPr wrap="square">
            <a:spAutoFit/>
          </a:bodyPr>
          <a:lstStyle/>
          <a:p>
            <a:pPr algn="l"/>
            <a:endParaRPr lang="en-IN" sz="1600" dirty="0">
              <a:solidFill>
                <a:srgbClr val="222222"/>
              </a:solidFill>
              <a:latin typeface="Lato" panose="020F0502020204030203" pitchFamily="34" charset="0"/>
            </a:endParaRPr>
          </a:p>
          <a:p>
            <a:pPr algn="l"/>
            <a:endParaRPr lang="en-IN" sz="1600" b="0" i="0" dirty="0">
              <a:solidFill>
                <a:srgbClr val="222222"/>
              </a:solidFill>
              <a:effectLst/>
              <a:latin typeface="Lato" panose="020F0502020204030203" pitchFamily="34" charset="0"/>
            </a:endParaRPr>
          </a:p>
          <a:p>
            <a:pPr algn="l"/>
            <a:endParaRPr lang="en-IN" sz="1600" dirty="0">
              <a:solidFill>
                <a:srgbClr val="222222"/>
              </a:solidFill>
              <a:latin typeface="Lato" panose="020F0502020204030203" pitchFamily="34" charset="0"/>
            </a:endParaRPr>
          </a:p>
          <a:p>
            <a:pPr algn="l"/>
            <a:endParaRPr lang="en-IN" sz="1600" b="0" i="0" dirty="0">
              <a:solidFill>
                <a:srgbClr val="222222"/>
              </a:solidFill>
              <a:effectLst/>
              <a:latin typeface="Lato" panose="020F0502020204030203" pitchFamily="34" charset="0"/>
            </a:endParaRPr>
          </a:p>
        </p:txBody>
      </p:sp>
      <p:sp>
        <p:nvSpPr>
          <p:cNvPr id="4" name="TextBox 3">
            <a:extLst>
              <a:ext uri="{FF2B5EF4-FFF2-40B4-BE49-F238E27FC236}">
                <a16:creationId xmlns:a16="http://schemas.microsoft.com/office/drawing/2014/main" id="{90AB2614-A163-B8F0-8D36-ED2136C6D23B}"/>
              </a:ext>
            </a:extLst>
          </p:cNvPr>
          <p:cNvSpPr txBox="1"/>
          <p:nvPr/>
        </p:nvSpPr>
        <p:spPr>
          <a:xfrm>
            <a:off x="333632" y="1122291"/>
            <a:ext cx="6098058" cy="1200329"/>
          </a:xfrm>
          <a:prstGeom prst="rect">
            <a:avLst/>
          </a:prstGeom>
          <a:noFill/>
        </p:spPr>
        <p:txBody>
          <a:bodyPr wrap="square">
            <a:spAutoFit/>
          </a:bodyPr>
          <a:lstStyle/>
          <a:p>
            <a:pPr algn="l"/>
            <a:r>
              <a:rPr lang="en-IN" b="1" i="0" u="sng" dirty="0">
                <a:solidFill>
                  <a:srgbClr val="222222"/>
                </a:solidFill>
                <a:effectLst/>
              </a:rPr>
              <a:t>Assumptions of Linear Regression</a:t>
            </a:r>
            <a:endParaRPr lang="en-IN" b="0" i="0" u="sng" dirty="0">
              <a:solidFill>
                <a:srgbClr val="222222"/>
              </a:solidFill>
              <a:effectLst/>
            </a:endParaRPr>
          </a:p>
          <a:p>
            <a:pPr algn="l"/>
            <a:endParaRPr lang="en-IN" b="0" i="0" dirty="0">
              <a:solidFill>
                <a:srgbClr val="222222"/>
              </a:solidFill>
              <a:effectLst/>
            </a:endParaRPr>
          </a:p>
          <a:p>
            <a:pPr algn="l"/>
            <a:r>
              <a:rPr lang="en-IN" b="0" i="0" dirty="0">
                <a:solidFill>
                  <a:srgbClr val="222222"/>
                </a:solidFill>
                <a:effectLst/>
              </a:rPr>
              <a:t>Regression is a parametric approach, which means that it makes assumptions about the data for the purpose of analysis. </a:t>
            </a:r>
          </a:p>
        </p:txBody>
      </p:sp>
      <p:pic>
        <p:nvPicPr>
          <p:cNvPr id="15362" name="Picture 2" descr="Linearity of residuals">
            <a:extLst>
              <a:ext uri="{FF2B5EF4-FFF2-40B4-BE49-F238E27FC236}">
                <a16:creationId xmlns:a16="http://schemas.microsoft.com/office/drawing/2014/main" id="{305E0840-4D67-C0DC-CCF1-2604C8C1B6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3848" y="1198317"/>
            <a:ext cx="4792897" cy="150830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5D09855-329B-8903-1A61-5B1C6B380F99}"/>
              </a:ext>
            </a:extLst>
          </p:cNvPr>
          <p:cNvSpPr txBox="1"/>
          <p:nvPr/>
        </p:nvSpPr>
        <p:spPr>
          <a:xfrm>
            <a:off x="234778" y="2713894"/>
            <a:ext cx="10688595" cy="3416320"/>
          </a:xfrm>
          <a:prstGeom prst="rect">
            <a:avLst/>
          </a:prstGeom>
          <a:noFill/>
        </p:spPr>
        <p:txBody>
          <a:bodyPr wrap="square" rtlCol="0">
            <a:spAutoFit/>
          </a:bodyPr>
          <a:lstStyle/>
          <a:p>
            <a:endParaRPr kumimoji="0" lang="en-US" altLang="en-US" i="0" strike="noStrike" cap="none" normalizeH="0" baseline="0" dirty="0">
              <a:ln>
                <a:noFill/>
              </a:ln>
              <a:solidFill>
                <a:srgbClr val="222222"/>
              </a:solidFill>
              <a:effectLst/>
            </a:endParaRPr>
          </a:p>
          <a:p>
            <a:r>
              <a:rPr kumimoji="0" lang="en-US" altLang="en-US" i="0" strike="noStrike" cap="none" normalizeH="0" baseline="0" dirty="0">
                <a:ln>
                  <a:noFill/>
                </a:ln>
                <a:solidFill>
                  <a:srgbClr val="222222"/>
                </a:solidFill>
                <a:effectLst/>
              </a:rPr>
              <a:t>1. </a:t>
            </a:r>
            <a:r>
              <a:rPr kumimoji="0" lang="en-US" altLang="en-US" i="0" u="sng" strike="noStrike" cap="none" normalizeH="0" baseline="0" dirty="0">
                <a:ln>
                  <a:noFill/>
                </a:ln>
                <a:solidFill>
                  <a:srgbClr val="222222"/>
                </a:solidFill>
                <a:effectLst/>
              </a:rPr>
              <a:t>Linearity of residuals:</a:t>
            </a:r>
            <a:r>
              <a:rPr kumimoji="0" lang="en-US" altLang="en-US" i="0" u="none" strike="noStrike" cap="none" normalizeH="0" baseline="0" dirty="0">
                <a:ln>
                  <a:noFill/>
                </a:ln>
                <a:solidFill>
                  <a:srgbClr val="222222"/>
                </a:solidFill>
                <a:effectLst/>
              </a:rPr>
              <a:t> There needs to be a linear relationship between the dependent variable and independent variable(s)</a:t>
            </a:r>
            <a:endParaRPr lang="en-IN" dirty="0">
              <a:solidFill>
                <a:srgbClr val="222222"/>
              </a:solidFill>
            </a:endParaRPr>
          </a:p>
          <a:p>
            <a:pPr algn="l"/>
            <a:r>
              <a:rPr lang="en-IN" dirty="0">
                <a:solidFill>
                  <a:srgbClr val="222222"/>
                </a:solidFill>
              </a:rPr>
              <a:t>2.</a:t>
            </a:r>
            <a:r>
              <a:rPr lang="en-IN" u="sng" dirty="0">
                <a:solidFill>
                  <a:srgbClr val="222222"/>
                </a:solidFill>
                <a:effectLst/>
              </a:rPr>
              <a:t> Independence</a:t>
            </a:r>
            <a:r>
              <a:rPr lang="en-IN" i="0" u="sng" dirty="0">
                <a:solidFill>
                  <a:srgbClr val="222222"/>
                </a:solidFill>
                <a:effectLst/>
              </a:rPr>
              <a:t> of residuals: </a:t>
            </a:r>
            <a:r>
              <a:rPr lang="en-IN" i="0" dirty="0">
                <a:solidFill>
                  <a:srgbClr val="222222"/>
                </a:solidFill>
                <a:effectLst/>
              </a:rPr>
              <a:t>The error terms should not be dependent on one another (like in time-series data wherein the next value is dependent on the previous one). There should be no correlation between the residual terms. The absence of this phenomenon is known as Autocorrelation.</a:t>
            </a:r>
          </a:p>
          <a:p>
            <a:pPr algn="l"/>
            <a:r>
              <a:rPr lang="en-IN" i="0" dirty="0">
                <a:solidFill>
                  <a:srgbClr val="222222"/>
                </a:solidFill>
                <a:effectLst/>
              </a:rPr>
              <a:t>There should not be any visible patterns in the error terms.</a:t>
            </a:r>
          </a:p>
          <a:p>
            <a:pPr algn="l"/>
            <a:r>
              <a:rPr lang="en-IN" i="0" dirty="0">
                <a:solidFill>
                  <a:srgbClr val="222222"/>
                </a:solidFill>
                <a:effectLst/>
              </a:rPr>
              <a:t>3. </a:t>
            </a:r>
            <a:r>
              <a:rPr lang="en-IN" i="0" u="sng" dirty="0">
                <a:solidFill>
                  <a:srgbClr val="222222"/>
                </a:solidFill>
                <a:effectLst/>
              </a:rPr>
              <a:t>Normal distribution of residuals:</a:t>
            </a:r>
            <a:r>
              <a:rPr lang="en-IN" i="0" dirty="0">
                <a:solidFill>
                  <a:srgbClr val="222222"/>
                </a:solidFill>
                <a:effectLst/>
              </a:rPr>
              <a:t> The mean of residuals should follow a normal distribution with a mean equal to zero or close to zero</a:t>
            </a:r>
          </a:p>
          <a:p>
            <a:pPr algn="l"/>
            <a:r>
              <a:rPr lang="en-IN" i="0" dirty="0">
                <a:solidFill>
                  <a:srgbClr val="222222"/>
                </a:solidFill>
                <a:effectLst/>
              </a:rPr>
              <a:t>4. </a:t>
            </a:r>
            <a:r>
              <a:rPr lang="en-IN" i="0" u="sng" dirty="0">
                <a:solidFill>
                  <a:srgbClr val="222222"/>
                </a:solidFill>
                <a:effectLst/>
              </a:rPr>
              <a:t>The equal variance of residuals:</a:t>
            </a:r>
            <a:r>
              <a:rPr lang="en-IN" i="0" dirty="0">
                <a:solidFill>
                  <a:srgbClr val="222222"/>
                </a:solidFill>
                <a:effectLst/>
              </a:rPr>
              <a:t> The error terms must have constant variance. This phenomenon is known as Homoscedasticity.</a:t>
            </a:r>
          </a:p>
          <a:p>
            <a:endParaRPr lang="en-US" dirty="0"/>
          </a:p>
        </p:txBody>
      </p:sp>
    </p:spTree>
    <p:extLst>
      <p:ext uri="{BB962C8B-B14F-4D97-AF65-F5344CB8AC3E}">
        <p14:creationId xmlns:p14="http://schemas.microsoft.com/office/powerpoint/2010/main" val="3137991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4FC834-B36C-D379-E30E-51D4119E893B}"/>
              </a:ext>
            </a:extLst>
          </p:cNvPr>
          <p:cNvSpPr txBox="1"/>
          <p:nvPr/>
        </p:nvSpPr>
        <p:spPr>
          <a:xfrm>
            <a:off x="567559" y="830317"/>
            <a:ext cx="8579529" cy="5447645"/>
          </a:xfrm>
          <a:prstGeom prst="rect">
            <a:avLst/>
          </a:prstGeom>
          <a:noFill/>
        </p:spPr>
        <p:txBody>
          <a:bodyPr wrap="square">
            <a:spAutoFit/>
          </a:bodyPr>
          <a:lstStyle/>
          <a:p>
            <a:pPr algn="l" fontAlgn="base"/>
            <a:r>
              <a:rPr lang="en-IN" b="1" i="0" u="sng" dirty="0">
                <a:solidFill>
                  <a:srgbClr val="303030"/>
                </a:solidFill>
                <a:effectLst/>
                <a:latin typeface="roboto condensed" panose="02000000000000000000" pitchFamily="2" charset="0"/>
              </a:rPr>
              <a:t>2. Multiple Linear Regression-</a:t>
            </a:r>
            <a:endParaRPr lang="en-IN" b="1" i="0" dirty="0">
              <a:solidFill>
                <a:srgbClr val="303030"/>
              </a:solidFill>
              <a:effectLst/>
              <a:latin typeface="roboto condensed" panose="02000000000000000000" pitchFamily="2" charset="0"/>
            </a:endParaRPr>
          </a:p>
          <a:p>
            <a:pPr algn="l" fontAlgn="base"/>
            <a:r>
              <a:rPr lang="en-IN" b="0" i="0" dirty="0">
                <a:solidFill>
                  <a:srgbClr val="303030"/>
                </a:solidFill>
                <a:effectLst/>
                <a:latin typeface="Arimo"/>
              </a:rPr>
              <a:t> </a:t>
            </a:r>
          </a:p>
          <a:p>
            <a:pPr algn="l" fontAlgn="base"/>
            <a:r>
              <a:rPr lang="en-IN" b="0" i="0" dirty="0">
                <a:solidFill>
                  <a:srgbClr val="303030"/>
                </a:solidFill>
                <a:effectLst/>
                <a:latin typeface="Arimo"/>
              </a:rPr>
              <a:t>In multiple linear regression, the dependent variable depends on more than one independent variables.</a:t>
            </a:r>
          </a:p>
          <a:p>
            <a:pPr algn="l" fontAlgn="base"/>
            <a:r>
              <a:rPr lang="en-IN" b="0" i="0" dirty="0">
                <a:solidFill>
                  <a:srgbClr val="303030"/>
                </a:solidFill>
                <a:effectLst/>
                <a:latin typeface="Arimo"/>
              </a:rPr>
              <a:t> </a:t>
            </a:r>
          </a:p>
          <a:p>
            <a:pPr algn="l" fontAlgn="base"/>
            <a:r>
              <a:rPr lang="en-IN" b="0" i="0" dirty="0">
                <a:solidFill>
                  <a:srgbClr val="303030"/>
                </a:solidFill>
                <a:effectLst/>
                <a:latin typeface="Arimo"/>
              </a:rPr>
              <a:t>For multiple linear regression, the form of the model is</a:t>
            </a:r>
          </a:p>
          <a:p>
            <a:pPr algn="l" fontAlgn="base"/>
            <a:endParaRPr lang="en-IN" b="0" i="0" dirty="0">
              <a:solidFill>
                <a:srgbClr val="303030"/>
              </a:solidFill>
              <a:effectLst/>
              <a:latin typeface="Arimo"/>
            </a:endParaRPr>
          </a:p>
          <a:p>
            <a:pPr algn="ctr" fontAlgn="base"/>
            <a:endParaRPr lang="en-IN" sz="1200" b="1" i="0" dirty="0">
              <a:solidFill>
                <a:srgbClr val="800000"/>
              </a:solidFill>
              <a:effectLst/>
              <a:latin typeface="Arimo"/>
            </a:endParaRPr>
          </a:p>
          <a:p>
            <a:pPr algn="ctr" fontAlgn="base"/>
            <a:r>
              <a:rPr lang="en-IN" sz="1200" b="1" i="0" dirty="0">
                <a:solidFill>
                  <a:srgbClr val="800000"/>
                </a:solidFill>
                <a:effectLst/>
                <a:latin typeface="Arimo"/>
              </a:rPr>
              <a:t>Y = </a:t>
            </a:r>
            <a:r>
              <a:rPr lang="el-GR" sz="1200" b="1" i="0" dirty="0">
                <a:solidFill>
                  <a:srgbClr val="800000"/>
                </a:solidFill>
                <a:effectLst/>
                <a:latin typeface="Arimo"/>
              </a:rPr>
              <a:t>β</a:t>
            </a:r>
            <a:r>
              <a:rPr lang="el-GR" sz="1200" b="1" i="0" baseline="-25000" dirty="0">
                <a:solidFill>
                  <a:srgbClr val="800000"/>
                </a:solidFill>
                <a:effectLst/>
                <a:latin typeface="Arimo"/>
              </a:rPr>
              <a:t>0</a:t>
            </a:r>
            <a:r>
              <a:rPr lang="el-GR" sz="1200" b="1" i="0" dirty="0">
                <a:solidFill>
                  <a:srgbClr val="800000"/>
                </a:solidFill>
                <a:effectLst/>
                <a:latin typeface="Arimo"/>
              </a:rPr>
              <a:t> + β</a:t>
            </a:r>
            <a:r>
              <a:rPr lang="el-GR" sz="1200" b="1" i="0" baseline="-25000" dirty="0">
                <a:solidFill>
                  <a:srgbClr val="800000"/>
                </a:solidFill>
                <a:effectLst/>
                <a:latin typeface="Arimo"/>
              </a:rPr>
              <a:t>1</a:t>
            </a:r>
            <a:r>
              <a:rPr lang="en-IN" sz="1200" b="1" i="0" dirty="0">
                <a:solidFill>
                  <a:srgbClr val="800000"/>
                </a:solidFill>
                <a:effectLst/>
                <a:latin typeface="Arimo"/>
              </a:rPr>
              <a:t>X</a:t>
            </a:r>
            <a:r>
              <a:rPr lang="en-IN" sz="1200" b="1" i="0" baseline="-25000" dirty="0">
                <a:solidFill>
                  <a:srgbClr val="800000"/>
                </a:solidFill>
                <a:effectLst/>
                <a:latin typeface="Arimo"/>
              </a:rPr>
              <a:t>1</a:t>
            </a:r>
            <a:r>
              <a:rPr lang="en-IN" sz="1200" b="1" i="0" dirty="0">
                <a:solidFill>
                  <a:srgbClr val="800000"/>
                </a:solidFill>
                <a:effectLst/>
                <a:latin typeface="Arimo"/>
              </a:rPr>
              <a:t> + </a:t>
            </a:r>
            <a:r>
              <a:rPr lang="el-GR" sz="1200" b="1" i="0" dirty="0">
                <a:solidFill>
                  <a:srgbClr val="800000"/>
                </a:solidFill>
                <a:effectLst/>
                <a:latin typeface="Arimo"/>
              </a:rPr>
              <a:t>β</a:t>
            </a:r>
            <a:r>
              <a:rPr lang="el-GR" sz="1200" b="1" i="0" baseline="-25000" dirty="0">
                <a:solidFill>
                  <a:srgbClr val="800000"/>
                </a:solidFill>
                <a:effectLst/>
                <a:latin typeface="Arimo"/>
              </a:rPr>
              <a:t>2</a:t>
            </a:r>
            <a:r>
              <a:rPr lang="en-IN" sz="1200" b="1" i="0" dirty="0">
                <a:solidFill>
                  <a:srgbClr val="800000"/>
                </a:solidFill>
                <a:effectLst/>
                <a:latin typeface="Arimo"/>
              </a:rPr>
              <a:t>X</a:t>
            </a:r>
            <a:r>
              <a:rPr lang="en-IN" sz="1200" b="1" i="0" baseline="-25000" dirty="0">
                <a:solidFill>
                  <a:srgbClr val="800000"/>
                </a:solidFill>
                <a:effectLst/>
                <a:latin typeface="Arimo"/>
              </a:rPr>
              <a:t>2</a:t>
            </a:r>
            <a:r>
              <a:rPr lang="en-IN" sz="1200" b="1" i="0" dirty="0">
                <a:solidFill>
                  <a:srgbClr val="800000"/>
                </a:solidFill>
                <a:effectLst/>
                <a:latin typeface="Arimo"/>
              </a:rPr>
              <a:t> + </a:t>
            </a:r>
            <a:r>
              <a:rPr lang="el-GR" sz="1200" b="1" i="0" dirty="0">
                <a:solidFill>
                  <a:srgbClr val="800000"/>
                </a:solidFill>
                <a:effectLst/>
                <a:latin typeface="Arimo"/>
              </a:rPr>
              <a:t>β</a:t>
            </a:r>
            <a:r>
              <a:rPr lang="el-GR" sz="1200" b="1" i="0" baseline="-25000" dirty="0">
                <a:solidFill>
                  <a:srgbClr val="800000"/>
                </a:solidFill>
                <a:effectLst/>
                <a:latin typeface="Arimo"/>
              </a:rPr>
              <a:t>3</a:t>
            </a:r>
            <a:r>
              <a:rPr lang="en-IN" sz="1200" b="1" i="0" dirty="0">
                <a:solidFill>
                  <a:srgbClr val="800000"/>
                </a:solidFill>
                <a:effectLst/>
                <a:latin typeface="Arimo"/>
              </a:rPr>
              <a:t>X</a:t>
            </a:r>
            <a:r>
              <a:rPr lang="en-IN" sz="1200" b="1" i="0" baseline="-25000" dirty="0">
                <a:solidFill>
                  <a:srgbClr val="800000"/>
                </a:solidFill>
                <a:effectLst/>
                <a:latin typeface="Arimo"/>
              </a:rPr>
              <a:t>3</a:t>
            </a:r>
            <a:r>
              <a:rPr lang="en-IN" sz="1200" b="1" i="0" dirty="0">
                <a:solidFill>
                  <a:srgbClr val="800000"/>
                </a:solidFill>
                <a:effectLst/>
                <a:latin typeface="Arimo"/>
              </a:rPr>
              <a:t> + …… + </a:t>
            </a:r>
            <a:r>
              <a:rPr lang="el-GR" sz="1200" b="1" i="0" dirty="0">
                <a:solidFill>
                  <a:srgbClr val="800000"/>
                </a:solidFill>
                <a:effectLst/>
                <a:latin typeface="Arimo"/>
              </a:rPr>
              <a:t>β</a:t>
            </a:r>
            <a:r>
              <a:rPr lang="en-IN" sz="1200" b="1" i="0" baseline="-25000" dirty="0" err="1">
                <a:solidFill>
                  <a:srgbClr val="800000"/>
                </a:solidFill>
                <a:effectLst/>
                <a:latin typeface="Arimo"/>
              </a:rPr>
              <a:t>n</a:t>
            </a:r>
            <a:r>
              <a:rPr lang="en-IN" sz="1200" b="1" i="0" dirty="0" err="1">
                <a:solidFill>
                  <a:srgbClr val="800000"/>
                </a:solidFill>
                <a:effectLst/>
                <a:latin typeface="Arimo"/>
              </a:rPr>
              <a:t>X</a:t>
            </a:r>
            <a:r>
              <a:rPr lang="en-IN" sz="1200" b="1" i="0" baseline="-25000" dirty="0" err="1">
                <a:solidFill>
                  <a:srgbClr val="800000"/>
                </a:solidFill>
                <a:effectLst/>
                <a:latin typeface="Arimo"/>
              </a:rPr>
              <a:t>n</a:t>
            </a:r>
            <a:endParaRPr lang="en-IN" b="0" i="0" dirty="0">
              <a:solidFill>
                <a:srgbClr val="303030"/>
              </a:solidFill>
              <a:effectLst/>
              <a:latin typeface="Arimo"/>
            </a:endParaRPr>
          </a:p>
          <a:p>
            <a:pPr algn="l" fontAlgn="base"/>
            <a:r>
              <a:rPr lang="en-IN" b="0" i="0" dirty="0">
                <a:solidFill>
                  <a:srgbClr val="303030"/>
                </a:solidFill>
                <a:effectLst/>
                <a:latin typeface="Arimo"/>
              </a:rPr>
              <a:t> </a:t>
            </a:r>
          </a:p>
          <a:p>
            <a:pPr algn="l" fontAlgn="base"/>
            <a:endParaRPr lang="en-IN" b="0" i="0" dirty="0">
              <a:solidFill>
                <a:srgbClr val="303030"/>
              </a:solidFill>
              <a:effectLst/>
              <a:latin typeface="Arimo"/>
            </a:endParaRPr>
          </a:p>
          <a:p>
            <a:pPr algn="l" fontAlgn="base"/>
            <a:endParaRPr lang="en-IN" dirty="0">
              <a:solidFill>
                <a:srgbClr val="303030"/>
              </a:solidFill>
              <a:latin typeface="Arimo"/>
            </a:endParaRPr>
          </a:p>
          <a:p>
            <a:pPr algn="l" fontAlgn="base"/>
            <a:endParaRPr lang="en-IN" b="0" i="0" dirty="0">
              <a:solidFill>
                <a:srgbClr val="303030"/>
              </a:solidFill>
              <a:effectLst/>
              <a:latin typeface="Arimo"/>
            </a:endParaRPr>
          </a:p>
          <a:p>
            <a:pPr algn="l" fontAlgn="base"/>
            <a:r>
              <a:rPr lang="en-IN" b="0" i="0" dirty="0">
                <a:solidFill>
                  <a:srgbClr val="303030"/>
                </a:solidFill>
                <a:effectLst/>
                <a:latin typeface="Arimo"/>
              </a:rPr>
              <a:t> Here,</a:t>
            </a:r>
          </a:p>
          <a:p>
            <a:pPr algn="l" fontAlgn="base">
              <a:buFont typeface="Arial" panose="020B0604020202020204" pitchFamily="34" charset="0"/>
              <a:buChar char="•"/>
            </a:pPr>
            <a:r>
              <a:rPr lang="en-IN" b="0" i="0" dirty="0">
                <a:solidFill>
                  <a:srgbClr val="303030"/>
                </a:solidFill>
                <a:effectLst/>
                <a:latin typeface="Arimo"/>
              </a:rPr>
              <a:t>Y is a dependent variable.</a:t>
            </a:r>
          </a:p>
          <a:p>
            <a:pPr algn="l" fontAlgn="base">
              <a:buFont typeface="Arial" panose="020B0604020202020204" pitchFamily="34" charset="0"/>
              <a:buChar char="•"/>
            </a:pPr>
            <a:r>
              <a:rPr lang="en-IN" b="0" i="0" dirty="0">
                <a:solidFill>
                  <a:srgbClr val="303030"/>
                </a:solidFill>
                <a:effectLst/>
                <a:latin typeface="Arimo"/>
              </a:rPr>
              <a:t>X</a:t>
            </a:r>
            <a:r>
              <a:rPr lang="en-IN" b="0" i="0" baseline="-25000" dirty="0">
                <a:solidFill>
                  <a:srgbClr val="303030"/>
                </a:solidFill>
                <a:effectLst/>
                <a:latin typeface="Arimo"/>
              </a:rPr>
              <a:t>1</a:t>
            </a:r>
            <a:r>
              <a:rPr lang="en-IN" b="0" i="0" dirty="0">
                <a:solidFill>
                  <a:srgbClr val="303030"/>
                </a:solidFill>
                <a:effectLst/>
                <a:latin typeface="Arimo"/>
              </a:rPr>
              <a:t>, X</a:t>
            </a:r>
            <a:r>
              <a:rPr lang="en-IN" b="0" i="0" baseline="-25000" dirty="0">
                <a:solidFill>
                  <a:srgbClr val="303030"/>
                </a:solidFill>
                <a:effectLst/>
                <a:latin typeface="Arimo"/>
              </a:rPr>
              <a:t>2</a:t>
            </a:r>
            <a:r>
              <a:rPr lang="en-IN" b="0" i="0" dirty="0">
                <a:solidFill>
                  <a:srgbClr val="303030"/>
                </a:solidFill>
                <a:effectLst/>
                <a:latin typeface="Arimo"/>
              </a:rPr>
              <a:t>, …., </a:t>
            </a:r>
            <a:r>
              <a:rPr lang="en-IN" b="0" i="0" dirty="0" err="1">
                <a:solidFill>
                  <a:srgbClr val="303030"/>
                </a:solidFill>
                <a:effectLst/>
                <a:latin typeface="Arimo"/>
              </a:rPr>
              <a:t>X</a:t>
            </a:r>
            <a:r>
              <a:rPr lang="en-IN" b="0" i="0" baseline="-25000" dirty="0" err="1">
                <a:solidFill>
                  <a:srgbClr val="303030"/>
                </a:solidFill>
                <a:effectLst/>
                <a:latin typeface="Arimo"/>
              </a:rPr>
              <a:t>n</a:t>
            </a:r>
            <a:r>
              <a:rPr lang="en-IN" b="0" i="0" dirty="0">
                <a:solidFill>
                  <a:srgbClr val="303030"/>
                </a:solidFill>
                <a:effectLst/>
                <a:latin typeface="Arimo"/>
              </a:rPr>
              <a:t> are independent variables.</a:t>
            </a:r>
          </a:p>
          <a:p>
            <a:pPr algn="l" fontAlgn="base">
              <a:buFont typeface="Arial" panose="020B0604020202020204" pitchFamily="34" charset="0"/>
              <a:buChar char="•"/>
            </a:pPr>
            <a:r>
              <a:rPr lang="el-GR" b="0" i="0" dirty="0">
                <a:solidFill>
                  <a:srgbClr val="303030"/>
                </a:solidFill>
                <a:effectLst/>
                <a:latin typeface="Arimo"/>
              </a:rPr>
              <a:t>β</a:t>
            </a:r>
            <a:r>
              <a:rPr lang="el-GR" b="0" i="0" baseline="-25000" dirty="0">
                <a:solidFill>
                  <a:srgbClr val="303030"/>
                </a:solidFill>
                <a:effectLst/>
                <a:latin typeface="Arimo"/>
              </a:rPr>
              <a:t>0</a:t>
            </a:r>
            <a:r>
              <a:rPr lang="el-GR" b="0" i="0" dirty="0">
                <a:solidFill>
                  <a:srgbClr val="303030"/>
                </a:solidFill>
                <a:effectLst/>
                <a:latin typeface="Arimo"/>
              </a:rPr>
              <a:t>, β</a:t>
            </a:r>
            <a:r>
              <a:rPr lang="el-GR" b="0" i="0" baseline="-25000" dirty="0">
                <a:solidFill>
                  <a:srgbClr val="303030"/>
                </a:solidFill>
                <a:effectLst/>
                <a:latin typeface="Arimo"/>
              </a:rPr>
              <a:t>1</a:t>
            </a:r>
            <a:r>
              <a:rPr lang="el-GR" b="0" i="0" dirty="0">
                <a:solidFill>
                  <a:srgbClr val="303030"/>
                </a:solidFill>
                <a:effectLst/>
                <a:latin typeface="Arimo"/>
              </a:rPr>
              <a:t>,…, β</a:t>
            </a:r>
            <a:r>
              <a:rPr lang="en-IN" b="0" i="0" baseline="-25000" dirty="0">
                <a:solidFill>
                  <a:srgbClr val="303030"/>
                </a:solidFill>
                <a:effectLst/>
                <a:latin typeface="Arimo"/>
              </a:rPr>
              <a:t>n</a:t>
            </a:r>
            <a:r>
              <a:rPr lang="en-IN" b="0" i="0" dirty="0">
                <a:solidFill>
                  <a:srgbClr val="303030"/>
                </a:solidFill>
                <a:effectLst/>
                <a:latin typeface="Arimo"/>
              </a:rPr>
              <a:t> are the regression coefficients.</a:t>
            </a:r>
          </a:p>
          <a:p>
            <a:pPr algn="l" fontAlgn="base">
              <a:buFont typeface="Arial" panose="020B0604020202020204" pitchFamily="34" charset="0"/>
              <a:buChar char="•"/>
            </a:pPr>
            <a:r>
              <a:rPr lang="el-GR" b="0" i="0" dirty="0">
                <a:solidFill>
                  <a:srgbClr val="303030"/>
                </a:solidFill>
                <a:effectLst/>
                <a:latin typeface="Arimo"/>
              </a:rPr>
              <a:t>β</a:t>
            </a:r>
            <a:r>
              <a:rPr lang="en-IN" b="0" i="0" baseline="-25000" dirty="0">
                <a:solidFill>
                  <a:srgbClr val="303030"/>
                </a:solidFill>
                <a:effectLst/>
                <a:latin typeface="Arimo"/>
              </a:rPr>
              <a:t>j</a:t>
            </a:r>
            <a:r>
              <a:rPr lang="en-IN" b="0" i="0" dirty="0">
                <a:solidFill>
                  <a:srgbClr val="303030"/>
                </a:solidFill>
                <a:effectLst/>
                <a:latin typeface="Arimo"/>
              </a:rPr>
              <a:t> (1&lt;=j&lt;=n) is the slope or weight that specifies the factor by which </a:t>
            </a:r>
            <a:r>
              <a:rPr lang="en-IN" b="0" i="0" dirty="0" err="1">
                <a:solidFill>
                  <a:srgbClr val="303030"/>
                </a:solidFill>
                <a:effectLst/>
                <a:latin typeface="Arimo"/>
              </a:rPr>
              <a:t>X</a:t>
            </a:r>
            <a:r>
              <a:rPr lang="en-IN" b="0" i="0" baseline="-25000" dirty="0" err="1">
                <a:solidFill>
                  <a:srgbClr val="303030"/>
                </a:solidFill>
                <a:effectLst/>
                <a:latin typeface="Arimo"/>
              </a:rPr>
              <a:t>j</a:t>
            </a:r>
            <a:r>
              <a:rPr lang="en-IN" b="0" i="0" dirty="0">
                <a:solidFill>
                  <a:srgbClr val="303030"/>
                </a:solidFill>
                <a:effectLst/>
                <a:latin typeface="Arimo"/>
              </a:rPr>
              <a:t> has an impact on Y.</a:t>
            </a:r>
          </a:p>
          <a:p>
            <a:br>
              <a:rPr lang="en-IN" dirty="0"/>
            </a:br>
            <a:endParaRPr lang="en-US" dirty="0"/>
          </a:p>
        </p:txBody>
      </p:sp>
      <p:pic>
        <p:nvPicPr>
          <p:cNvPr id="4" name="Picture 3" descr="Chart, scatter chart&#10;&#10;Description automatically generated">
            <a:extLst>
              <a:ext uri="{FF2B5EF4-FFF2-40B4-BE49-F238E27FC236}">
                <a16:creationId xmlns:a16="http://schemas.microsoft.com/office/drawing/2014/main" id="{06580E3A-EF91-4AFC-4CDE-FDB6207DEEC9}"/>
              </a:ext>
            </a:extLst>
          </p:cNvPr>
          <p:cNvPicPr>
            <a:picLocks noChangeAspect="1"/>
          </p:cNvPicPr>
          <p:nvPr/>
        </p:nvPicPr>
        <p:blipFill>
          <a:blip r:embed="rId2"/>
          <a:stretch>
            <a:fillRect/>
          </a:stretch>
        </p:blipFill>
        <p:spPr>
          <a:xfrm>
            <a:off x="6842891" y="1305525"/>
            <a:ext cx="4781550" cy="3595429"/>
          </a:xfrm>
          <a:prstGeom prst="rect">
            <a:avLst/>
          </a:prstGeom>
        </p:spPr>
      </p:pic>
    </p:spTree>
    <p:extLst>
      <p:ext uri="{BB962C8B-B14F-4D97-AF65-F5344CB8AC3E}">
        <p14:creationId xmlns:p14="http://schemas.microsoft.com/office/powerpoint/2010/main" val="522755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3B1D10-6F50-B1C6-02D3-2B3B7E35B62B}"/>
              </a:ext>
            </a:extLst>
          </p:cNvPr>
          <p:cNvSpPr txBox="1"/>
          <p:nvPr/>
        </p:nvSpPr>
        <p:spPr>
          <a:xfrm>
            <a:off x="649348" y="1720017"/>
            <a:ext cx="3505494" cy="3785419"/>
          </a:xfrm>
          <a:prstGeom prst="rect">
            <a:avLst/>
          </a:prstGeom>
        </p:spPr>
        <p:txBody>
          <a:bodyPr vert="horz" lIns="91440" tIns="45720" rIns="91440" bIns="45720" rtlCol="0">
            <a:normAutofit/>
          </a:bodyPr>
          <a:lstStyle/>
          <a:p>
            <a:pPr>
              <a:lnSpc>
                <a:spcPct val="90000"/>
              </a:lnSpc>
              <a:spcAft>
                <a:spcPts val="600"/>
              </a:spcAft>
            </a:pPr>
            <a:r>
              <a:rPr lang="en-US" sz="2000" b="0" i="0" dirty="0">
                <a:effectLst/>
              </a:rPr>
              <a:t>The simple linear regression model can be represented graphically as a best-fit line between the data points, </a:t>
            </a:r>
          </a:p>
          <a:p>
            <a:pPr>
              <a:lnSpc>
                <a:spcPct val="90000"/>
              </a:lnSpc>
              <a:spcAft>
                <a:spcPts val="600"/>
              </a:spcAft>
            </a:pPr>
            <a:r>
              <a:rPr lang="en-US" sz="2000" b="0" i="0" dirty="0">
                <a:effectLst/>
              </a:rPr>
              <a:t>while the multiple linear regression model can be represented as a plane (in 2-dimensions) or a hyperplane (in higher dimensions).</a:t>
            </a:r>
            <a:endParaRPr lang="en-US" sz="2000" dirty="0"/>
          </a:p>
        </p:txBody>
      </p:sp>
      <p:sp>
        <p:nvSpPr>
          <p:cNvPr id="11" name="Rectangle 1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D11E1F1-314C-257F-E99B-4147C80B285E}"/>
              </a:ext>
            </a:extLst>
          </p:cNvPr>
          <p:cNvPicPr>
            <a:picLocks noChangeAspect="1"/>
          </p:cNvPicPr>
          <p:nvPr/>
        </p:nvPicPr>
        <p:blipFill>
          <a:blip r:embed="rId2"/>
          <a:stretch>
            <a:fillRect/>
          </a:stretch>
        </p:blipFill>
        <p:spPr>
          <a:xfrm>
            <a:off x="5405862" y="1967689"/>
            <a:ext cx="6019331" cy="2919375"/>
          </a:xfrm>
          <a:prstGeom prst="rect">
            <a:avLst/>
          </a:prstGeom>
          <a:effectLst/>
        </p:spPr>
      </p:pic>
    </p:spTree>
    <p:extLst>
      <p:ext uri="{BB962C8B-B14F-4D97-AF65-F5344CB8AC3E}">
        <p14:creationId xmlns:p14="http://schemas.microsoft.com/office/powerpoint/2010/main" val="2682639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CE4FC834-B36C-D379-E30E-51D4119E893B}"/>
              </a:ext>
            </a:extLst>
          </p:cNvPr>
          <p:cNvSpPr txBox="1"/>
          <p:nvPr/>
        </p:nvSpPr>
        <p:spPr>
          <a:xfrm>
            <a:off x="219060" y="2033225"/>
            <a:ext cx="9719148" cy="3539131"/>
          </a:xfrm>
          <a:prstGeom prst="rect">
            <a:avLst/>
          </a:prstGeom>
        </p:spPr>
        <p:txBody>
          <a:bodyPr vert="horz" lIns="91440" tIns="45720" rIns="91440" bIns="45720" rtlCol="0" anchor="ctr">
            <a:noAutofit/>
          </a:bodyPr>
          <a:lstStyle/>
          <a:p>
            <a:pPr>
              <a:lnSpc>
                <a:spcPct val="90000"/>
              </a:lnSpc>
              <a:spcAft>
                <a:spcPts val="600"/>
              </a:spcAft>
            </a:pPr>
            <a:endParaRPr lang="en-US" sz="1600" b="0" i="0" dirty="0">
              <a:solidFill>
                <a:schemeClr val="tx1">
                  <a:lumMod val="85000"/>
                  <a:lumOff val="15000"/>
                </a:schemeClr>
              </a:solidFill>
              <a:effectLst/>
            </a:endParaRPr>
          </a:p>
          <a:p>
            <a:pPr>
              <a:lnSpc>
                <a:spcPct val="90000"/>
              </a:lnSpc>
              <a:spcAft>
                <a:spcPts val="600"/>
              </a:spcAft>
            </a:pPr>
            <a:endParaRPr lang="en-US" sz="1600" b="0" i="0" dirty="0">
              <a:solidFill>
                <a:schemeClr val="tx1">
                  <a:lumMod val="85000"/>
                  <a:lumOff val="15000"/>
                </a:schemeClr>
              </a:solidFill>
              <a:effectLst/>
            </a:endParaRPr>
          </a:p>
          <a:p>
            <a:pPr>
              <a:lnSpc>
                <a:spcPct val="90000"/>
              </a:lnSpc>
              <a:spcAft>
                <a:spcPts val="600"/>
              </a:spcAft>
            </a:pPr>
            <a:r>
              <a:rPr lang="en-US" sz="1600" u="sng" dirty="0">
                <a:solidFill>
                  <a:schemeClr val="tx1">
                    <a:lumMod val="85000"/>
                    <a:lumOff val="15000"/>
                  </a:schemeClr>
                </a:solidFill>
              </a:rPr>
              <a:t>1</a:t>
            </a:r>
            <a:r>
              <a:rPr lang="en-US" sz="1600" i="0" u="sng" dirty="0">
                <a:solidFill>
                  <a:schemeClr val="tx1">
                    <a:lumMod val="85000"/>
                    <a:lumOff val="15000"/>
                  </a:schemeClr>
                </a:solidFill>
                <a:effectLst/>
              </a:rPr>
              <a:t>.Multicollinearity</a:t>
            </a:r>
            <a:r>
              <a:rPr lang="en-US" sz="1600" i="0" dirty="0">
                <a:solidFill>
                  <a:schemeClr val="tx1">
                    <a:lumMod val="85000"/>
                    <a:lumOff val="15000"/>
                  </a:schemeClr>
                </a:solidFill>
                <a:effectLst/>
              </a:rPr>
              <a:t>: It is the phenomenon where a model with several independent variables, may have some variables interrelated</a:t>
            </a:r>
            <a:endParaRPr lang="en-US" sz="1600" dirty="0">
              <a:solidFill>
                <a:schemeClr val="tx1">
                  <a:lumMod val="85000"/>
                  <a:lumOff val="15000"/>
                </a:schemeClr>
              </a:solidFill>
            </a:endParaRPr>
          </a:p>
          <a:p>
            <a:pPr>
              <a:lnSpc>
                <a:spcPct val="90000"/>
              </a:lnSpc>
              <a:spcAft>
                <a:spcPts val="600"/>
              </a:spcAft>
            </a:pPr>
            <a:endParaRPr lang="en-US" sz="1600" i="0" dirty="0">
              <a:solidFill>
                <a:schemeClr val="tx1">
                  <a:lumMod val="85000"/>
                  <a:lumOff val="15000"/>
                </a:schemeClr>
              </a:solidFill>
              <a:effectLst/>
            </a:endParaRPr>
          </a:p>
          <a:p>
            <a:pPr>
              <a:lnSpc>
                <a:spcPct val="90000"/>
              </a:lnSpc>
              <a:spcAft>
                <a:spcPts val="600"/>
              </a:spcAft>
            </a:pPr>
            <a:r>
              <a:rPr lang="en-US" sz="1600" u="sng" dirty="0">
                <a:solidFill>
                  <a:schemeClr val="tx1">
                    <a:lumMod val="85000"/>
                    <a:lumOff val="15000"/>
                  </a:schemeClr>
                </a:solidFill>
              </a:rPr>
              <a:t>2</a:t>
            </a:r>
            <a:r>
              <a:rPr lang="en-US" sz="1600" i="0" u="sng" dirty="0">
                <a:solidFill>
                  <a:schemeClr val="tx1">
                    <a:lumMod val="85000"/>
                    <a:lumOff val="15000"/>
                  </a:schemeClr>
                </a:solidFill>
                <a:effectLst/>
              </a:rPr>
              <a:t>.Overfitting</a:t>
            </a:r>
            <a:r>
              <a:rPr lang="en-US" sz="1600" i="0" dirty="0">
                <a:solidFill>
                  <a:schemeClr val="tx1">
                    <a:lumMod val="85000"/>
                    <a:lumOff val="15000"/>
                  </a:schemeClr>
                </a:solidFill>
                <a:effectLst/>
              </a:rPr>
              <a:t>: When more and more variables are added to a model, the model may become far too complex and usually ends up memorizing all the data points in the training set. This phenomenon is known as the overfitting of a model. This usually leads to high training accuracy and very low test accuracy.</a:t>
            </a:r>
          </a:p>
          <a:p>
            <a:pPr>
              <a:lnSpc>
                <a:spcPct val="90000"/>
              </a:lnSpc>
              <a:spcAft>
                <a:spcPts val="600"/>
              </a:spcAft>
            </a:pPr>
            <a:endParaRPr lang="en-US" sz="1600" i="0" dirty="0">
              <a:solidFill>
                <a:schemeClr val="tx1">
                  <a:lumMod val="85000"/>
                  <a:lumOff val="15000"/>
                </a:schemeClr>
              </a:solidFill>
              <a:effectLst/>
            </a:endParaRPr>
          </a:p>
          <a:p>
            <a:pPr>
              <a:lnSpc>
                <a:spcPct val="90000"/>
              </a:lnSpc>
              <a:spcAft>
                <a:spcPts val="600"/>
              </a:spcAft>
            </a:pPr>
            <a:r>
              <a:rPr lang="en-US" sz="1600" i="0" u="sng" dirty="0">
                <a:solidFill>
                  <a:schemeClr val="tx1">
                    <a:lumMod val="85000"/>
                    <a:lumOff val="15000"/>
                  </a:schemeClr>
                </a:solidFill>
                <a:effectLst/>
              </a:rPr>
              <a:t>3.Feature Selection:</a:t>
            </a:r>
            <a:r>
              <a:rPr lang="en-US" sz="1600" i="0" dirty="0">
                <a:solidFill>
                  <a:schemeClr val="tx1">
                    <a:lumMod val="85000"/>
                    <a:lumOff val="15000"/>
                  </a:schemeClr>
                </a:solidFill>
                <a:effectLst/>
              </a:rPr>
              <a:t> With more variables present, selecting the optimal set of predictors from the pool of given features (many of which might be redundant) becomes an important task for building a relevant and better model.</a:t>
            </a:r>
          </a:p>
        </p:txBody>
      </p:sp>
      <p:sp>
        <p:nvSpPr>
          <p:cNvPr id="21" name="Freeform: Shape 20">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AAE06C3-9BD1-DD9D-F757-99E506B04C66}"/>
              </a:ext>
            </a:extLst>
          </p:cNvPr>
          <p:cNvSpPr txBox="1"/>
          <p:nvPr/>
        </p:nvSpPr>
        <p:spPr>
          <a:xfrm>
            <a:off x="219060" y="759845"/>
            <a:ext cx="6098058" cy="369332"/>
          </a:xfrm>
          <a:prstGeom prst="rect">
            <a:avLst/>
          </a:prstGeom>
          <a:noFill/>
        </p:spPr>
        <p:txBody>
          <a:bodyPr wrap="square">
            <a:spAutoFit/>
          </a:bodyPr>
          <a:lstStyle/>
          <a:p>
            <a:pPr>
              <a:lnSpc>
                <a:spcPct val="90000"/>
              </a:lnSpc>
              <a:spcAft>
                <a:spcPts val="600"/>
              </a:spcAft>
            </a:pPr>
            <a:r>
              <a:rPr lang="en-US" sz="2000" b="1" i="0" u="sng" dirty="0">
                <a:solidFill>
                  <a:schemeClr val="tx1">
                    <a:lumMod val="85000"/>
                    <a:lumOff val="15000"/>
                  </a:schemeClr>
                </a:solidFill>
                <a:effectLst/>
              </a:rPr>
              <a:t>Considerations of Multiple Linear Regression</a:t>
            </a:r>
          </a:p>
        </p:txBody>
      </p:sp>
      <p:sp>
        <p:nvSpPr>
          <p:cNvPr id="5" name="TextBox 4">
            <a:extLst>
              <a:ext uri="{FF2B5EF4-FFF2-40B4-BE49-F238E27FC236}">
                <a16:creationId xmlns:a16="http://schemas.microsoft.com/office/drawing/2014/main" id="{D49471DD-AB41-1984-732D-401B1423A107}"/>
              </a:ext>
            </a:extLst>
          </p:cNvPr>
          <p:cNvSpPr txBox="1"/>
          <p:nvPr/>
        </p:nvSpPr>
        <p:spPr>
          <a:xfrm>
            <a:off x="219060" y="1328447"/>
            <a:ext cx="10280772" cy="612475"/>
          </a:xfrm>
          <a:prstGeom prst="rect">
            <a:avLst/>
          </a:prstGeom>
          <a:noFill/>
        </p:spPr>
        <p:txBody>
          <a:bodyPr wrap="square">
            <a:spAutoFit/>
          </a:bodyPr>
          <a:lstStyle/>
          <a:p>
            <a:pPr>
              <a:lnSpc>
                <a:spcPct val="90000"/>
              </a:lnSpc>
              <a:spcAft>
                <a:spcPts val="600"/>
              </a:spcAft>
            </a:pPr>
            <a:r>
              <a:rPr lang="en-US" sz="1600" b="0" i="0" dirty="0">
                <a:solidFill>
                  <a:schemeClr val="tx1">
                    <a:lumMod val="85000"/>
                    <a:lumOff val="15000"/>
                  </a:schemeClr>
                </a:solidFill>
                <a:effectLst/>
              </a:rPr>
              <a:t>All the four assumptions made for Simple Linear Regression still hold true for Multiple Linear Regression </a:t>
            </a:r>
            <a:endParaRPr lang="en-US" sz="1600" dirty="0">
              <a:solidFill>
                <a:schemeClr val="tx1">
                  <a:lumMod val="85000"/>
                  <a:lumOff val="15000"/>
                </a:schemeClr>
              </a:solidFill>
            </a:endParaRPr>
          </a:p>
          <a:p>
            <a:pPr>
              <a:lnSpc>
                <a:spcPct val="90000"/>
              </a:lnSpc>
              <a:spcAft>
                <a:spcPts val="600"/>
              </a:spcAft>
            </a:pPr>
            <a:r>
              <a:rPr lang="en-US" sz="1600" b="0" i="0" dirty="0">
                <a:solidFill>
                  <a:schemeClr val="tx1">
                    <a:lumMod val="85000"/>
                    <a:lumOff val="15000"/>
                  </a:schemeClr>
                </a:solidFill>
                <a:effectLst/>
              </a:rPr>
              <a:t>along with a few new additional assumptions</a:t>
            </a:r>
          </a:p>
        </p:txBody>
      </p:sp>
    </p:spTree>
    <p:extLst>
      <p:ext uri="{BB962C8B-B14F-4D97-AF65-F5344CB8AC3E}">
        <p14:creationId xmlns:p14="http://schemas.microsoft.com/office/powerpoint/2010/main" val="3399466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4954E4-FA81-AB3B-9080-91D4B3220DA9}"/>
              </a:ext>
            </a:extLst>
          </p:cNvPr>
          <p:cNvSpPr>
            <a:spLocks noChangeArrowheads="1"/>
          </p:cNvSpPr>
          <p:nvPr/>
        </p:nvSpPr>
        <p:spPr bwMode="auto">
          <a:xfrm>
            <a:off x="512246" y="1390136"/>
            <a:ext cx="10312271" cy="3058296"/>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eaLnBrk="1" fontAlgn="base" hangingPunct="1">
              <a:lnSpc>
                <a:spcPct val="90000"/>
              </a:lnSpc>
              <a:spcBef>
                <a:spcPct val="0"/>
              </a:spcBef>
              <a:spcAft>
                <a:spcPts val="600"/>
              </a:spcAft>
              <a:buClrTx/>
              <a:buSzTx/>
              <a:tabLst/>
            </a:pPr>
            <a:endParaRPr kumimoji="0" lang="en-US" altLang="en-US" sz="2000" b="1" i="0" u="sng" strike="noStrike" cap="none" normalizeH="0" baseline="0" dirty="0">
              <a:ln>
                <a:noFill/>
              </a:ln>
              <a:solidFill>
                <a:schemeClr val="tx1">
                  <a:lumMod val="85000"/>
                  <a:lumOff val="15000"/>
                </a:schemeClr>
              </a:solidFill>
              <a:effectLst/>
              <a:latin typeface="+mn-lt"/>
            </a:endParaRPr>
          </a:p>
          <a:p>
            <a:pPr marR="0" lvl="0" eaLnBrk="1" fontAlgn="base" hangingPunct="1">
              <a:lnSpc>
                <a:spcPct val="90000"/>
              </a:lnSpc>
              <a:spcBef>
                <a:spcPct val="0"/>
              </a:spcBef>
              <a:spcAft>
                <a:spcPts val="600"/>
              </a:spcAft>
              <a:buClrTx/>
              <a:buSzTx/>
              <a:tabLst/>
            </a:pPr>
            <a:endParaRPr kumimoji="0" lang="en-US" altLang="en-US" b="1" i="0" u="sng" strike="noStrike" cap="none" normalizeH="0" baseline="0" dirty="0">
              <a:ln>
                <a:noFill/>
              </a:ln>
              <a:solidFill>
                <a:schemeClr val="tx1">
                  <a:lumMod val="85000"/>
                  <a:lumOff val="15000"/>
                </a:schemeClr>
              </a:solidFill>
              <a:effectLst/>
              <a:latin typeface="+mn-lt"/>
            </a:endParaRPr>
          </a:p>
          <a:p>
            <a:pPr marR="0" lvl="0" eaLnBrk="1" fontAlgn="base" hangingPunct="1">
              <a:lnSpc>
                <a:spcPct val="90000"/>
              </a:lnSpc>
              <a:spcBef>
                <a:spcPct val="0"/>
              </a:spcBef>
              <a:spcAft>
                <a:spcPts val="600"/>
              </a:spcAft>
              <a:buClrTx/>
              <a:buSzTx/>
              <a:tabLst/>
            </a:pPr>
            <a:r>
              <a:rPr kumimoji="0" lang="en-US" altLang="en-US" b="1" i="0" u="sng" strike="noStrike" cap="none" normalizeH="0" baseline="0" dirty="0">
                <a:ln>
                  <a:noFill/>
                </a:ln>
                <a:solidFill>
                  <a:schemeClr val="tx1">
                    <a:lumMod val="85000"/>
                    <a:lumOff val="15000"/>
                  </a:schemeClr>
                </a:solidFill>
                <a:effectLst/>
                <a:latin typeface="+mn-lt"/>
              </a:rPr>
              <a:t>Multicollinearity</a:t>
            </a:r>
          </a:p>
          <a:p>
            <a:pPr eaLnBrk="1" hangingPunct="1">
              <a:lnSpc>
                <a:spcPct val="90000"/>
              </a:lnSpc>
              <a:spcAft>
                <a:spcPts val="600"/>
              </a:spcAft>
            </a:pPr>
            <a:r>
              <a:rPr kumimoji="0" lang="en-US" altLang="en-US" sz="1600" b="0" i="0" u="none" strike="noStrike" cap="none" normalizeH="0" baseline="0" dirty="0">
                <a:ln>
                  <a:noFill/>
                </a:ln>
                <a:solidFill>
                  <a:schemeClr val="tx1">
                    <a:lumMod val="85000"/>
                    <a:lumOff val="15000"/>
                  </a:schemeClr>
                </a:solidFill>
                <a:effectLst/>
                <a:latin typeface="+mn-lt"/>
              </a:rPr>
              <a:t>In statistics, multicollinearity is a phenomenon in which one predictor variable in a multiple regression model can be linearly predicted from the others. Multicollinearity can be detected using the following methods.</a:t>
            </a:r>
          </a:p>
          <a:p>
            <a:pPr eaLnBrk="1" hangingPunct="1">
              <a:lnSpc>
                <a:spcPct val="90000"/>
              </a:lnSpc>
              <a:spcAft>
                <a:spcPts val="600"/>
              </a:spcAft>
            </a:pPr>
            <a:endParaRPr kumimoji="0" lang="en-US" altLang="en-US" sz="1600" b="0" i="0" u="none" strike="noStrike" cap="none" normalizeH="0" baseline="0" dirty="0">
              <a:ln>
                <a:noFill/>
              </a:ln>
              <a:solidFill>
                <a:schemeClr val="tx1">
                  <a:lumMod val="85000"/>
                  <a:lumOff val="15000"/>
                </a:schemeClr>
              </a:solidFill>
              <a:effectLst/>
              <a:latin typeface="+mn-lt"/>
            </a:endParaRPr>
          </a:p>
          <a:p>
            <a:pPr eaLnBrk="1" hangingPunct="1">
              <a:lnSpc>
                <a:spcPct val="90000"/>
              </a:lnSpc>
              <a:spcAft>
                <a:spcPts val="600"/>
              </a:spcAft>
            </a:pPr>
            <a:endParaRPr lang="en-US" altLang="en-US" sz="1600" dirty="0">
              <a:solidFill>
                <a:schemeClr val="tx1">
                  <a:lumMod val="85000"/>
                  <a:lumOff val="15000"/>
                </a:schemeClr>
              </a:solidFill>
              <a:latin typeface="+mn-lt"/>
            </a:endParaRPr>
          </a:p>
          <a:p>
            <a:pPr eaLnBrk="1" hangingPunct="1">
              <a:lnSpc>
                <a:spcPct val="90000"/>
              </a:lnSpc>
              <a:spcAft>
                <a:spcPts val="600"/>
              </a:spcAft>
            </a:pPr>
            <a:endParaRPr kumimoji="0" lang="en-US" altLang="en-US" sz="1600" b="0" i="0" u="none" strike="noStrike" cap="none" normalizeH="0" baseline="0" dirty="0">
              <a:ln>
                <a:noFill/>
              </a:ln>
              <a:solidFill>
                <a:schemeClr val="tx1">
                  <a:lumMod val="85000"/>
                  <a:lumOff val="15000"/>
                </a:schemeClr>
              </a:solidFill>
              <a:effectLst/>
              <a:latin typeface="+mn-lt"/>
            </a:endParaRPr>
          </a:p>
          <a:p>
            <a:pPr eaLnBrk="1" hangingPunct="1">
              <a:lnSpc>
                <a:spcPct val="90000"/>
              </a:lnSpc>
              <a:spcAft>
                <a:spcPts val="600"/>
              </a:spcAft>
            </a:pPr>
            <a:endParaRPr lang="en-US" altLang="en-US" sz="1600" dirty="0">
              <a:solidFill>
                <a:schemeClr val="tx1">
                  <a:lumMod val="85000"/>
                  <a:lumOff val="15000"/>
                </a:schemeClr>
              </a:solidFill>
              <a:latin typeface="+mn-lt"/>
            </a:endParaRPr>
          </a:p>
          <a:p>
            <a:pPr eaLnBrk="1" hangingPunct="1">
              <a:lnSpc>
                <a:spcPct val="90000"/>
              </a:lnSpc>
              <a:spcAft>
                <a:spcPts val="600"/>
              </a:spcAft>
            </a:pPr>
            <a:endParaRPr kumimoji="0" lang="en-US" altLang="en-US" sz="1600" b="0" i="0" u="none" strike="noStrike" cap="none" normalizeH="0" baseline="0" dirty="0">
              <a:ln>
                <a:noFill/>
              </a:ln>
              <a:solidFill>
                <a:schemeClr val="tx1">
                  <a:lumMod val="85000"/>
                  <a:lumOff val="15000"/>
                </a:schemeClr>
              </a:solidFill>
              <a:effectLst/>
              <a:latin typeface="+mn-lt"/>
            </a:endParaRPr>
          </a:p>
          <a:p>
            <a:pPr marR="0" lvl="0" eaLnBrk="1" fontAlgn="base" hangingPunct="1">
              <a:lnSpc>
                <a:spcPct val="90000"/>
              </a:lnSpc>
              <a:spcBef>
                <a:spcPct val="0"/>
              </a:spcBef>
              <a:spcAft>
                <a:spcPts val="600"/>
              </a:spcAft>
              <a:buClrTx/>
              <a:buSzTx/>
              <a:tabLst/>
            </a:pPr>
            <a:endParaRPr kumimoji="0" lang="en-US" altLang="en-US" sz="1600" b="1" i="0" u="sng" strike="noStrike" cap="none" normalizeH="0" baseline="0" dirty="0">
              <a:ln>
                <a:noFill/>
              </a:ln>
              <a:solidFill>
                <a:schemeClr val="tx1">
                  <a:lumMod val="85000"/>
                  <a:lumOff val="15000"/>
                </a:schemeClr>
              </a:solidFill>
              <a:effectLst/>
              <a:latin typeface="+mn-lt"/>
            </a:endParaRPr>
          </a:p>
          <a:p>
            <a:pPr marR="0" lvl="0" eaLnBrk="1" fontAlgn="base" hangingPunct="1">
              <a:lnSpc>
                <a:spcPct val="90000"/>
              </a:lnSpc>
              <a:spcBef>
                <a:spcPct val="0"/>
              </a:spcBef>
              <a:spcAft>
                <a:spcPts val="600"/>
              </a:spcAft>
              <a:buClrTx/>
              <a:buSzTx/>
              <a:tabLst/>
            </a:pPr>
            <a:endParaRPr kumimoji="0" lang="en-US" altLang="en-US" sz="1600" b="1" i="0" u="sng" strike="noStrike" cap="none" normalizeH="0" baseline="0" dirty="0">
              <a:ln>
                <a:noFill/>
              </a:ln>
              <a:solidFill>
                <a:schemeClr val="tx1">
                  <a:lumMod val="85000"/>
                  <a:lumOff val="15000"/>
                </a:schemeClr>
              </a:solidFill>
              <a:effectLst/>
              <a:latin typeface="+mn-lt"/>
            </a:endParaRPr>
          </a:p>
          <a:p>
            <a:pPr marR="0" lvl="0" eaLnBrk="1" fontAlgn="base" hangingPunct="1">
              <a:lnSpc>
                <a:spcPct val="90000"/>
              </a:lnSpc>
              <a:spcBef>
                <a:spcPct val="0"/>
              </a:spcBef>
              <a:spcAft>
                <a:spcPts val="600"/>
              </a:spcAft>
              <a:buClrTx/>
              <a:buSzTx/>
              <a:tabLst/>
            </a:pPr>
            <a:endParaRPr lang="en-US" altLang="en-US" sz="1600" b="1" u="sng" dirty="0">
              <a:solidFill>
                <a:schemeClr val="tx1">
                  <a:lumMod val="85000"/>
                  <a:lumOff val="15000"/>
                </a:schemeClr>
              </a:solidFill>
              <a:latin typeface="+mn-lt"/>
            </a:endParaRPr>
          </a:p>
          <a:p>
            <a:pPr marR="0" lvl="0" eaLnBrk="1" fontAlgn="base" hangingPunct="1">
              <a:lnSpc>
                <a:spcPct val="90000"/>
              </a:lnSpc>
              <a:spcBef>
                <a:spcPct val="0"/>
              </a:spcBef>
              <a:spcAft>
                <a:spcPts val="600"/>
              </a:spcAft>
              <a:buClrTx/>
              <a:buSzTx/>
              <a:tabLst/>
            </a:pPr>
            <a:endParaRPr kumimoji="0" lang="en-US" altLang="en-US" sz="1600" b="1" i="0" u="sng" strike="noStrike" cap="none" normalizeH="0" baseline="0" dirty="0">
              <a:ln>
                <a:noFill/>
              </a:ln>
              <a:solidFill>
                <a:schemeClr val="tx1">
                  <a:lumMod val="85000"/>
                  <a:lumOff val="15000"/>
                </a:schemeClr>
              </a:solidFill>
              <a:effectLst/>
              <a:latin typeface="+mn-lt"/>
            </a:endParaRPr>
          </a:p>
          <a:p>
            <a:pPr marR="0" lvl="0" eaLnBrk="1" fontAlgn="base" hangingPunct="1">
              <a:lnSpc>
                <a:spcPct val="90000"/>
              </a:lnSpc>
              <a:spcBef>
                <a:spcPct val="0"/>
              </a:spcBef>
              <a:spcAft>
                <a:spcPts val="600"/>
              </a:spcAft>
              <a:buClrTx/>
              <a:buSzTx/>
              <a:tabLst/>
            </a:pPr>
            <a:endParaRPr lang="en-US" altLang="en-US" sz="1600" b="1" u="sng" dirty="0">
              <a:solidFill>
                <a:schemeClr val="tx1">
                  <a:lumMod val="85000"/>
                  <a:lumOff val="15000"/>
                </a:schemeClr>
              </a:solidFill>
              <a:latin typeface="+mn-lt"/>
            </a:endParaRPr>
          </a:p>
          <a:p>
            <a:pPr marR="0" lvl="0" eaLnBrk="1" fontAlgn="base" hangingPunct="1">
              <a:lnSpc>
                <a:spcPct val="90000"/>
              </a:lnSpc>
              <a:spcBef>
                <a:spcPct val="0"/>
              </a:spcBef>
              <a:spcAft>
                <a:spcPts val="600"/>
              </a:spcAft>
              <a:buClrTx/>
              <a:buSzTx/>
              <a:tabLst/>
            </a:pPr>
            <a:endParaRPr kumimoji="0" lang="en-US" altLang="en-US" sz="1600" b="1" i="0" u="sng" strike="noStrike" cap="none" normalizeH="0" baseline="0" dirty="0">
              <a:ln>
                <a:noFill/>
              </a:ln>
              <a:solidFill>
                <a:schemeClr val="tx1">
                  <a:lumMod val="85000"/>
                  <a:lumOff val="15000"/>
                </a:schemeClr>
              </a:solidFill>
              <a:effectLst/>
              <a:latin typeface="+mn-lt"/>
            </a:endParaRPr>
          </a:p>
          <a:p>
            <a:pPr marR="0" lvl="0" eaLnBrk="1" fontAlgn="base" hangingPunct="1">
              <a:lnSpc>
                <a:spcPct val="90000"/>
              </a:lnSpc>
              <a:spcBef>
                <a:spcPct val="0"/>
              </a:spcBef>
              <a:spcAft>
                <a:spcPts val="600"/>
              </a:spcAft>
              <a:buClrTx/>
              <a:buSzTx/>
              <a:tabLst/>
            </a:pPr>
            <a:r>
              <a:rPr kumimoji="0" lang="en-US" altLang="en-US" sz="1600" b="1" i="0" u="sng" strike="noStrike" cap="none" normalizeH="0" baseline="0" dirty="0">
                <a:ln>
                  <a:noFill/>
                </a:ln>
                <a:solidFill>
                  <a:schemeClr val="tx1">
                    <a:lumMod val="85000"/>
                    <a:lumOff val="15000"/>
                  </a:schemeClr>
                </a:solidFill>
                <a:effectLst/>
                <a:latin typeface="+mn-lt"/>
              </a:rPr>
              <a:t>Pairwise Correlations:</a:t>
            </a:r>
            <a:r>
              <a:rPr kumimoji="0" lang="en-US" altLang="en-US" sz="1600" b="0" i="0" u="none" strike="noStrike" cap="none" normalizeH="0" baseline="0" dirty="0">
                <a:ln>
                  <a:noFill/>
                </a:ln>
                <a:solidFill>
                  <a:schemeClr val="tx1">
                    <a:lumMod val="85000"/>
                    <a:lumOff val="15000"/>
                  </a:schemeClr>
                </a:solidFill>
                <a:effectLst/>
                <a:latin typeface="+mn-lt"/>
              </a:rPr>
              <a:t> Checking the pairwise correlations between different pairs of independent variables can throw useful insights in detecting multicollinearity.</a:t>
            </a:r>
          </a:p>
          <a:p>
            <a:pPr marR="0" lvl="0" eaLnBrk="1" fontAlgn="base" hangingPunct="1">
              <a:lnSpc>
                <a:spcPct val="90000"/>
              </a:lnSpc>
              <a:spcBef>
                <a:spcPct val="0"/>
              </a:spcBef>
              <a:spcAft>
                <a:spcPts val="600"/>
              </a:spcAft>
              <a:buClrTx/>
              <a:buSzTx/>
              <a:tabLst/>
            </a:pPr>
            <a:endParaRPr kumimoji="0" lang="en-US" altLang="en-US" sz="1600" b="0" i="0" u="none" strike="noStrike" cap="none" normalizeH="0" baseline="0" dirty="0">
              <a:ln>
                <a:noFill/>
              </a:ln>
              <a:solidFill>
                <a:schemeClr val="tx1">
                  <a:lumMod val="85000"/>
                  <a:lumOff val="15000"/>
                </a:schemeClr>
              </a:solidFill>
              <a:effectLst/>
              <a:latin typeface="+mn-lt"/>
            </a:endParaRPr>
          </a:p>
          <a:p>
            <a:pPr marR="0" lvl="0" eaLnBrk="1" fontAlgn="base" hangingPunct="1">
              <a:lnSpc>
                <a:spcPct val="90000"/>
              </a:lnSpc>
              <a:spcBef>
                <a:spcPct val="0"/>
              </a:spcBef>
              <a:spcAft>
                <a:spcPts val="600"/>
              </a:spcAft>
              <a:buClrTx/>
              <a:buSzTx/>
              <a:tabLst/>
            </a:pPr>
            <a:r>
              <a:rPr kumimoji="0" lang="en-US" altLang="en-US" sz="1600" b="1" i="0" u="sng" strike="noStrike" cap="none" normalizeH="0" baseline="0" dirty="0">
                <a:ln>
                  <a:noFill/>
                </a:ln>
                <a:solidFill>
                  <a:schemeClr val="tx1">
                    <a:lumMod val="85000"/>
                    <a:lumOff val="15000"/>
                  </a:schemeClr>
                </a:solidFill>
                <a:effectLst/>
                <a:latin typeface="+mn-lt"/>
              </a:rPr>
              <a:t>Variance Inflation Factor (VIF):</a:t>
            </a:r>
            <a:r>
              <a:rPr kumimoji="0" lang="en-US" altLang="en-US" sz="1600" b="0" i="0" u="none" strike="noStrike" cap="none" normalizeH="0" baseline="0" dirty="0">
                <a:ln>
                  <a:noFill/>
                </a:ln>
                <a:solidFill>
                  <a:schemeClr val="tx1">
                    <a:lumMod val="85000"/>
                    <a:lumOff val="15000"/>
                  </a:schemeClr>
                </a:solidFill>
                <a:effectLst/>
                <a:latin typeface="+mn-lt"/>
              </a:rPr>
              <a:t> . VIF basically explains the relationship of one independent variable with all the other independent variables. VIF is given by,</a:t>
            </a:r>
          </a:p>
          <a:p>
            <a:pPr marR="0" lvl="0" eaLnBrk="1" fontAlgn="base" hangingPunct="1">
              <a:lnSpc>
                <a:spcPct val="90000"/>
              </a:lnSpc>
              <a:spcBef>
                <a:spcPct val="0"/>
              </a:spcBef>
              <a:spcAft>
                <a:spcPts val="600"/>
              </a:spcAft>
              <a:buClrTx/>
              <a:buSzTx/>
              <a:tabLst/>
            </a:pPr>
            <a:r>
              <a:rPr kumimoji="0" lang="en-US" altLang="en-US" sz="1600" b="0" i="0" u="none" strike="noStrike" cap="none" normalizeH="0" baseline="0" dirty="0">
                <a:ln>
                  <a:noFill/>
                </a:ln>
                <a:solidFill>
                  <a:schemeClr val="tx1">
                    <a:lumMod val="85000"/>
                    <a:lumOff val="15000"/>
                  </a:schemeClr>
                </a:solidFill>
                <a:effectLst/>
                <a:latin typeface="+mn-lt"/>
              </a:rPr>
              <a:t>            </a:t>
            </a:r>
          </a:p>
        </p:txBody>
      </p:sp>
      <p:pic>
        <p:nvPicPr>
          <p:cNvPr id="16388" name="Picture 4" descr="multicollinearity VIF">
            <a:extLst>
              <a:ext uri="{FF2B5EF4-FFF2-40B4-BE49-F238E27FC236}">
                <a16:creationId xmlns:a16="http://schemas.microsoft.com/office/drawing/2014/main" id="{F2D3BE1D-ECF7-000A-BCC2-45B40A5BB9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6851" y="5702643"/>
            <a:ext cx="1106489" cy="58634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Diagram&#10;&#10;Description automatically generated">
            <a:extLst>
              <a:ext uri="{FF2B5EF4-FFF2-40B4-BE49-F238E27FC236}">
                <a16:creationId xmlns:a16="http://schemas.microsoft.com/office/drawing/2014/main" id="{AC4E5885-1CA2-3D20-96B8-92CF16BE701D}"/>
              </a:ext>
            </a:extLst>
          </p:cNvPr>
          <p:cNvPicPr>
            <a:picLocks noChangeAspect="1"/>
          </p:cNvPicPr>
          <p:nvPr/>
        </p:nvPicPr>
        <p:blipFill>
          <a:blip r:embed="rId3"/>
          <a:stretch>
            <a:fillRect/>
          </a:stretch>
        </p:blipFill>
        <p:spPr>
          <a:xfrm>
            <a:off x="2755274" y="1390136"/>
            <a:ext cx="3966802" cy="2881866"/>
          </a:xfrm>
          <a:prstGeom prst="rect">
            <a:avLst/>
          </a:prstGeom>
        </p:spPr>
      </p:pic>
    </p:spTree>
    <p:extLst>
      <p:ext uri="{BB962C8B-B14F-4D97-AF65-F5344CB8AC3E}">
        <p14:creationId xmlns:p14="http://schemas.microsoft.com/office/powerpoint/2010/main" val="1584402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802DF1-AB5E-A642-2AC3-147CBBBAB8D3}"/>
              </a:ext>
            </a:extLst>
          </p:cNvPr>
          <p:cNvSpPr>
            <a:spLocks noChangeArrowheads="1"/>
          </p:cNvSpPr>
          <p:nvPr/>
        </p:nvSpPr>
        <p:spPr bwMode="auto">
          <a:xfrm>
            <a:off x="267061" y="265813"/>
            <a:ext cx="11397717" cy="650569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l"/>
            <a:endParaRPr lang="en-IN" sz="1400" dirty="0">
              <a:solidFill>
                <a:srgbClr val="222222"/>
              </a:solidFill>
              <a:latin typeface="+mn-lt"/>
            </a:endParaRPr>
          </a:p>
          <a:p>
            <a:pPr algn="l"/>
            <a:endParaRPr lang="en-IN" sz="1400" b="1" i="0" dirty="0">
              <a:solidFill>
                <a:srgbClr val="222222"/>
              </a:solidFill>
              <a:effectLst/>
              <a:latin typeface="+mn-lt"/>
            </a:endParaRPr>
          </a:p>
          <a:p>
            <a:pPr algn="l"/>
            <a:r>
              <a:rPr lang="en-IN" sz="1600" b="1" i="0" u="sng" dirty="0">
                <a:solidFill>
                  <a:srgbClr val="222222"/>
                </a:solidFill>
                <a:effectLst/>
                <a:latin typeface="+mn-lt"/>
              </a:rPr>
              <a:t>Overfitting</a:t>
            </a:r>
          </a:p>
          <a:p>
            <a:pPr algn="l"/>
            <a:r>
              <a:rPr lang="en-IN" sz="1600" b="0" i="0" dirty="0">
                <a:solidFill>
                  <a:srgbClr val="222222"/>
                </a:solidFill>
                <a:effectLst/>
                <a:latin typeface="+mn-lt"/>
              </a:rPr>
              <a:t>When a model learns each and every pattern and noise in the data to such extent that it affects the performance of the model on the unseen future dataset, it is referred to as </a:t>
            </a:r>
            <a:r>
              <a:rPr lang="en-IN" sz="1600" b="1" dirty="0">
                <a:solidFill>
                  <a:srgbClr val="222222"/>
                </a:solidFill>
                <a:effectLst/>
                <a:latin typeface="+mn-lt"/>
              </a:rPr>
              <a:t>overfitting</a:t>
            </a:r>
            <a:r>
              <a:rPr lang="en-IN" sz="1600" b="0" i="0" dirty="0">
                <a:solidFill>
                  <a:srgbClr val="222222"/>
                </a:solidFill>
                <a:effectLst/>
                <a:latin typeface="+mn-lt"/>
              </a:rPr>
              <a:t>. This usually leads to high training accuracy and very low test accuracy.</a:t>
            </a:r>
          </a:p>
          <a:p>
            <a:pPr algn="l"/>
            <a:endParaRPr lang="en-IN" sz="1600" b="0" i="0" dirty="0">
              <a:solidFill>
                <a:srgbClr val="222222"/>
              </a:solidFill>
              <a:effectLst/>
              <a:latin typeface="+mn-lt"/>
            </a:endParaRPr>
          </a:p>
          <a:p>
            <a:pPr algn="l"/>
            <a:r>
              <a:rPr lang="en-IN" sz="1600" b="0" i="0" dirty="0">
                <a:solidFill>
                  <a:srgbClr val="222222"/>
                </a:solidFill>
                <a:effectLst/>
                <a:latin typeface="+mn-lt"/>
              </a:rPr>
              <a:t>There are several ways to prevent overfitting, which are stated below:</a:t>
            </a:r>
            <a:br>
              <a:rPr lang="en-IN" sz="1600" b="0" i="0" dirty="0">
                <a:solidFill>
                  <a:srgbClr val="222222"/>
                </a:solidFill>
                <a:effectLst/>
                <a:latin typeface="+mn-lt"/>
              </a:rPr>
            </a:br>
            <a:endParaRPr lang="en-IN" sz="1600" b="0" i="0" dirty="0">
              <a:solidFill>
                <a:srgbClr val="222222"/>
              </a:solidFill>
              <a:effectLst/>
              <a:latin typeface="+mn-lt"/>
            </a:endParaRPr>
          </a:p>
          <a:p>
            <a:pPr algn="l">
              <a:buFont typeface="Arial" panose="020B0604020202020204" pitchFamily="34" charset="0"/>
              <a:buChar char="•"/>
            </a:pPr>
            <a:r>
              <a:rPr lang="en-IN" sz="1600" b="0" i="0" dirty="0">
                <a:solidFill>
                  <a:srgbClr val="222222"/>
                </a:solidFill>
                <a:effectLst/>
                <a:latin typeface="+mn-lt"/>
              </a:rPr>
              <a:t>If the training data is too small to train add more relevant and clean data.</a:t>
            </a:r>
          </a:p>
          <a:p>
            <a:pPr algn="l">
              <a:buFont typeface="Arial" panose="020B0604020202020204" pitchFamily="34" charset="0"/>
              <a:buChar char="•"/>
            </a:pPr>
            <a:r>
              <a:rPr lang="en-IN" sz="1600" b="0" i="0" dirty="0">
                <a:solidFill>
                  <a:srgbClr val="222222"/>
                </a:solidFill>
                <a:effectLst/>
                <a:latin typeface="+mn-lt"/>
              </a:rPr>
              <a:t>If the training data is too large, do some feature selection and remove unnecessary features.</a:t>
            </a:r>
          </a:p>
          <a:p>
            <a:pPr algn="l">
              <a:buFont typeface="Arial" panose="020B0604020202020204" pitchFamily="34" charset="0"/>
              <a:buChar char="•"/>
            </a:pPr>
            <a:r>
              <a:rPr lang="en-IN" sz="1600" b="0" i="0" dirty="0">
                <a:solidFill>
                  <a:srgbClr val="222222"/>
                </a:solidFill>
                <a:effectLst/>
                <a:latin typeface="+mn-lt"/>
              </a:rPr>
              <a:t>Regularization</a:t>
            </a:r>
          </a:p>
          <a:p>
            <a:pPr algn="l"/>
            <a:endParaRPr lang="en-IN" sz="1600" b="1" u="sng" dirty="0">
              <a:solidFill>
                <a:srgbClr val="222222"/>
              </a:solidFill>
              <a:latin typeface="+mn-lt"/>
            </a:endParaRPr>
          </a:p>
          <a:p>
            <a:pPr algn="l"/>
            <a:r>
              <a:rPr lang="en-IN" sz="1600" b="1" i="0" u="sng" dirty="0">
                <a:solidFill>
                  <a:srgbClr val="222222"/>
                </a:solidFill>
                <a:effectLst/>
                <a:latin typeface="+mn-lt"/>
              </a:rPr>
              <a:t>Underfitting</a:t>
            </a:r>
          </a:p>
          <a:p>
            <a:pPr algn="l"/>
            <a:r>
              <a:rPr lang="en-IN" sz="1600" b="0" i="0" dirty="0">
                <a:solidFill>
                  <a:srgbClr val="222222"/>
                </a:solidFill>
                <a:effectLst/>
                <a:latin typeface="+mn-lt"/>
              </a:rPr>
              <a:t> When the model fails to learn from the training dataset and is also not able to generalize the test dataset, is referred to as </a:t>
            </a:r>
            <a:r>
              <a:rPr lang="en-IN" sz="1600" b="1" dirty="0">
                <a:solidFill>
                  <a:srgbClr val="222222"/>
                </a:solidFill>
                <a:effectLst/>
                <a:latin typeface="+mn-lt"/>
              </a:rPr>
              <a:t>underfitting</a:t>
            </a:r>
            <a:r>
              <a:rPr lang="en-IN" sz="1600" b="0" dirty="0">
                <a:solidFill>
                  <a:srgbClr val="222222"/>
                </a:solidFill>
                <a:effectLst/>
                <a:latin typeface="+mn-lt"/>
              </a:rPr>
              <a:t>. </a:t>
            </a:r>
            <a:r>
              <a:rPr lang="en-IN" sz="1600" b="0" i="0" dirty="0">
                <a:solidFill>
                  <a:srgbClr val="222222"/>
                </a:solidFill>
                <a:effectLst/>
                <a:latin typeface="+mn-lt"/>
              </a:rPr>
              <a:t>This type of problem can be very easily detected by the performance metrics. When a model has high bias and low variance it ends up not generalizing the data and causing underfitting. It is unable to find the hidden underlying patterns from the data. This usually leads to low training accuracy and very low test accuracy. </a:t>
            </a:r>
          </a:p>
          <a:p>
            <a:pPr algn="l"/>
            <a:endParaRPr lang="en-IN" sz="1600" dirty="0">
              <a:solidFill>
                <a:srgbClr val="222222"/>
              </a:solidFill>
              <a:latin typeface="+mn-lt"/>
            </a:endParaRPr>
          </a:p>
          <a:p>
            <a:pPr algn="l"/>
            <a:r>
              <a:rPr lang="en-IN" sz="1600" b="0" i="0" dirty="0">
                <a:solidFill>
                  <a:srgbClr val="222222"/>
                </a:solidFill>
                <a:effectLst/>
                <a:latin typeface="+mn-lt"/>
              </a:rPr>
              <a:t>The ways to prevent underfitting are stated below,</a:t>
            </a:r>
          </a:p>
          <a:p>
            <a:pPr algn="l"/>
            <a:endParaRPr lang="en-IN" sz="1600" b="0" i="0" dirty="0">
              <a:solidFill>
                <a:srgbClr val="222222"/>
              </a:solidFill>
              <a:effectLst/>
              <a:latin typeface="+mn-lt"/>
            </a:endParaRPr>
          </a:p>
          <a:p>
            <a:pPr algn="l">
              <a:buFont typeface="Arial" panose="020B0604020202020204" pitchFamily="34" charset="0"/>
              <a:buChar char="•"/>
            </a:pPr>
            <a:r>
              <a:rPr lang="en-IN" sz="1600" b="0" i="0" dirty="0">
                <a:solidFill>
                  <a:srgbClr val="222222"/>
                </a:solidFill>
                <a:effectLst/>
                <a:latin typeface="+mn-lt"/>
              </a:rPr>
              <a:t>Increase the model complexity</a:t>
            </a:r>
          </a:p>
          <a:p>
            <a:pPr algn="l">
              <a:buFont typeface="Arial" panose="020B0604020202020204" pitchFamily="34" charset="0"/>
              <a:buChar char="•"/>
            </a:pPr>
            <a:r>
              <a:rPr lang="en-IN" sz="1600" b="0" i="0" dirty="0">
                <a:solidFill>
                  <a:srgbClr val="222222"/>
                </a:solidFill>
                <a:effectLst/>
                <a:latin typeface="+mn-lt"/>
              </a:rPr>
              <a:t>Increase the number of features in the training data</a:t>
            </a:r>
          </a:p>
          <a:p>
            <a:pPr algn="l">
              <a:buFont typeface="Arial" panose="020B0604020202020204" pitchFamily="34" charset="0"/>
              <a:buChar char="•"/>
            </a:pPr>
            <a:r>
              <a:rPr lang="en-IN" sz="1600" b="0" i="0" dirty="0">
                <a:solidFill>
                  <a:srgbClr val="222222"/>
                </a:solidFill>
                <a:effectLst/>
                <a:latin typeface="+mn-lt"/>
              </a:rPr>
              <a:t>Remove noise from the data.</a:t>
            </a:r>
          </a:p>
          <a:p>
            <a:pPr algn="l"/>
            <a:endParaRPr lang="en-IN" sz="1400" b="0" i="0" dirty="0">
              <a:solidFill>
                <a:srgbClr val="222222"/>
              </a:solidFill>
              <a:effectLst/>
              <a:latin typeface="+mn-lt"/>
            </a:endParaRPr>
          </a:p>
          <a:p>
            <a:pPr marR="0" lvl="0" eaLnBrk="1" fontAlgn="base" hangingPunct="1">
              <a:lnSpc>
                <a:spcPct val="90000"/>
              </a:lnSpc>
              <a:spcBef>
                <a:spcPct val="0"/>
              </a:spcBef>
              <a:spcAft>
                <a:spcPts val="600"/>
              </a:spcAft>
              <a:buClrTx/>
              <a:buSzTx/>
              <a:tabLst/>
            </a:pPr>
            <a:r>
              <a:rPr kumimoji="0" lang="en-US" altLang="en-US" sz="1400" b="0" i="0" u="none" strike="noStrike" cap="none" normalizeH="0" baseline="0" dirty="0">
                <a:ln>
                  <a:noFill/>
                </a:ln>
                <a:effectLst/>
                <a:latin typeface="+mn-lt"/>
              </a:rPr>
              <a:t>.</a:t>
            </a:r>
          </a:p>
        </p:txBody>
      </p:sp>
      <p:pic>
        <p:nvPicPr>
          <p:cNvPr id="4" name="Picture 3" descr="Chart, scatter chart&#10;&#10;Description automatically generated">
            <a:extLst>
              <a:ext uri="{FF2B5EF4-FFF2-40B4-BE49-F238E27FC236}">
                <a16:creationId xmlns:a16="http://schemas.microsoft.com/office/drawing/2014/main" id="{C24C19EE-3555-8E3F-4E39-5FC56AEC14B0}"/>
              </a:ext>
            </a:extLst>
          </p:cNvPr>
          <p:cNvPicPr>
            <a:picLocks noChangeAspect="1"/>
          </p:cNvPicPr>
          <p:nvPr/>
        </p:nvPicPr>
        <p:blipFill>
          <a:blip r:embed="rId2"/>
          <a:stretch>
            <a:fillRect/>
          </a:stretch>
        </p:blipFill>
        <p:spPr>
          <a:xfrm>
            <a:off x="5565173" y="4349749"/>
            <a:ext cx="5778329" cy="2317861"/>
          </a:xfrm>
          <a:prstGeom prst="rect">
            <a:avLst/>
          </a:prstGeom>
        </p:spPr>
      </p:pic>
    </p:spTree>
    <p:extLst>
      <p:ext uri="{BB962C8B-B14F-4D97-AF65-F5344CB8AC3E}">
        <p14:creationId xmlns:p14="http://schemas.microsoft.com/office/powerpoint/2010/main" val="1664891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C59BEC-C4CC-4741-B975-08C543178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72DEF309-605D-4117-9340-6D589B6C3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6173" flipV="1">
            <a:off x="3930947" y="651615"/>
            <a:ext cx="4083433" cy="408343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Rectangle 1">
            <a:extLst>
              <a:ext uri="{FF2B5EF4-FFF2-40B4-BE49-F238E27FC236}">
                <a16:creationId xmlns:a16="http://schemas.microsoft.com/office/drawing/2014/main" id="{71802DF1-AB5E-A642-2AC3-147CBBBAB8D3}"/>
              </a:ext>
            </a:extLst>
          </p:cNvPr>
          <p:cNvSpPr>
            <a:spLocks noChangeArrowheads="1"/>
          </p:cNvSpPr>
          <p:nvPr/>
        </p:nvSpPr>
        <p:spPr bwMode="auto">
          <a:xfrm>
            <a:off x="702639" y="517662"/>
            <a:ext cx="5393361" cy="435133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pPr>
            <a:endParaRPr lang="en-US" sz="1600" dirty="0">
              <a:latin typeface="+mn-lt"/>
              <a:cs typeface="Times New Roman" panose="02020603050405020304" pitchFamily="18" charset="0"/>
            </a:endParaRPr>
          </a:p>
          <a:p>
            <a:pPr eaLnBrk="1" hangingPunct="1">
              <a:lnSpc>
                <a:spcPct val="90000"/>
              </a:lnSpc>
            </a:pPr>
            <a:endParaRPr lang="en-US" sz="1600" i="0" dirty="0">
              <a:effectLst/>
              <a:latin typeface="+mn-lt"/>
              <a:cs typeface="Times New Roman" panose="02020603050405020304" pitchFamily="18" charset="0"/>
            </a:endParaRPr>
          </a:p>
          <a:p>
            <a:pPr eaLnBrk="1" hangingPunct="1">
              <a:lnSpc>
                <a:spcPct val="90000"/>
              </a:lnSpc>
            </a:pPr>
            <a:r>
              <a:rPr lang="en-US" sz="1600" b="1" i="0" u="sng" dirty="0">
                <a:effectLst/>
                <a:latin typeface="+mn-lt"/>
                <a:cs typeface="Times New Roman" panose="02020603050405020304" pitchFamily="18" charset="0"/>
              </a:rPr>
              <a:t>Regularization</a:t>
            </a:r>
          </a:p>
          <a:p>
            <a:pPr eaLnBrk="1" hangingPunct="1">
              <a:lnSpc>
                <a:spcPct val="90000"/>
              </a:lnSpc>
            </a:pPr>
            <a:endParaRPr lang="en-US" sz="1600" b="0" i="0" dirty="0">
              <a:effectLst/>
              <a:latin typeface="+mn-lt"/>
              <a:cs typeface="Times New Roman" panose="02020603050405020304" pitchFamily="18" charset="0"/>
            </a:endParaRPr>
          </a:p>
          <a:p>
            <a:pPr eaLnBrk="1" hangingPunct="1">
              <a:lnSpc>
                <a:spcPct val="90000"/>
              </a:lnSpc>
            </a:pPr>
            <a:r>
              <a:rPr lang="en-US" sz="1600" b="0" i="0" dirty="0">
                <a:effectLst/>
                <a:latin typeface="+mn-lt"/>
                <a:cs typeface="Times New Roman" panose="02020603050405020304" pitchFamily="18" charset="0"/>
              </a:rPr>
              <a:t>Regularization is commonly used in multiple regression settings to lower the complexity of the model. </a:t>
            </a:r>
            <a:br>
              <a:rPr lang="en-US" sz="1600" b="0" i="0" dirty="0">
                <a:effectLst/>
                <a:latin typeface="+mn-lt"/>
                <a:cs typeface="Times New Roman" panose="02020603050405020304" pitchFamily="18" charset="0"/>
              </a:rPr>
            </a:br>
            <a:endParaRPr lang="en-US" sz="1600" b="0" i="0" dirty="0">
              <a:effectLst/>
              <a:latin typeface="+mn-lt"/>
              <a:cs typeface="Times New Roman" panose="02020603050405020304" pitchFamily="18" charset="0"/>
            </a:endParaRPr>
          </a:p>
          <a:p>
            <a:pPr eaLnBrk="1" hangingPunct="1">
              <a:lnSpc>
                <a:spcPct val="90000"/>
              </a:lnSpc>
            </a:pPr>
            <a:r>
              <a:rPr lang="en-US" sz="1600" b="0" i="0" dirty="0">
                <a:effectLst/>
                <a:latin typeface="+mn-lt"/>
                <a:cs typeface="Times New Roman" panose="02020603050405020304" pitchFamily="18" charset="0"/>
              </a:rPr>
              <a:t>Regularization can be thought of as a feature selection method, whereby features with lower contributions to the goodness of fit are removed and/or diminished in their effects, while the important features are emphasized. </a:t>
            </a:r>
          </a:p>
          <a:p>
            <a:pPr eaLnBrk="1" hangingPunct="1">
              <a:lnSpc>
                <a:spcPct val="90000"/>
              </a:lnSpc>
            </a:pPr>
            <a:endParaRPr lang="en-US" sz="1600" b="0" i="0" dirty="0">
              <a:effectLst/>
              <a:latin typeface="+mn-lt"/>
              <a:cs typeface="Times New Roman" panose="02020603050405020304" pitchFamily="18" charset="0"/>
            </a:endParaRPr>
          </a:p>
          <a:p>
            <a:pPr eaLnBrk="1" hangingPunct="1">
              <a:lnSpc>
                <a:spcPct val="90000"/>
              </a:lnSpc>
              <a:spcAft>
                <a:spcPts val="600"/>
              </a:spcAft>
            </a:pPr>
            <a:r>
              <a:rPr kumimoji="0" lang="en-US" altLang="en-US" sz="1600" b="0" i="0" u="none" strike="noStrike" cap="none" normalizeH="0" baseline="0" dirty="0">
                <a:ln>
                  <a:noFill/>
                </a:ln>
                <a:effectLst/>
                <a:latin typeface="+mn-lt"/>
                <a:cs typeface="Times New Roman" panose="02020603050405020304" pitchFamily="18" charset="0"/>
              </a:rPr>
              <a:t> There are two major regularization techniques that are frequently used in linear regression settings:</a:t>
            </a:r>
          </a:p>
          <a:p>
            <a:pPr marL="457200" indent="-342900" eaLnBrk="1" hangingPunct="1">
              <a:lnSpc>
                <a:spcPct val="90000"/>
              </a:lnSpc>
              <a:spcAft>
                <a:spcPts val="600"/>
              </a:spcAft>
              <a:buFont typeface="+mj-lt"/>
              <a:buAutoNum type="arabicPeriod"/>
            </a:pPr>
            <a:r>
              <a:rPr kumimoji="0" lang="en-US" altLang="en-US" sz="1600" b="0" i="0" u="none" strike="noStrike" cap="none" normalizeH="0" baseline="0" dirty="0">
                <a:ln>
                  <a:noFill/>
                </a:ln>
                <a:effectLst/>
                <a:latin typeface="+mn-lt"/>
                <a:cs typeface="Times New Roman" panose="02020603050405020304" pitchFamily="18" charset="0"/>
              </a:rPr>
              <a:t>Lasso L1 Regression - uses a penalty term to remove predictor variables, which have low contributions to overall model performance</a:t>
            </a:r>
          </a:p>
          <a:p>
            <a:pPr marL="457200" indent="-342900" eaLnBrk="1" hangingPunct="1">
              <a:lnSpc>
                <a:spcPct val="90000"/>
              </a:lnSpc>
              <a:spcAft>
                <a:spcPts val="600"/>
              </a:spcAft>
              <a:buFont typeface="+mj-lt"/>
              <a:buAutoNum type="arabicPeriod"/>
            </a:pPr>
            <a:r>
              <a:rPr kumimoji="0" lang="en-US" altLang="en-US" sz="1600" b="0" i="0" u="none" strike="noStrike" cap="none" normalizeH="0" baseline="0" dirty="0">
                <a:ln>
                  <a:noFill/>
                </a:ln>
                <a:effectLst/>
                <a:latin typeface="+mn-lt"/>
                <a:cs typeface="Times New Roman" panose="02020603050405020304" pitchFamily="18" charset="0"/>
              </a:rPr>
              <a:t>Ridge L2 Regression - uses a penalty term to lower the influence of predictor variables (but does not remove features)</a:t>
            </a:r>
          </a:p>
          <a:p>
            <a:pPr marL="457200" indent="-342900" eaLnBrk="1" hangingPunct="1">
              <a:lnSpc>
                <a:spcPct val="90000"/>
              </a:lnSpc>
              <a:spcAft>
                <a:spcPts val="600"/>
              </a:spcAft>
              <a:buFont typeface="+mj-lt"/>
              <a:buAutoNum type="arabicPeriod"/>
            </a:pPr>
            <a:r>
              <a:rPr lang="en-US" sz="1600" b="0" i="0" dirty="0">
                <a:effectLst/>
                <a:latin typeface="+mn-lt"/>
                <a:cs typeface="Times New Roman" panose="02020603050405020304" pitchFamily="18" charset="0"/>
              </a:rPr>
              <a:t>Elastic-Net Regression - combines Lasso Regression with Ridge Regression to give you the best of both worlds</a:t>
            </a:r>
            <a:endParaRPr kumimoji="0" lang="en-US" altLang="en-US" sz="1600" b="0" i="0" u="none" strike="noStrike" cap="none" normalizeH="0" baseline="0" dirty="0">
              <a:ln>
                <a:noFill/>
              </a:ln>
              <a:effectLst/>
              <a:latin typeface="+mn-lt"/>
              <a:cs typeface="Times New Roman" panose="02020603050405020304" pitchFamily="18" charset="0"/>
            </a:endParaRPr>
          </a:p>
          <a:p>
            <a:pPr eaLnBrk="1" hangingPunct="1">
              <a:lnSpc>
                <a:spcPct val="90000"/>
              </a:lnSpc>
              <a:spcAft>
                <a:spcPts val="600"/>
              </a:spcAft>
            </a:pPr>
            <a:endParaRPr kumimoji="0" lang="en-US" altLang="en-US" sz="1600" b="0" i="0" u="none" strike="noStrike" cap="none" normalizeH="0" baseline="0" dirty="0">
              <a:ln>
                <a:noFill/>
              </a:ln>
              <a:effectLst/>
              <a:latin typeface="+mn-lt"/>
              <a:cs typeface="Times New Roman" panose="02020603050405020304" pitchFamily="18" charset="0"/>
            </a:endParaRPr>
          </a:p>
          <a:p>
            <a:pPr eaLnBrk="1" hangingPunct="1">
              <a:lnSpc>
                <a:spcPct val="90000"/>
              </a:lnSpc>
              <a:spcAft>
                <a:spcPts val="600"/>
              </a:spcAft>
            </a:pPr>
            <a:endParaRPr kumimoji="0" lang="en-US" altLang="en-US" sz="1600" b="0" i="0" u="none" strike="noStrike" cap="none" normalizeH="0" baseline="0" dirty="0">
              <a:ln>
                <a:noFill/>
              </a:ln>
              <a:effectLst/>
              <a:latin typeface="+mn-lt"/>
              <a:cs typeface="Times New Roman" panose="02020603050405020304" pitchFamily="18" charset="0"/>
            </a:endParaRPr>
          </a:p>
        </p:txBody>
      </p:sp>
      <p:sp>
        <p:nvSpPr>
          <p:cNvPr id="13" name="Oval 12">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77008" y="5228027"/>
            <a:ext cx="1107241" cy="10772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4" name="Picture 3" descr="A picture containing dark, outdoor object, night&#10;&#10;Description automatically generated">
            <a:extLst>
              <a:ext uri="{FF2B5EF4-FFF2-40B4-BE49-F238E27FC236}">
                <a16:creationId xmlns:a16="http://schemas.microsoft.com/office/drawing/2014/main" id="{6100A2A4-B3E8-D7EA-A6B2-D9AFE7ECC3DC}"/>
              </a:ext>
            </a:extLst>
          </p:cNvPr>
          <p:cNvPicPr>
            <a:picLocks noChangeAspect="1"/>
          </p:cNvPicPr>
          <p:nvPr/>
        </p:nvPicPr>
        <p:blipFill>
          <a:blip r:embed="rId3"/>
          <a:stretch>
            <a:fillRect/>
          </a:stretch>
        </p:blipFill>
        <p:spPr>
          <a:xfrm>
            <a:off x="7025307" y="2157775"/>
            <a:ext cx="4221597" cy="3070252"/>
          </a:xfrm>
          <a:custGeom>
            <a:avLst/>
            <a:gdLst/>
            <a:ahLst/>
            <a:cxnLst/>
            <a:rect l="l" t="t" r="r" b="b"/>
            <a:pathLst>
              <a:path w="4221597" h="4303912">
                <a:moveTo>
                  <a:pt x="126986" y="0"/>
                </a:moveTo>
                <a:lnTo>
                  <a:pt x="4094611" y="0"/>
                </a:lnTo>
                <a:cubicBezTo>
                  <a:pt x="4164743" y="0"/>
                  <a:pt x="4221597" y="56854"/>
                  <a:pt x="4221597" y="126986"/>
                </a:cubicBezTo>
                <a:lnTo>
                  <a:pt x="4221597" y="4176926"/>
                </a:lnTo>
                <a:cubicBezTo>
                  <a:pt x="4221597" y="4247058"/>
                  <a:pt x="4164743" y="4303912"/>
                  <a:pt x="4094611" y="4303912"/>
                </a:cubicBezTo>
                <a:lnTo>
                  <a:pt x="126986" y="4303912"/>
                </a:lnTo>
                <a:cubicBezTo>
                  <a:pt x="56854" y="4303912"/>
                  <a:pt x="0" y="4247058"/>
                  <a:pt x="0" y="4176926"/>
                </a:cubicBezTo>
                <a:lnTo>
                  <a:pt x="0" y="126986"/>
                </a:lnTo>
                <a:cubicBezTo>
                  <a:pt x="0" y="56854"/>
                  <a:pt x="56854" y="0"/>
                  <a:pt x="126986" y="0"/>
                </a:cubicBezTo>
                <a:close/>
              </a:path>
            </a:pathLst>
          </a:custGeom>
        </p:spPr>
      </p:pic>
    </p:spTree>
    <p:extLst>
      <p:ext uri="{BB962C8B-B14F-4D97-AF65-F5344CB8AC3E}">
        <p14:creationId xmlns:p14="http://schemas.microsoft.com/office/powerpoint/2010/main" val="1906655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TotalTime>
  <Words>1993</Words>
  <Application>Microsoft Macintosh PowerPoint</Application>
  <PresentationFormat>Widescreen</PresentationFormat>
  <Paragraphs>214</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Arimo</vt:lpstr>
      <vt:lpstr>Calibri</vt:lpstr>
      <vt:lpstr>Calibri Light</vt:lpstr>
      <vt:lpstr>Lato</vt:lpstr>
      <vt:lpstr>roboto condensed</vt:lpstr>
      <vt:lpstr>Times New Roman</vt:lpstr>
      <vt:lpstr>Office Theme</vt:lpstr>
      <vt:lpstr>LINEAR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REGRESSION</dc:title>
  <dc:creator>Mereena Joseph</dc:creator>
  <cp:lastModifiedBy>Mereena Joseph</cp:lastModifiedBy>
  <cp:revision>6</cp:revision>
  <dcterms:created xsi:type="dcterms:W3CDTF">2022-10-09T19:10:35Z</dcterms:created>
  <dcterms:modified xsi:type="dcterms:W3CDTF">2022-10-11T14:41:53Z</dcterms:modified>
</cp:coreProperties>
</file>